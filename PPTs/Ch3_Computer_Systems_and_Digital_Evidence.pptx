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448" r:id="rId4"/>
    <p:sldId id="259" r:id="rId5"/>
    <p:sldId id="258" r:id="rId6"/>
    <p:sldId id="468" r:id="rId7"/>
    <p:sldId id="452" r:id="rId8"/>
    <p:sldId id="453" r:id="rId9"/>
    <p:sldId id="455" r:id="rId10"/>
    <p:sldId id="454" r:id="rId11"/>
    <p:sldId id="449" r:id="rId12"/>
    <p:sldId id="418" r:id="rId13"/>
    <p:sldId id="427" r:id="rId14"/>
    <p:sldId id="419" r:id="rId15"/>
    <p:sldId id="420" r:id="rId16"/>
    <p:sldId id="421" r:id="rId17"/>
    <p:sldId id="469" r:id="rId18"/>
    <p:sldId id="470" r:id="rId19"/>
    <p:sldId id="451" r:id="rId20"/>
    <p:sldId id="456" r:id="rId21"/>
    <p:sldId id="458" r:id="rId22"/>
    <p:sldId id="428" r:id="rId23"/>
    <p:sldId id="459" r:id="rId24"/>
    <p:sldId id="429" r:id="rId25"/>
    <p:sldId id="430" r:id="rId26"/>
    <p:sldId id="431" r:id="rId27"/>
    <p:sldId id="432" r:id="rId28"/>
    <p:sldId id="444" r:id="rId29"/>
    <p:sldId id="447" r:id="rId30"/>
    <p:sldId id="441" r:id="rId31"/>
    <p:sldId id="472" r:id="rId32"/>
    <p:sldId id="450" r:id="rId33"/>
    <p:sldId id="433" r:id="rId34"/>
    <p:sldId id="438" r:id="rId35"/>
    <p:sldId id="461" r:id="rId36"/>
    <p:sldId id="462" r:id="rId37"/>
    <p:sldId id="473" r:id="rId38"/>
    <p:sldId id="460" r:id="rId39"/>
    <p:sldId id="47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FAA49-9CE8-43BF-A33A-DFA0EA02A5A3}" v="1" dt="2026-01-30T14:59:47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7" autoAdjust="0"/>
    <p:restoredTop sz="88060" autoAdjust="0"/>
  </p:normalViewPr>
  <p:slideViewPr>
    <p:cSldViewPr snapToGrid="0">
      <p:cViewPr varScale="1">
        <p:scale>
          <a:sx n="84" d="100"/>
          <a:sy n="84" d="100"/>
        </p:scale>
        <p:origin x="130" y="182"/>
      </p:cViewPr>
      <p:guideLst/>
    </p:cSldViewPr>
  </p:slideViewPr>
  <p:outlineViewPr>
    <p:cViewPr>
      <p:scale>
        <a:sx n="33" d="100"/>
        <a:sy n="33" d="100"/>
      </p:scale>
      <p:origin x="0" y="-8443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custSel modSld">
      <pc:chgData name="Weifeng Xu" userId="e7aed605-a3dd-4d5a-a692-a87037af107b" providerId="ADAL" clId="{F99F8FFF-BA20-43EA-924B-4DF5D2A785F3}" dt="2026-01-30T15:01:36.260" v="260" actId="207"/>
      <pc:docMkLst>
        <pc:docMk/>
      </pc:docMkLst>
      <pc:sldChg chg="addSp modSp mod">
        <pc:chgData name="Weifeng Xu" userId="e7aed605-a3dd-4d5a-a692-a87037af107b" providerId="ADAL" clId="{F99F8FFF-BA20-43EA-924B-4DF5D2A785F3}" dt="2026-01-30T15:01:36.260" v="260" actId="207"/>
        <pc:sldMkLst>
          <pc:docMk/>
          <pc:sldMk cId="2445928380" sldId="441"/>
        </pc:sldMkLst>
        <pc:spChg chg="mod">
          <ac:chgData name="Weifeng Xu" userId="e7aed605-a3dd-4d5a-a692-a87037af107b" providerId="ADAL" clId="{F99F8FFF-BA20-43EA-924B-4DF5D2A785F3}" dt="2026-01-30T15:01:36.260" v="260" actId="207"/>
          <ac:spMkLst>
            <pc:docMk/>
            <pc:sldMk cId="2445928380" sldId="441"/>
            <ac:spMk id="8" creationId="{00000000-0000-0000-0000-000000000000}"/>
          </ac:spMkLst>
        </pc:spChg>
        <pc:cxnChg chg="add mod">
          <ac:chgData name="Weifeng Xu" userId="e7aed605-a3dd-4d5a-a692-a87037af107b" providerId="ADAL" clId="{F99F8FFF-BA20-43EA-924B-4DF5D2A785F3}" dt="2026-01-30T14:59:47.924" v="248" actId="11529"/>
          <ac:cxnSpMkLst>
            <pc:docMk/>
            <pc:sldMk cId="2445928380" sldId="441"/>
            <ac:cxnSpMk id="10" creationId="{E7DAF1E9-0BA0-1C79-DDBC-6B7D2F4DE486}"/>
          </ac:cxnSpMkLst>
        </pc:cxnChg>
      </pc:sldChg>
      <pc:sldChg chg="modSp mod">
        <pc:chgData name="Weifeng Xu" userId="e7aed605-a3dd-4d5a-a692-a87037af107b" providerId="ADAL" clId="{F99F8FFF-BA20-43EA-924B-4DF5D2A785F3}" dt="2026-01-30T01:58:55.926" v="247" actId="20577"/>
        <pc:sldMkLst>
          <pc:docMk/>
          <pc:sldMk cId="3293749384" sldId="444"/>
        </pc:sldMkLst>
        <pc:spChg chg="mod">
          <ac:chgData name="Weifeng Xu" userId="e7aed605-a3dd-4d5a-a692-a87037af107b" providerId="ADAL" clId="{F99F8FFF-BA20-43EA-924B-4DF5D2A785F3}" dt="2026-01-30T01:58:55.926" v="247" actId="20577"/>
          <ac:spMkLst>
            <pc:docMk/>
            <pc:sldMk cId="3293749384" sldId="444"/>
            <ac:spMk id="6" creationId="{00000000-0000-0000-0000-000000000000}"/>
          </ac:spMkLst>
        </pc:spChg>
      </pc:sldChg>
      <pc:sldChg chg="addSp modSp mod">
        <pc:chgData name="Weifeng Xu" userId="e7aed605-a3dd-4d5a-a692-a87037af107b" providerId="ADAL" clId="{F99F8FFF-BA20-43EA-924B-4DF5D2A785F3}" dt="2026-01-30T01:44:19.506" v="219" actId="1076"/>
        <pc:sldMkLst>
          <pc:docMk/>
          <pc:sldMk cId="1611306107" sldId="456"/>
        </pc:sldMkLst>
        <pc:spChg chg="mod">
          <ac:chgData name="Weifeng Xu" userId="e7aed605-a3dd-4d5a-a692-a87037af107b" providerId="ADAL" clId="{F99F8FFF-BA20-43EA-924B-4DF5D2A785F3}" dt="2026-01-30T01:44:14.585" v="217" actId="20577"/>
          <ac:spMkLst>
            <pc:docMk/>
            <pc:sldMk cId="1611306107" sldId="456"/>
            <ac:spMk id="5" creationId="{2BE860ED-0731-412D-83EE-E79F5AEF32F3}"/>
          </ac:spMkLst>
        </pc:spChg>
        <pc:spChg chg="add mod">
          <ac:chgData name="Weifeng Xu" userId="e7aed605-a3dd-4d5a-a692-a87037af107b" providerId="ADAL" clId="{F99F8FFF-BA20-43EA-924B-4DF5D2A785F3}" dt="2026-01-30T01:44:19.506" v="219" actId="1076"/>
          <ac:spMkLst>
            <pc:docMk/>
            <pc:sldMk cId="1611306107" sldId="456"/>
            <ac:spMk id="6" creationId="{2570EEB9-FD3F-F6D1-9ACC-E7DA056A5EA9}"/>
          </ac:spMkLst>
        </pc:spChg>
        <pc:picChg chg="mod">
          <ac:chgData name="Weifeng Xu" userId="e7aed605-a3dd-4d5a-a692-a87037af107b" providerId="ADAL" clId="{F99F8FFF-BA20-43EA-924B-4DF5D2A785F3}" dt="2026-01-30T01:43:56.210" v="204" actId="1076"/>
          <ac:picMkLst>
            <pc:docMk/>
            <pc:sldMk cId="1611306107" sldId="456"/>
            <ac:picMk id="4" creationId="{15061FF5-BFFA-4DFB-8E25-48403C79D712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2:32:17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468 129 24575,'-5'0'0,"-1"1"0,1 0 0,0 0 0,0 0 0,0 1 0,0 0 0,1 0 0,-1 0 0,0 1 0,1-1 0,-1 1 0,1 0 0,0 0 0,-5 6 0,-5 4 0,1 1 0,-18 25 0,-28 29 0,43-52 0,0 2 0,1 0 0,-22 36 0,25-33 0,-27 32 0,4-7 0,29-36 0,1 0 0,0 1 0,1-1 0,1 1 0,-4 14 0,-10 26 0,7-31 0,1 1 0,1 0 0,1 1 0,1-1 0,1 1 0,1 1 0,0-1 0,1 24 0,2 26 0,3 89 0,0-150 0,1-1 0,0 0 0,0 1 0,1-1 0,0-1 0,0 1 0,1-1 0,1 1 0,6 7 0,-4-3 0,1 0 0,9 24 0,-14-26 0,1 0 0,0 0 0,1 0 0,0-1 0,1 0 0,0 0 0,14 16 0,-3-6 0,-15-16 0,1-1 0,-1 1 0,1-1 0,0 0 0,1-1 0,8 7 0,31 19 0,-1 1 0,-1 3 0,62 62 0,-96-88 0,0-2 0,0 1 0,0-1 0,1 0 0,-1-1 0,1 0 0,0 0 0,13 3 0,32 15 0,-36-14 0,1-1 0,0 0 0,0-2 0,1 0 0,0-1 0,0-1 0,33 1 0,-52-3 0,62 8 0,-42-5 0,0-1 0,23 1 0,7-5 0,-22 0 0,0 2 0,1 0 0,52 10 0,44 11 0,-88-16 0,0-2 0,0-2 0,71-4 0,-22 0 0,-74 1 0,-1-1 0,1 0 0,-1 0 0,0-1 0,22-9 0,-21 7 0,-1 1 0,1 1 0,0-1 0,0 2 0,17-2 0,0 4 0,-6 0 0,38-5 0,-54 4 0,-1-1 0,1 0 0,-1 0 0,0 0 0,1-1 0,-1 0 0,0-1 0,-1 1 0,8-6 0,-1 1 0,0 0 0,0 1 0,1 1 0,23-8 0,-18 7 0,32-16 0,-26 9 0,-9 6 0,0-1 0,-1-1 0,-1 0 0,16-14 0,0 1 0,-26 21 0,0-1 0,0 0 0,0 0 0,0 0 0,-1 0 0,1-1 0,-1 1 0,0-1 0,0 0 0,0 1 0,-1-2 0,3-4 0,2-2 0,-1 1 0,1 0 0,0 0 0,1 0 0,1 1 0,-1 0 0,20-15 0,-14 12 0,-1 0 0,19-23 0,20-28 0,26-36 0,-71 88 0,0 0 0,-1 0 0,0-1 0,-1 0 0,0 0 0,-1 0 0,4-17 0,-4 0 0,-1-44 0,-2 45 0,7-50 0,-3 44 0,-2 0 0,0 0 0,-3 0 0,-4-42 0,-16-30 0,15 80 0,-2 0 0,0 0 0,-1 0 0,-2 1 0,-1 0 0,-13-23 0,12 28 0,-1 0 0,-1 1 0,-25-28 0,31 39 0,0 0 0,-1 0 0,0 1 0,0 1 0,0-1 0,-1 1 0,0 1 0,0 0 0,-15-5 0,8 4 0,1-1 0,-19-11 0,22 10 0,0 2 0,0 0 0,-27-8 0,-22-6 0,41 13 0,1 1 0,-23-4 0,0 0 0,29 7 0,-1 0 0,-20-2 0,-35-6 0,51 7 0,0 1 0,-21-1 0,-59-6 0,66 5 0,-46-1 0,65 6 0,-16-1 0,0 2 0,0 1 0,-45 9 0,-105 40 0,76-25 0,76-13-1365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2:32:20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975 99 24575,'-23'-1'0,"0"2"0,0 0 0,0 1 0,1 2 0,-1 0 0,1 1 0,0 2 0,-32 13 0,-15 23 0,53-31 0,-1-1 0,-1 0 0,-33 14 0,30-16 0,-1 1 0,-33 22 0,14-15 0,33-14 0,1-1 0,-1 2 0,1-1 0,-10 7 0,-35 27 0,-73 68 0,20-21 0,98-76 0,0 0 0,1 0 0,-1 0 0,2 1 0,-1 0 0,1 1 0,1-1 0,-1 1 0,2 0 0,-1 0 0,-3 21 0,2 3 0,2 1 0,1 45 0,-1 7 0,-7-15 0,5-46 0,-1 45 0,5-24 0,3 96 0,3-114 0,0-1 0,19 53 0,-14-49 0,10 52 0,-18-78 0,0 0 0,0 1 0,0-1 0,1 0 0,0-1 0,0 1 0,1 0 0,7 8 0,-6-7 0,0 0 0,0 0 0,-1 1 0,5 10 0,-2-2 0,0 0 0,1-1 0,0 0 0,1 0 0,1-1 0,0-1 0,1 1 0,1-2 0,0 1 0,19 14 0,-23-22 0,0 0 0,1-1 0,0 0 0,15 5 0,-15-5 0,0-1 0,0 1 0,0 0 0,13 9 0,-14-7 0,1-1 0,0-1 0,1 1 0,-1-1 0,12 2 0,31 16 0,-13-2 0,2-2 0,1-1 0,82 21 0,-109-34 0,88 25 0,-87-24 0,1 0 0,0-1 0,0-1 0,32 1 0,73-6 0,-42 0 0,-63 2 0,12-1 0,-1 2 0,1 1 0,46 9 0,-44-6 0,1-1 0,-1-2 0,1-1 0,0-1 0,33-5 0,-47 3 0,-1-2 0,1 0 0,20-9 0,21-5 0,78-26 0,-131 42 0,6-4 0,-1 0 0,0-1 0,0 0 0,0-1 0,-1 0 0,0-1 0,11-11 0,13-11 0,-22 18 0,0 0 0,-1-1 0,0 0 0,-1 0 0,10-20 0,23-31 0,-30 43 0,0 0 0,-1-1 0,-1 0 0,-2-1 0,0 0 0,9-40 0,23-98 0,-31 117 0,-2 0 0,-2 0 0,1-53 0,-8-283 0,0 373 0,1 1 0,-1 0 0,-1-1 0,1 1 0,-2 0 0,1-1 0,-1 1 0,1 1 0,-7-11 0,-5-6 0,-22-28 0,16 25 0,-3 2 0,20 21 0,-1 0 0,1 0 0,-1 0 0,1-1 0,0 0 0,-4-7 0,-7-12 0,-1 0 0,-1 1 0,-1 1 0,-32-31 0,27 29 0,6 8 0,0 2 0,-1 0 0,-1 0 0,0 2 0,-24-12 0,-34-21 0,-6-3 0,12 9 0,42 23 0,-1 0 0,-30-9 0,-12-7 0,-51-19-1365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12:32:35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2181 129 24575,'-25'-1'0,"0"2"0,0 2 0,-35 6 0,-15 11 0,50-12 0,-1-1 0,1-1 0,-1-2 0,-44 3 0,34-4 0,1 1 0,-1 2 0,1 2 0,0 1 0,-41 16 0,32-10 0,-125 51 0,35-18 0,-14 11 0,121-50 0,18-7 0,-1 1 0,1 1 0,-1 0 0,1 0 0,1 0 0,-1 1 0,-9 8 0,-133 107 0,145-116 0,0 2 0,1-1 0,0 0 0,-8 11 0,9-9 0,-1-1 0,0-1 0,-1 1 0,-11 9 0,-18 12 0,24-18 0,-1 0 0,0 0 0,0-1 0,-19 8 0,14-7 0,1 0 0,-1 1 0,2 0 0,-1 2 0,2 0 0,0 0 0,-17 19 0,22-19 0,1 1 0,0-1 0,-10 24 0,12-23 0,0 0 0,-1-1 0,-1 1 0,-12 14 0,-11 9 0,2 1 0,2 2 0,1 0 0,2 2 0,-21 47 0,26-46 0,5-13 0,1 0 0,2 0 0,-9 33 0,-22 86 0,21-75 0,13-51 0,1 0 0,1 1 0,1 0 0,-2 27 0,-3 20 0,6-51 0,-3 39 0,8 345 0,0-385 0,1 0 0,1 0 0,1 0 0,1 0 0,0-1 0,11 25 0,8 25 0,-19-54 0,0-1 0,0 0 0,9 14 0,-7-15 0,-1 1 0,0 0 0,6 20 0,-9-23 0,1 0 0,-1 0 0,1 0 0,1 0 0,0-1 0,0 0 0,9 12 0,6 1 0,25 24 0,-13-15 0,-17-17 0,1 0 0,1-1 0,0-1 0,19 9 0,38 27 0,-45-26 0,1-1 0,0-1 0,64 27 0,79 38 0,-39-18 0,-125-62 0,0-1 0,1 0 0,-1-1 0,12 2 0,-15-3 0,0 0 0,1 0 0,-1 0 0,0 1 0,0 0 0,0 0 0,0 1 0,0-1 0,-1 1 0,1 1 0,-1-1 0,6 6 0,0-2 0,0 1 0,0-1 0,1-1 0,0 0 0,0 0 0,0-2 0,19 6 0,-12-4 0,-1 1 0,26 13 0,-30-14 0,1 1 0,0-2 0,27 8 0,26 9 0,9 6 0,-48-19 0,32 15 0,-46-18 0,0 0 0,26 5 0,23 9 0,-49-13 0,0-1 0,0 0 0,1-1 0,-1-1 0,1 0 0,0-2 0,26 2 0,-13-1 0,0 0 0,0 2 0,53 16 0,-54-12 0,1-2 0,0-1 0,54 4 0,-54-9 0,35 8 0,-36-4 0,42 0 0,62 6 0,11-1 0,704-10 0,-829-1 0,0-1 0,26-6 0,24-2 0,9-2 0,-27 2 0,-6 2 0,46-16 0,-49 13 0,59-10 0,-64 14 0,0-1 0,-1-2 0,0-1 0,-1-2 0,44-22 0,-59 27 0,36-10 0,13-6 0,-41 12 0,7-2 0,60-36 0,-66 32 0,5-5 0,56-27 0,-41 33 0,-37 14 0,1-1 0,-1 0 0,-1 0 0,17-10 0,113-62 0,-85 49 0,-41 20 0,21-10 0,0-2 0,-2-1 0,32-25 0,-3 3 0,-39 28 0,33-14 0,-47 25 0,1-1 0,-1-1 0,0 0 0,0 0 0,-1 0 0,1-1 0,8-9 0,-7 4 0,0-1 0,-1 0 0,14-25 0,-15 23 0,0 0 0,2 1 0,12-16 0,36-38 0,11-14 0,-56 67 0,0 0 0,-2-2 0,0 1 0,0-2 0,-1 1 0,11-29 0,37-114 0,-45 120 0,-5 17 0,-1 0 0,-1-1 0,-1 1 0,-1-1 0,1-32 0,-3 33 0,6-38 0,-4 37 0,3-40 0,-6 32 0,9-42 0,-6 44 0,3-50 0,-6-2 0,-4-93 0,0 149 0,-2 0 0,-10-31 0,-5-28 0,18 74 0,-1 1 0,0 0 0,0 0 0,-8-14 0,-7-24 0,-22-121 0,36 155 0,-1 0 0,0 1 0,-1-1 0,-9-15 0,-10-20 0,7 8 0,-2 0 0,-2 2 0,-37-51 0,11 31 0,28 36 0,-25-39 0,35 48 0,0 1 0,-1 0 0,0 0 0,-1 1 0,0 0 0,-1 1 0,-17-11 0,19 16 0,1 0 0,-1 1 0,0 0 0,-1 0 0,-20-2 0,-26-10 0,51 14 0,-2-1 0,1-1 0,-1 1 0,1-1 0,-1-1 0,-13-10 0,15 11 0,1 0 0,-1 1 0,0 0 0,0 0 0,-13-4 0,-18-7 0,18 5 0,-1 0 0,0 1 0,-1 1 0,-35-6 0,48 11 0,1 0 0,-1-1 0,1-1 0,-10-4 0,10 4 0,-1 0 0,1 1 0,0 0 0,-16-4 0,6 4 0,0-2 0,-28-10 0,17 4 0,-74-21 0,-40-14 0,126 41 0,0 0 0,-1 1 0,-30-2 0,28 3 0,0 0 0,-31-8 0,-25-10 0,-20-6 0,78 21 0,-1 1 0,0 1 0,-1 1 0,-23-1 0,-25-4 0,55 6 0,-41-8 0,-1 2 0,-77-1 0,-503 10 0,609 0 0,1 2 0,-29 6 0,11-1 0,-168 34 0,194-38 0,1 0 0,-27 10 0,27-8 0,0 0 0,-24 4 0,-3-3 0,19-2 0,0-1 0,-34 0 0,20 0-1365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8:54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24575,'-2'103'0,"4"112"0,3-185 0,1 0 0,2 0 0,1-1 0,1 0 0,17 34 0,-20-51 0,0 0 0,0-1 0,16 20 0,12 17 0,-16-21 0,0-2 0,2 0 0,27 26 0,-40-43 0,2 1 0,0-2 0,0 1 0,0-1 0,1 0 0,0-1 0,1-1 0,-1 0 0,1 0 0,21 5 0,8 4 0,-26-8 0,0-1 0,0-1 0,1 0 0,-1-1 0,1 0 0,0-1 0,17-1 0,518-2 0,-536-1 0,0 0 0,0-1 0,-1-1 0,1 0 0,-1-1 0,0 0 0,-1-1 0,1-1 0,19-12 0,-12 6 0,1 2 0,30-11 0,-28 13 0,-1-2 0,0 0 0,28-19 0,-6 3 0,-38 22 0,0 0 0,0-1 0,0 0 0,-1 0 0,0-1 0,0 0 0,6-9 0,-6 8 0,1 0 0,-1 0 0,2 0 0,-1 1 0,10-7 0,4-2 0,0-1 0,-1-1 0,0 0 0,-2-2 0,0 0 0,18-27 0,-11 13 0,-17 25 0,0-1 0,0 0 0,-1-1 0,-1 0 0,0 0 0,0 0 0,-1 0 0,-1-1 0,0 0 0,5-23 0,1-25 0,-5 38 0,-2 0 0,1-23 0,-3 32-271,1-1-1,0 1 0,5-15 0,-6 25-6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8:55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24575,'55'0'0,"84"-2"0,-116 0 0,-1-1 0,1-1 0,-1 0 0,25-10 0,-8 2 0,57-10 0,-24 7 0,-68 14 0,0 0 0,0 1 0,0 0 0,0 0 0,0 0 0,0 0 0,-1 0 0,1 1 0,0-1 0,0 1 0,0 0 0,0 1 0,0-1 0,-1 0 0,1 1 0,-1 0 0,1 0 0,-1 0 0,4 4 0,5 4 0,0 1 0,-2 0 0,17 22 0,9 9 0,3-1 0,38 51 0,-66-80-1365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14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24575,'41'-1'0,"-11"0"0,0 2 0,0 0 0,0 2 0,30 7 0,66 12 0,-101-18 0,0-1 0,-1-1 0,28-1 0,-28-1 0,1 0 0,-1 2 0,32 6 0,-30-3-76,-1-2 0,1-1 0,46-2-1,-40-1-983,-14 1-5766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15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24575,'1'4'0,"0"0"0,0 0 0,1 1 0,0-1 0,0 0 0,0-1 0,0 1 0,0 0 0,1-1 0,0 1 0,0-1 0,0 0 0,5 5 0,8 9 0,-6-6 0,0 0 0,1-1 0,1-1 0,0 1 0,20 11 0,-18-12 0,0 0 0,0 2 0,23 22 0,-29-26 0,-1 1 0,-1 1 0,1-1 0,-1 1 0,-1 1 0,9 18 0,-12-24 0,-1 0 0,0-1 0,-1 1 0,1 0 0,-1-1 0,0 1 0,0 0 0,0 0 0,0 0 0,0-1 0,-1 1 0,0 0 0,0-1 0,0 1 0,0 0 0,0-1 0,-1 1 0,0-1 0,0 0 0,0 0 0,0 1 0,0-1 0,-4 4 0,-56 65 0,58-67 0,1 0 0,-1 0 0,0 0 0,0-1 0,-1 1 0,1-1 0,-1 0 0,0 0 0,0-1 0,0 1 0,0-1 0,-8 3 0,-18 13 104,27-16-349,-1 1 0,1-1 0,-1 0 0,0-1 1,-7 4-1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19.0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1569 1 24575,'1'4'0,"0"-1"0,0 1 0,0 0 0,1 0 0,-1-1 0,1 1 0,0-1 0,4 6 0,4 8 0,-6-5 0,0 0 0,0 1 0,-2 0 0,1-1 0,-2 1 0,1 13 0,6 39 0,-4-45 0,-1 0 0,-1 1 0,-1-1 0,-1 1 0,-1-1 0,-1 1 0,0-1 0,-8 29 0,-10 24 0,-11 56 0,29-118 0,-1 0 0,0-1 0,0 0 0,-1 0 0,-1 0 0,0 0 0,0 0 0,0-1 0,-1 0 0,-1 0 0,-9 10 0,9-10 0,1 1 0,0 0 0,1 0 0,0 0 0,-7 20 0,-15 30 0,4-19 0,16-27 0,-1 0 0,0 0 0,-21 24 0,-20 19 0,36-39 0,-1 0 0,2 1 0,1 0 0,-12 27 0,-13 21 0,24-48 0,-1-1 0,-1 0 0,0-1 0,-2-1 0,0 0 0,0-1 0,-1-1 0,-22 14 0,28-20 0,1 1 0,0 0 0,0 1 0,1 0 0,0 0 0,0 1 0,1 0 0,1 0 0,0 1 0,0 0 0,-5 18 0,7-21 0,0 0 0,-1 0 0,0 0 0,0-1 0,-1 0 0,0 0 0,-12 11 0,-16 18 0,28-30 0,0-1 0,0 1 0,-1-1 0,1-1 0,-1 0 0,-13 7 0,13-8 0,0 0 0,1 1 0,0 0 0,0 0 0,0 1 0,0 0 0,-9 11 0,8-8 0,0 0 0,0 0 0,-13 10 0,12-12 0,1 0 0,0 1 0,1 0 0,-10 13 0,8-9 0,-1 0 0,0-1 0,0-1 0,-1 1 0,-17 11 0,-16 15 0,36-30 0,-1-1 0,0 0 0,0 0 0,-13 6 0,15-9 0,-1 1 0,1 0 0,0 0 0,1 0 0,-1 1 0,1 0 0,0 1 0,-7 7 0,-59 63 0,54-53 0,5-6 0,-1-1 0,0 0 0,-28 23 0,38-37 5,0 1 0,1-1 0,-1 0 0,-1 0 0,1-1 0,0 1 0,0-1 0,-1 0 0,1 0 0,0 0 0,-1-1 0,1 1 0,-1-1 0,1 0 0,-1-1 0,1 1 0,-1-1 0,1 0 0,0 0 0,-1 0 0,1 0 0,0-1 0,-8-3 0,3 0-154,0 0 1,1-1-1,-1 0 1,1 0-1,0-1 1,1 0-1,0-1 1,0 1-1,-7-10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20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24575,'16'44'0,"-12"-22"0,4 18 0,-1 2 0,1 65 0,-8-66 0,0-9 0,0 0 0,-2 1 0,-10 49 0,11-79 0,0 1 0,0 0 0,1 0 0,-1 0 0,1 0 0,0 0 0,0 0 0,0 0 0,1-1 0,-1 1 0,1 0 0,0 0 0,3 6 0,-3-7 0,1-1 0,-1 1 0,1-1 0,0 0 0,0 0 0,0 0 0,0 0 0,0 0 0,1 0 0,-1 0 0,1-1 0,-1 1 0,1-1 0,-1 0 0,1 0 0,0 0 0,0 0 0,-1 0 0,5 0 0,20 3 0,0-2 0,0 0 0,0-2 0,29-3 0,18 0 0,2 4 0,80-3 0,-50-18 0,-103 19-52,0 1-1,0 0 1,-1-1-1,1 1 1,0-1-1,0 0 1,0 0-1,-1 0 1,1 0-1,-1-1 1,1 1-1,-1-1 1,1 1-1,-1-1 1,0 0-1,0 0 1,0 0-1,0 0 1,0 0-1,0-1 1,0 1-1,-1-1 0,1 1 1,-1-1-1,2-4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43.1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1294 11079 24575,'-1'-5'0,"1"1"0,-1-1 0,0 1 0,0-1 0,0 1 0,0-1 0,-1 1 0,0 0 0,0 0 0,0 0 0,0 0 0,-1 0 0,-2-4 0,-7-5 0,0 0 0,-15-13 0,3 3 0,-15-13 0,-71-53 0,103 83 0,0-1 0,1 1 0,-1-1 0,2-1 0,-9-11 0,-15-19 0,-1 12 0,24 22 0,1 0 0,0-1 0,0 1 0,0-1 0,1 0 0,-1-1 0,-5-9 0,5 7 0,-1 0 0,0 1 0,0-1 0,0 1 0,-13-10 0,10 9 0,1-1 0,0 1 0,-9-13 0,-3-6 0,-24-25 0,26 31 0,0 0 0,-22-36 0,21 29 0,-33-41 0,-12-16 0,27 31 0,23 36 0,1-1 0,-20-38 0,22 34 0,2 0 0,1 0 0,0-1 0,2-1 0,-4-25 0,6 30 0,-2 0 0,0 1 0,-1-1 0,-1 1 0,-11-20 0,-15-36 0,29 60 0,-9-19 0,2 0 0,2-1 0,-10-62 0,18 82 0,0 0 0,0 0 0,-2 0 0,1 0 0,-10-22 0,0 3 0,2-1 0,-10-60 0,-3-8 0,-39-151 0,58 230 0,2 0 0,0 0 0,1 0 0,3-46 0,0 44 0,-1-1 0,-1 1 0,-8-46 0,-17-85 0,22 123 0,0-4 0,4-73 0,-1-15 0,-9 69 0,6 42 0,1-1 0,-1-23 0,3-436 0,3 230 0,-1 220 0,9-45 0,-6 44 0,3-43 0,-4 13 0,15-83 0,-9 86 0,3-101 0,-12 127 0,0 0 0,1 1 0,10-51 0,11-49 0,-17 98 0,2-46 0,-5 45 0,9-44 0,8-11 0,31-170 0,-45 226 0,1 1 0,1 0 0,11-25 0,1-4 0,2-26 0,-13 47 0,19-53 0,-13 50 0,9-48 0,4-11 0,-23 79 0,0 0 0,-1 0 0,0-1 0,-1-28 0,-1 24 0,1 0 0,6-30 0,1 20 0,3 0 0,0 0 0,26-45 0,-8 16 0,-25 49 0,0-1 0,5-26 0,-7 25 0,1 0 0,8-20 0,90-177 0,-75 167 0,-21 37 0,0 0 0,-1 0 0,0-1 0,-1 1 0,5-14 0,-5 11 0,32-95 0,-30 93 0,1-1 0,0 1 0,0 1 0,1-1 0,15-16 0,-7 11 0,-1 0 0,0-2 0,-2 0 0,0 0 0,-1-1 0,12-30 0,-18 38 0,0 0 0,1 1 0,1 0 0,0 0 0,14-15 0,-12 15 0,0 0 0,-1-1 0,-1 0 0,11-21 0,-2-8 0,-6 11 0,21-37 0,-27 60 0,0-1 0,1 1 0,0 0 0,0 0 0,0 1 0,1 0 0,0 0 0,14-10 0,-10 9 0,-2 0 0,1-1 0,-1-1 0,0 1 0,11-18 0,-11 15 0,1-1 0,0 2 0,15-13 0,-12 12 0,-1-1 0,0-1 0,20-29 0,-24 31 0,0 1 0,1-1 0,0 1 0,1 1 0,0 0 0,1 0 0,17-12 0,8 1 0,-16 10 0,0-1 0,-1-1 0,29-25 0,2-2 0,5-5 0,-40 32 0,0 1 0,0 0 0,23-12 0,-20 13 0,0-1 0,23-20 0,-33 25 0,1 0 0,0 1 0,1 1 0,0-1 0,0 2 0,19-8 0,-15 7 0,-1 0 0,0-2 0,15-9 0,18-13 0,85-41 0,23-7 0,-66 37 0,-62 28 0,0 2 0,1 0 0,0 2 0,45-7 0,-15 4 0,0-3 0,-1-2 0,65-28 0,-84 27 0,-23 10 0,0 1 0,29-9 0,-12 5 0,36-14 0,6-3 0,-4-1 0,-53 21 0,-1 0 0,1 1 0,0 1 0,1 0 0,22-3 0,-23 6 0,0-1 0,0-1 0,25-10 0,18-5 0,-31 12 0,0 1 0,1 2 0,54-2 0,-68 5 0,0 0 0,0-1 0,0 0 0,-1-1 0,24-8 0,69-33 0,-76 29 0,2 1 0,44-12 0,68-7 0,-76 8 0,-46 16 0,1 1 0,35-8 0,-3 4 0,79-26 0,53-11 0,-150 43 0,-27 5 0,0-1 0,0 0 0,-1-1 0,1 0 0,11-5 0,178-73 0,-56 24 0,12 5 0,-80 24 0,-36 15 0,44-22 0,-60 25 0,0 0 0,45-10 0,-43 14 0,-2-2 0,46-19 0,127-58 0,-77 42 0,-92 32 0,38-11 0,22-8 0,-24 7 0,-45 17 0,0-1 0,0-1 0,21-11 0,-32 15 0,0 1 0,1-1 0,-1 2 0,1-1 0,0 1 0,-1 1 0,18-2 0,-14 2 0,0 0 0,0-1 0,18-6 0,15-8 0,-23 10 0,0-2 0,-1-1 0,26-14 0,-24 11 0,0 1 0,36-11 0,-34 13 0,47-24 0,-36 13 0,77-32 0,-42 22 0,-48 19 0,1 1 0,0 1 0,30-7 0,-33 12 0,1-1 0,-2-1 0,1 0 0,35-17 0,-5-2 0,69-25 0,-73 36 0,-28 9 0,1-1 0,-2-1 0,28-15 0,-29 15 0,0-1 0,0 2 0,1 0 0,26-5 0,-22 6 0,0-1 0,32-13 0,-7-5 0,-31 15 0,-1 1 0,1 1 0,1 0 0,-1 1 0,1 0 0,0 2 0,35-6 0,-38 9 0,0-2 0,0 0 0,0-1 0,0 0 0,0-1 0,-1 0 0,23-14 0,-19 10 0,0 1 0,0 1 0,32-9 0,-38 13 0,0 0 0,1-1 0,-1-1 0,20-11 0,5-3 0,-25 15 0,-1 0 0,0 1 0,17-2 0,-17 3 0,0 0 0,0 0 0,0-1 0,12-6 0,-4 2 0,0 0 0,0 1 0,0 1 0,35-4 0,-30 5 0,-1 0 0,40-14 0,47-16 0,-6 1 0,-86 28 0,1 0 0,-1 2 0,1 0 0,0 0 0,25 1 0,-5 0 0,-31 0 0,-1 1 0,0-1 0,0 0 0,0-1 0,0 0 0,0 1 0,0-2 0,9-6 0,19-10 0,-31 19 0,15-7 0,1 0 0,34-8 0,-11 5 0,41-17 0,-44 14 0,51-12 0,46-11 0,-53 12 0,44 3 0,-78 13-28,-27 5-418,0-1 1,38-14-1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1T13:29:45.8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24575,'-1'8'0,"1"1"0,1 0 0,-1-1 0,1 1 0,1 0 0,0-1 0,0 1 0,1-1 0,0 0 0,0 0 0,0 0 0,1 0 0,1-1 0,-1 1 0,1-1 0,1 0 0,-1 0 0,1-1 0,0 0 0,1 0 0,-1 0 0,14 8 0,24 22 0,-19-15 0,-15-12 0,-1 1 0,-1-1 0,15 22 0,14 14 0,-32-40 0,-1 0 0,1-1 0,-1 1 0,0 1 0,0-1 0,-1 0 0,0 1 0,1 0 0,-2 0 0,1 0 0,-1 0 0,2 8 0,2 10 0,-3-15 0,0 0 0,-1 0 0,-1 0 0,1 0 0,-1 16 0,-1-22 0,0-1 0,-1 1 0,1-1 0,-1 1 0,0-1 0,0 1 0,0-1 0,0 0 0,0 1 0,0-1 0,0 0 0,-1 0 0,1 0 0,-1 0 0,0 0 0,0 0 0,1-1 0,-1 1 0,0 0 0,0-1 0,-1 1 0,1-1 0,0 0 0,0 0 0,-4 2 0,-4 1 0,1 2 0,0-1 0,1 1 0,-1 1 0,1 0 0,1 0 0,-9 9 0,9-8 0,-1 0 0,0-1 0,0 0 0,-1 0 0,1-1 0,-20 10 0,14-10-99,9-5-27,0 1-1,0 0 0,1 0 1,-1 1-1,1-1 0,-1 1 1,1 0-1,0 0 1,-4 4-1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5T01:47:3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503 63 24575,'0'0'0,"0"0"0,0 0 0,0 0 0,0 0 0,1 1 0,-1-1 0,0 0 0,0 0 0,0 0 0,1 0 0,-1 0 0,0 0 0,0 0 0,0 0 0,1 0 0,-1 0 0,0 0 0,0 0 0,0 0 0,1 0 0,-1 0 0,0 0 0,0-1 0,0 1 0,1 0 0,-1 0 0,0 0 0,0 0 0,0 0 0,1 0 0,-1 0 0,0-1 0,0 1 0,0 0 0,0 0 0,0 0 0,0 0 0,1-1 0,-1 1 0,0 0 0,0 0 0,0 0 0,0-1 0,0 1 0,0 0 0,0 0 0,0 0 0,0-1 0,0 1 0,0 0 0,0 0 0,0 0 0,0-1 0,0 1 0,0 0 0,0 0 0,0-1 0,0 1 0,0 0 0,0 0 0,-1 0 0,1 0 0,0-1 0,-13-7 0,-10 4 0,-1 1 0,-1 1 0,1 1 0,-34 4 0,-3-1 0,52-2 0,0 0 0,1 1 0,-1 0 0,0 1 0,0 0 0,1 0 0,-1 1 0,1 0 0,0 0 0,0 1 0,0 0 0,0 1 0,1-1 0,0 1 0,0 1 0,0-1 0,0 1 0,1 1 0,0-1 0,0 1 0,1 0 0,-6 10 0,-3 5 0,7-12 0,0 1 0,1 1 0,0-1 0,1 1 0,0 0 0,-5 19 0,-7 33 0,11-47 0,1 0 0,1 0 0,1 1 0,-2 28 0,4-22 0,0 1 0,4 46 0,-2-64 0,1 0 0,-1 1 0,1-1 0,0 0 0,1 0 0,-1 0 0,1-1 0,1 1 0,-1-1 0,9 11 0,7 5 0,41 36 0,-26-27 0,-7-6 0,30 21 0,-37-33 0,1-1 0,0-1 0,38 14 0,-45-20 0,5 4 0,0-1 0,1-2 0,0 1 0,0-2 0,1-1 0,0-1 0,32 2 0,35-4 0,104-4 0,-180 1 0,-1 0 0,0-1 0,0-1 0,0 0 0,0 0 0,-1-1 0,0 0 0,0-1 0,0 0 0,0-1 0,-1 0 0,0 0 0,-1-1 0,15-17 0,39-32 0,-3-4 0,-54 55 0,-1 0 0,0-1 0,0 0 0,-1 0 0,0 0 0,0-1 0,0 1 0,-1-1 0,0 1 0,-1-1 0,1-11 0,0-10 0,-5-52 0,1 21 0,3 46 0,-1 0 0,-1 0 0,0 1 0,0-1 0,-1 0 0,-1 1 0,-1 0 0,0-1 0,0 1 0,-1 1 0,-11-21 0,-17-29 0,20 37 0,-21-32 0,28 48 0,0 1 0,0 1 0,-1-1 0,0 1 0,-1 1 0,1-1 0,-15-8 0,2 4 0,-42-16 0,28 13 0,21 10-170,-1 0-1,0 1 0,0 0 1,-1 1-1,1 1 0,0 0 1,-23 2-1,19-1-6655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05T01:47:38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1 24575,'-7'1'0,"1"1"0,-1-1 0,1 1 0,-1 1 0,1-1 0,0 1 0,0 0 0,0 0 0,0 1 0,-7 6 0,-18 9 0,11-10 0,1 2 0,0 0 0,-18 16 0,31-23 0,1 1 0,0 0 0,0 0 0,0 1 0,0-1 0,1 1 0,0 0 0,0 0 0,1 1 0,0-1 0,0 1 0,0 0 0,-1 8 0,0-3 0,0 1 0,-1 0 0,-1-1 0,0 0 0,-11 17 0,-7 13 0,19-31 0,2 0 0,-1 0 0,1 1 0,-2 22 0,-1 1 0,2-15 0,0 1 0,2-1 0,1 1 0,0 0 0,2-1 0,0 1 0,5 24 0,-3-39 0,-1 0 0,1-1 0,0 0 0,0 1 0,0-1 0,1 0 0,0-1 0,0 1 0,0-1 0,1 1 0,-1-1 0,6 3 0,11 8 0,31 18 0,-18-14 0,0-2 0,1-1 0,57 18 0,93 21 0,-170-52 0,0-1 0,1 0 0,-1-1 0,26-2 0,-26 0 0,-1 1 0,1 0 0,0 2 0,29 5 0,-27-3 0,1 0 0,-1-1 0,1-1 0,0 0 0,0-1 0,29-3 0,-37 1 0,0-1 0,0 1 0,0-2 0,0 1 0,-1-1 0,1-1 0,-1 0 0,0 0 0,0-1 0,0 0 0,0-1 0,-1 1 0,9-9 0,-8 3 0,0 0 0,0-1 0,-1 0 0,10-19 0,4-7 0,-10 20 0,2-3 0,-1-1 0,11-24 0,-10 20 0,-11 20 0,0 0 0,0 0 0,0 0 0,-1 0 0,0 0 0,0-1 0,1-7 0,7-40 0,-7 36 0,0-1 0,0 1 0,-1-24 0,-3 35 0,1 0 0,-1 1 0,0-1 0,-1 1 0,1 0 0,-1-1 0,-1 1 0,1 0 0,-1 0 0,0 1 0,0-1 0,-1 0 0,-5-6 0,-19-25 0,16 20 0,-27-29 0,12 18 0,19 19 0,0 0 0,0 1 0,-1 0 0,0 0 0,-15-9 0,-20-10 0,27 16 0,-1 0 0,-1 1 0,-39-16 0,41 21 0,-1 0 0,1 1 0,-1 0 0,0 2 0,-31-1 0,30 2 0,0-1 0,-23-5 0,22 3 0,-40-2 0,48 6-151,0 1-1,0-1 0,0 2 0,0 0 1,0 0-1,0 1 0,1 1 1,-12 5-1,11-3-6674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LBA = Logical Block Addressing.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52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39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1024000*512/1024/1024=500</a:t>
            </a:r>
          </a:p>
          <a:p>
            <a:r>
              <a:rPr lang="en-US"/>
              <a:t>echo $((16#04fff000))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97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99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 </a:t>
            </a:r>
            <a:r>
              <a:rPr lang="es-ES" dirty="0" err="1"/>
              <a:t>conversion</a:t>
            </a:r>
            <a:r>
              <a:rPr lang="es-ES" dirty="0"/>
              <a:t>:</a:t>
            </a:r>
          </a:p>
          <a:p>
            <a:r>
              <a:rPr lang="es-ES" dirty="0"/>
              <a:t>echo $((0x010021)) = 65569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58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54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1C6: </a:t>
            </a:r>
          </a:p>
          <a:p>
            <a:r>
              <a:rPr lang="en-US" dirty="0"/>
              <a:t>ID6, 1026048,186646868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5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gif"/><Relationship Id="rId13" Type="http://schemas.openxmlformats.org/officeDocument/2006/relationships/customXml" Target="../ink/ink3.xml"/><Relationship Id="rId3" Type="http://schemas.openxmlformats.org/officeDocument/2006/relationships/image" Target="../media/image7.png"/><Relationship Id="rId7" Type="http://schemas.openxmlformats.org/officeDocument/2006/relationships/image" Target="../media/image11.gif"/><Relationship Id="rId12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customXml" Target="../ink/ink2.xml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customXml" Target="../ink/ink1.xml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43.png"/><Relationship Id="rId18" Type="http://schemas.openxmlformats.org/officeDocument/2006/relationships/customXml" Target="../ink/ink10.xml"/><Relationship Id="rId3" Type="http://schemas.openxmlformats.org/officeDocument/2006/relationships/hyperlink" Target="http://www.c-jump.com/CIS24/Slides/Booting/Booting.html" TargetMode="External"/><Relationship Id="rId21" Type="http://schemas.openxmlformats.org/officeDocument/2006/relationships/image" Target="../media/image47.png"/><Relationship Id="rId7" Type="http://schemas.openxmlformats.org/officeDocument/2006/relationships/image" Target="../media/image400.png"/><Relationship Id="rId12" Type="http://schemas.openxmlformats.org/officeDocument/2006/relationships/customXml" Target="../ink/ink7.xml"/><Relationship Id="rId17" Type="http://schemas.openxmlformats.org/officeDocument/2006/relationships/image" Target="../media/image45.png"/><Relationship Id="rId2" Type="http://schemas.openxmlformats.org/officeDocument/2006/relationships/image" Target="../media/image26.png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420.png"/><Relationship Id="rId5" Type="http://schemas.openxmlformats.org/officeDocument/2006/relationships/image" Target="../media/image28.png"/><Relationship Id="rId15" Type="http://schemas.openxmlformats.org/officeDocument/2006/relationships/image" Target="../media/image44.png"/><Relationship Id="rId10" Type="http://schemas.openxmlformats.org/officeDocument/2006/relationships/customXml" Target="../ink/ink6.xml"/><Relationship Id="rId19" Type="http://schemas.openxmlformats.org/officeDocument/2006/relationships/image" Target="../media/image46.png"/><Relationship Id="rId4" Type="http://schemas.openxmlformats.org/officeDocument/2006/relationships/image" Target="../media/image27.png"/><Relationship Id="rId9" Type="http://schemas.openxmlformats.org/officeDocument/2006/relationships/image" Target="../media/image410.png"/><Relationship Id="rId14" Type="http://schemas.openxmlformats.org/officeDocument/2006/relationships/customXml" Target="../ink/ink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5" Type="http://schemas.openxmlformats.org/officeDocument/2006/relationships/image" Target="../media/image540.png"/><Relationship Id="rId4" Type="http://schemas.openxmlformats.org/officeDocument/2006/relationships/customXml" Target="../ink/ink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r>
              <a:rPr sz="4200">
                <a:solidFill>
                  <a:srgbClr val="000000"/>
                </a:solidFill>
                <a:latin typeface="Calibri"/>
              </a:rPr>
              <a:t>Computer Systems and Digital Evidence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871076-CFC8-4CD5-BF65-ECB4ACAEF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EFA9-CE2A-40FE-BF89-CEFE849B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247E6-97A2-4ED5-BB8F-4A27DE090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>
                <a:solidFill>
                  <a:srgbClr val="000000"/>
                </a:solidFill>
                <a:latin typeface="Calibri"/>
              </a:rPr>
              <a:t>Computer-system layers and forensic artifacts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Programs, processes, threads, and memory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Why computer forensics is technically hard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Disk geometry, sectors, and disk-size calculation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MBR/GPT partitions and the PC </a:t>
            </a:r>
            <a:r>
              <a:rPr sz="2800">
                <a:solidFill>
                  <a:srgbClr val="000000"/>
                </a:solidFill>
                <a:latin typeface="Calibri"/>
              </a:rPr>
              <a:t>boot process</a:t>
            </a:r>
            <a:endParaRPr sz="2800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480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A29158-1C64-4CE0-B619-29AE3D56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dirty="0">
                <a:solidFill>
                  <a:srgbClr val="000000"/>
                </a:solidFill>
                <a:latin typeface="Calibri"/>
              </a:rPr>
              <a:t>Computer systems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D0B53D-281E-4193-A016-504D23D53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9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A84B-65BD-439A-B94D-62C83D49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sz="4400" dirty="0">
                <a:solidFill>
                  <a:srgbClr val="000000"/>
                </a:solidFill>
                <a:latin typeface="Calibri"/>
              </a:rPr>
              <a:t>Layers of a computer system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A92B2F-D31C-13DF-1C20-CD6E8FFE7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31102" y="1762069"/>
            <a:ext cx="4024286" cy="743005"/>
          </a:xfrm>
        </p:spPr>
        <p:txBody>
          <a:bodyPr/>
          <a:lstStyle/>
          <a:p>
            <a:r>
              <a:rPr lang="en-GB" dirty="0"/>
              <a:t>Forensic view: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3ED53F-4971-52D1-FC10-B6E047AEE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31103" y="2505075"/>
            <a:ext cx="3458817" cy="2408831"/>
          </a:xfrm>
        </p:spPr>
        <p:txBody>
          <a:bodyPr>
            <a:normAutofit fontScale="92500"/>
          </a:bodyPr>
          <a:lstStyle/>
          <a:p>
            <a:r>
              <a:rPr lang="en-GB" dirty="0"/>
              <a:t>User actions create artifacts across layers.</a:t>
            </a:r>
          </a:p>
          <a:p>
            <a:r>
              <a:rPr lang="en-GB" dirty="0"/>
              <a:t>Evidence can appear in apps, OS logs, file systems, disk sectors, and memory.</a:t>
            </a:r>
          </a:p>
        </p:txBody>
      </p:sp>
      <p:pic>
        <p:nvPicPr>
          <p:cNvPr id="1026" name="Picture 2" descr="Technology layers from hardware to users.">
            <a:extLst>
              <a:ext uri="{FF2B5EF4-FFF2-40B4-BE49-F238E27FC236}">
                <a16:creationId xmlns:a16="http://schemas.microsoft.com/office/drawing/2014/main" id="{383A4A36-A8F1-4488-B678-B0A846360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5952" y="1923422"/>
            <a:ext cx="5717097" cy="3816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35AD8-5C2E-43B0-9DEE-1602D90C480F}"/>
              </a:ext>
            </a:extLst>
          </p:cNvPr>
          <p:cNvSpPr txBox="1"/>
          <p:nvPr/>
        </p:nvSpPr>
        <p:spPr>
          <a:xfrm>
            <a:off x="7189393" y="6566910"/>
            <a:ext cx="6176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https://windsongtraining.ca/</a:t>
            </a:r>
            <a:r>
              <a:rPr lang="en-US" sz="900" dirty="0"/>
              <a:t>the-technology-layer-cake-users-apps-os-and-hardware</a:t>
            </a:r>
            <a:r>
              <a:rPr lang="en-US" sz="1050" dirty="0"/>
              <a:t>/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1FF3E71-63E4-4E3A-83FB-207CA7A70BB5}"/>
              </a:ext>
            </a:extLst>
          </p:cNvPr>
          <p:cNvSpPr/>
          <p:nvPr/>
        </p:nvSpPr>
        <p:spPr>
          <a:xfrm>
            <a:off x="6871077" y="2654942"/>
            <a:ext cx="318316" cy="29650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38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7A4A-8B9B-47A4-817F-5AF2B2A7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the computer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238C0-5D61-46C9-B14A-A79E9F157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31287"/>
            <a:ext cx="6694683" cy="4977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5CAC5F-9C46-43BC-8BB1-EC229309A9ED}"/>
              </a:ext>
            </a:extLst>
          </p:cNvPr>
          <p:cNvSpPr txBox="1"/>
          <p:nvPr/>
        </p:nvSpPr>
        <p:spPr>
          <a:xfrm>
            <a:off x="2731693" y="6492875"/>
            <a:ext cx="61768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http://www.carnegiecyberacademy.com/facultyPages/computer/computers.html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244E6-FEAB-41BB-9F4D-5BEFB571D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952" y="166370"/>
            <a:ext cx="1781175" cy="1543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96043B-A4CF-477E-AE01-F4078FE8C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951" y="1722596"/>
            <a:ext cx="1781175" cy="1543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9B2A95-DFFF-45A3-B39F-AFB680F10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951" y="3369468"/>
            <a:ext cx="1781175" cy="1543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CBD996-C043-40F8-80C4-FBCF373A8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951" y="4949825"/>
            <a:ext cx="1781175" cy="15430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06AC6B8-0565-4AB5-9E8E-DE68704F1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953" y="147638"/>
            <a:ext cx="17811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6A51E85-04AC-492D-8A56-EF418EF61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953" y="1758553"/>
            <a:ext cx="17811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8ABA170-3119-A44D-163D-1510B4B0C9BF}"/>
                  </a:ext>
                </a:extLst>
              </p14:cNvPr>
              <p14:cNvContentPartPr/>
              <p14:nvPr/>
            </p14:nvContentPartPr>
            <p14:xfrm>
              <a:off x="1233420" y="3832200"/>
              <a:ext cx="954360" cy="650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8ABA170-3119-A44D-163D-1510B4B0C9B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15780" y="3814200"/>
                <a:ext cx="99000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5292DE2-7697-7861-C25A-E5CB34C45687}"/>
                  </a:ext>
                </a:extLst>
              </p14:cNvPr>
              <p14:cNvContentPartPr/>
              <p14:nvPr/>
            </p14:nvContentPartPr>
            <p14:xfrm>
              <a:off x="3298740" y="5725080"/>
              <a:ext cx="816840" cy="753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5292DE2-7697-7861-C25A-E5CB34C4568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80740" y="5707440"/>
                <a:ext cx="852480" cy="78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F6375DD-9A78-9098-EAB0-D1BE84C23155}"/>
                  </a:ext>
                </a:extLst>
              </p14:cNvPr>
              <p14:cNvContentPartPr/>
              <p14:nvPr/>
            </p14:nvContentPartPr>
            <p14:xfrm>
              <a:off x="3390540" y="1218600"/>
              <a:ext cx="2142360" cy="1342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F6375DD-9A78-9098-EAB0-D1BE84C2315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72540" y="1200960"/>
                <a:ext cx="2178000" cy="137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005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B5BC04-FD85-4858-9595-2A7754D66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71" y="1490438"/>
            <a:ext cx="7717851" cy="4939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C7DBE0-D04D-2D1A-8E0D-99E17EF6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system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414490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F42646-D7AE-4642-9126-6B0BEF57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dirty="0">
                <a:solidFill>
                  <a:srgbClr val="000000"/>
                </a:solidFill>
                <a:latin typeface="Calibri"/>
              </a:rPr>
              <a:t>How do computers work?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5AC95E-40DB-8C4A-7B68-84786333D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B33A8C8-30DB-3F94-5380-BF9C31887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61616" y="1681163"/>
            <a:ext cx="3693772" cy="823912"/>
          </a:xfrm>
        </p:spPr>
        <p:txBody>
          <a:bodyPr/>
          <a:lstStyle/>
          <a:p>
            <a:r>
              <a:rPr lang="en-GB" dirty="0"/>
              <a:t>Program vs. Process vs. Thread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6D8479A6-6F42-C1BF-3CAF-E9B4DEBFE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61616" y="2505075"/>
            <a:ext cx="3693771" cy="294952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Program: code stored on disk.</a:t>
            </a:r>
          </a:p>
          <a:p>
            <a:r>
              <a:rPr lang="en-GB" dirty="0"/>
              <a:t>Process: a running instance loaded into memory.</a:t>
            </a:r>
          </a:p>
          <a:p>
            <a:r>
              <a:rPr lang="en-GB" dirty="0"/>
              <a:t>Thread: an execution path inside a process.</a:t>
            </a:r>
          </a:p>
          <a:p>
            <a:r>
              <a:rPr lang="en-GB" dirty="0"/>
              <a:t>Forensics: connect disk artifacts to runtime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76AE59-A0C0-4166-A46E-FE749308B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22" y="1324096"/>
            <a:ext cx="7153795" cy="413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3704EC-B3F0-48B3-BC17-6F524BD713C1}"/>
              </a:ext>
            </a:extLst>
          </p:cNvPr>
          <p:cNvSpPr txBox="1"/>
          <p:nvPr/>
        </p:nvSpPr>
        <p:spPr>
          <a:xfrm>
            <a:off x="3491033" y="6611779"/>
            <a:ext cx="2997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https://en.wikipedia.org/wiki/Process_(computing)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7DE5B5-14EA-6241-44B2-CF3C7EDC8B2A}"/>
              </a:ext>
            </a:extLst>
          </p:cNvPr>
          <p:cNvSpPr txBox="1"/>
          <p:nvPr/>
        </p:nvSpPr>
        <p:spPr>
          <a:xfrm>
            <a:off x="2334506" y="5549980"/>
            <a:ext cx="181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1" dirty="0">
                <a:solidFill>
                  <a:srgbClr val="C00000"/>
                </a:solidFill>
                <a:latin typeface="Calibri"/>
              </a:rPr>
              <a:t>Malware / behavior analysis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BC5B1B-E5EA-2629-EB9E-6EDD9FDAB0D8}"/>
              </a:ext>
            </a:extLst>
          </p:cNvPr>
          <p:cNvCxnSpPr>
            <a:cxnSpLocks/>
          </p:cNvCxnSpPr>
          <p:nvPr/>
        </p:nvCxnSpPr>
        <p:spPr>
          <a:xfrm flipH="1">
            <a:off x="4130713" y="4150581"/>
            <a:ext cx="2430208" cy="1263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B596AD-A614-F0C4-37EC-6BC2E22A59CC}"/>
              </a:ext>
            </a:extLst>
          </p:cNvPr>
          <p:cNvCxnSpPr>
            <a:cxnSpLocks/>
          </p:cNvCxnSpPr>
          <p:nvPr/>
        </p:nvCxnSpPr>
        <p:spPr>
          <a:xfrm flipH="1" flipV="1">
            <a:off x="995762" y="2376346"/>
            <a:ext cx="3134951" cy="30782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2DB859-4C84-7FFD-504D-7963DC9243B5}"/>
              </a:ext>
            </a:extLst>
          </p:cNvPr>
          <p:cNvCxnSpPr>
            <a:cxnSpLocks/>
            <a:stCxn id="1026" idx="2"/>
          </p:cNvCxnSpPr>
          <p:nvPr/>
        </p:nvCxnSpPr>
        <p:spPr>
          <a:xfrm flipH="1" flipV="1">
            <a:off x="3060332" y="2280961"/>
            <a:ext cx="1024388" cy="3173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99654D-1B4A-73AB-D5C6-B60C1F0ED619}"/>
              </a:ext>
            </a:extLst>
          </p:cNvPr>
          <p:cNvCxnSpPr>
            <a:cxnSpLocks/>
            <a:stCxn id="1026" idx="2"/>
          </p:cNvCxnSpPr>
          <p:nvPr/>
        </p:nvCxnSpPr>
        <p:spPr>
          <a:xfrm flipV="1">
            <a:off x="4084720" y="2376346"/>
            <a:ext cx="3079077" cy="30782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42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840B001E-58CB-4C4F-B3EB-56AF65B61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51" y="0"/>
            <a:ext cx="10092497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347472"/>
            <a:ext cx="5852160" cy="38404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Example: one application can create many processes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347472"/>
            <a:ext cx="4023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400" b="1">
                <a:solidFill>
                  <a:srgbClr val="005082"/>
                </a:solidFill>
                <a:latin typeface="Calibri"/>
              </a:rPr>
              <a:t>Task Manager evidence: process names, PIDs, memory, CPU, disk, network use</a:t>
            </a:r>
          </a:p>
        </p:txBody>
      </p:sp>
    </p:spTree>
    <p:extLst>
      <p:ext uri="{BB962C8B-B14F-4D97-AF65-F5344CB8AC3E}">
        <p14:creationId xmlns:p14="http://schemas.microsoft.com/office/powerpoint/2010/main" val="3041551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A902-6489-4936-A94F-87C6A774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Why is computer forensics hard?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12FEB-15D5-4170-A558-8E8D2F31B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300">
                <a:solidFill>
                  <a:srgbClr val="000000"/>
                </a:solidFill>
                <a:latin typeface="Calibri"/>
              </a:rPr>
              <a:t>Technical diversity</a:t>
            </a:r>
          </a:p>
          <a:p>
            <a:pPr lvl="1"/>
            <a:r>
              <a:rPr sz="2300">
                <a:solidFill>
                  <a:srgbClr val="000000"/>
                </a:solidFill>
                <a:latin typeface="Calibri"/>
              </a:rPr>
              <a:t>Different operating systems, versions, applications, and hardware.</a:t>
            </a:r>
          </a:p>
          <a:p>
            <a:r>
              <a:rPr sz="2300">
                <a:solidFill>
                  <a:srgbClr val="000000"/>
                </a:solidFill>
                <a:latin typeface="Calibri"/>
              </a:rPr>
              <a:t>Rapidly changing devices and data formats</a:t>
            </a:r>
          </a:p>
          <a:p>
            <a:pPr lvl="1"/>
            <a:r>
              <a:rPr sz="2300">
                <a:solidFill>
                  <a:srgbClr val="000000"/>
                </a:solidFill>
                <a:latin typeface="Calibri"/>
              </a:rPr>
              <a:t>Mobile, IoT, cloud, vehicles, and app/database updates change artifacts.</a:t>
            </a:r>
          </a:p>
          <a:p>
            <a:r>
              <a:rPr sz="2300">
                <a:solidFill>
                  <a:srgbClr val="000000"/>
                </a:solidFill>
                <a:latin typeface="Calibri"/>
              </a:rPr>
              <a:t>Volume and correlation</a:t>
            </a:r>
          </a:p>
          <a:p>
            <a:pPr lvl="1"/>
            <a:r>
              <a:rPr sz="2300">
                <a:solidFill>
                  <a:srgbClr val="000000"/>
                </a:solidFill>
                <a:latin typeface="Calibri"/>
              </a:rPr>
              <a:t>Examiners must collect, filter, analyze, and validate large heterogeneous evidence sets.</a:t>
            </a:r>
          </a:p>
          <a:p>
            <a:r>
              <a:rPr sz="2300">
                <a:solidFill>
                  <a:srgbClr val="000000"/>
                </a:solidFill>
                <a:latin typeface="Calibri"/>
              </a:rPr>
              <a:t>Interdisciplinary requirements</a:t>
            </a:r>
          </a:p>
          <a:p>
            <a:pPr lvl="1"/>
            <a:r>
              <a:rPr sz="2300">
                <a:solidFill>
                  <a:srgbClr val="000000"/>
                </a:solidFill>
                <a:latin typeface="Calibri"/>
              </a:rPr>
              <a:t>Forensics combines computing, cybersecurity, law, and criminal justice.</a:t>
            </a:r>
          </a:p>
        </p:txBody>
      </p:sp>
    </p:spTree>
    <p:extLst>
      <p:ext uri="{BB962C8B-B14F-4D97-AF65-F5344CB8AC3E}">
        <p14:creationId xmlns:p14="http://schemas.microsoft.com/office/powerpoint/2010/main" val="52402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424A3-F7A7-4748-8EB5-EB72CD1D7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786" y="2124721"/>
            <a:ext cx="7631300" cy="440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FFA25F-9388-4177-9610-CFBBA1947005}"/>
              </a:ext>
            </a:extLst>
          </p:cNvPr>
          <p:cNvSpPr txBox="1"/>
          <p:nvPr/>
        </p:nvSpPr>
        <p:spPr>
          <a:xfrm>
            <a:off x="4652658" y="1723660"/>
            <a:ext cx="2115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0" dirty="0">
                <a:solidFill>
                  <a:srgbClr val="7030A0"/>
                </a:solidFill>
                <a:latin typeface="Calibri"/>
              </a:rPr>
              <a:t>OS logs and application logs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A3ABE-D6B0-40AC-9322-58C7893C2FDE}"/>
              </a:ext>
            </a:extLst>
          </p:cNvPr>
          <p:cNvSpPr txBox="1"/>
          <p:nvPr/>
        </p:nvSpPr>
        <p:spPr>
          <a:xfrm>
            <a:off x="7713205" y="2046825"/>
            <a:ext cx="211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0" dirty="0">
                <a:solidFill>
                  <a:srgbClr val="7030A0"/>
                </a:solidFill>
                <a:latin typeface="Calibri"/>
              </a:rPr>
              <a:t>Memory forensics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FB8EF-62BA-44E3-877E-5AA16D5A3CCD}"/>
              </a:ext>
            </a:extLst>
          </p:cNvPr>
          <p:cNvSpPr txBox="1"/>
          <p:nvPr/>
        </p:nvSpPr>
        <p:spPr>
          <a:xfrm>
            <a:off x="857362" y="2356007"/>
            <a:ext cx="176454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700" b="0" dirty="0">
                <a:solidFill>
                  <a:srgbClr val="7030A0"/>
                </a:solidFill>
                <a:latin typeface="Calibri"/>
              </a:rPr>
              <a:t>Static / low-level analysis:</a:t>
            </a:r>
          </a:p>
          <a:p>
            <a:r>
              <a:rPr sz="1700" b="0" dirty="0">
                <a:solidFill>
                  <a:srgbClr val="7030A0"/>
                </a:solidFill>
                <a:latin typeface="Calibri"/>
              </a:rPr>
              <a:t>program code and malware bytes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D8DA7-BE01-42FB-8B5E-39CCE4B83D06}"/>
              </a:ext>
            </a:extLst>
          </p:cNvPr>
          <p:cNvSpPr txBox="1"/>
          <p:nvPr/>
        </p:nvSpPr>
        <p:spPr>
          <a:xfrm>
            <a:off x="10082182" y="4347034"/>
            <a:ext cx="139773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700" b="0" dirty="0">
                <a:solidFill>
                  <a:srgbClr val="7030A0"/>
                </a:solidFill>
                <a:latin typeface="Calibri"/>
              </a:rPr>
              <a:t>Dynamic analysis:</a:t>
            </a:r>
          </a:p>
          <a:p>
            <a:r>
              <a:rPr sz="1700" b="0" dirty="0">
                <a:solidFill>
                  <a:srgbClr val="7030A0"/>
                </a:solidFill>
                <a:latin typeface="Calibri"/>
              </a:rPr>
              <a:t>processes, PIDs, and runtime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20C5C-ACCE-4766-B616-5C51CDEAC475}"/>
              </a:ext>
            </a:extLst>
          </p:cNvPr>
          <p:cNvSpPr txBox="1"/>
          <p:nvPr/>
        </p:nvSpPr>
        <p:spPr>
          <a:xfrm>
            <a:off x="857362" y="5282517"/>
            <a:ext cx="199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0">
                <a:solidFill>
                  <a:srgbClr val="7030A0"/>
                </a:solidFill>
                <a:latin typeface="Calibri"/>
              </a:rPr>
              <a:t>CPU execution context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CD529-752C-F3B6-937A-B633CB75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of digital forensics</a:t>
            </a:r>
          </a:p>
        </p:txBody>
      </p:sp>
    </p:spTree>
    <p:extLst>
      <p:ext uri="{BB962C8B-B14F-4D97-AF65-F5344CB8AC3E}">
        <p14:creationId xmlns:p14="http://schemas.microsoft.com/office/powerpoint/2010/main" val="3669683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BB1566-FACA-43F6-8E5F-6CD4FB80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Hard disk drives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DA336-FECE-4500-96C7-799495667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6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cs.uic.edu/~jbell/CourseNotes/OperatingSystems/images/Chapter10/10_01_DiskMechan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129" y="1475939"/>
            <a:ext cx="6811611" cy="499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37817" y="6474070"/>
            <a:ext cx="6111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000000"/>
                </a:solidFill>
                <a:latin typeface="Calibri"/>
              </a:rPr>
              <a:t>Abraham Silberschatz, Greg Gagne, and Peter Baer Galvin, "Operating System Concepts, Ninth Edition"</a:t>
            </a:r>
            <a:endParaRPr lang="en-US" sz="1600" dirty="0"/>
          </a:p>
        </p:txBody>
      </p:sp>
      <p:pic>
        <p:nvPicPr>
          <p:cNvPr id="1028" name="Picture 4" descr="fujitsu mhx2300bt 300gb 2.5in sata h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40" y="2700988"/>
            <a:ext cx="3233557" cy="248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20331" y="6039485"/>
            <a:ext cx="28532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https://regmedia.co.uk/2006/12/12/fujitsu_300gb_1.jpg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D6529-D026-4EDC-B0C1-F236240B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disk drives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1B51-B90E-49D4-9ABC-D540CFDB8662}"/>
              </a:ext>
            </a:extLst>
          </p:cNvPr>
          <p:cNvCxnSpPr/>
          <p:nvPr/>
        </p:nvCxnSpPr>
        <p:spPr>
          <a:xfrm flipV="1">
            <a:off x="2735179" y="2518611"/>
            <a:ext cx="4748463" cy="910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423D44-2E8A-4257-96AB-A434F2A6F559}"/>
              </a:ext>
            </a:extLst>
          </p:cNvPr>
          <p:cNvCxnSpPr>
            <a:cxnSpLocks/>
          </p:cNvCxnSpPr>
          <p:nvPr/>
        </p:nvCxnSpPr>
        <p:spPr>
          <a:xfrm>
            <a:off x="2735179" y="3429000"/>
            <a:ext cx="47484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FDAE76-B99D-427C-ACDF-E379E99B5D68}"/>
              </a:ext>
            </a:extLst>
          </p:cNvPr>
          <p:cNvCxnSpPr>
            <a:cxnSpLocks/>
          </p:cNvCxnSpPr>
          <p:nvPr/>
        </p:nvCxnSpPr>
        <p:spPr>
          <a:xfrm>
            <a:off x="2735179" y="3414778"/>
            <a:ext cx="4814523" cy="1519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533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 dirty="0">
                <a:solidFill>
                  <a:srgbClr val="000000"/>
                </a:solidFill>
                <a:latin typeface="Calibri"/>
              </a:rPr>
              <a:t>What is a disk sector?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7235" y="1753200"/>
            <a:ext cx="5784531" cy="4814400"/>
          </a:xfrm>
        </p:spPr>
        <p:txBody>
          <a:bodyPr/>
          <a:lstStyle/>
          <a:p>
            <a:r>
              <a:rPr sz="2800" dirty="0">
                <a:solidFill>
                  <a:srgbClr val="000000"/>
                </a:solidFill>
                <a:latin typeface="Calibri"/>
              </a:rPr>
              <a:t>A sector is the smallest addressable storage unit exposed by a disk interface.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Common logical sector size: 512 bytes; many modern disks use 4 KiB physical sectors.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Files consume space in clusters; a cluster is one or more sectors.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Forensics uses sector/LBA offsets to locate partitions and recover data.</a:t>
            </a:r>
          </a:p>
        </p:txBody>
      </p:sp>
      <p:pic>
        <p:nvPicPr>
          <p:cNvPr id="4100" name="Picture 4" descr="26BalH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766" y="1921151"/>
            <a:ext cx="4627423" cy="3742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9558116" y="6602244"/>
            <a:ext cx="179568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https://i.imgur.com/26BalHW.png</a:t>
            </a:r>
          </a:p>
        </p:txBody>
      </p:sp>
    </p:spTree>
    <p:extLst>
      <p:ext uri="{BB962C8B-B14F-4D97-AF65-F5344CB8AC3E}">
        <p14:creationId xmlns:p14="http://schemas.microsoft.com/office/powerpoint/2010/main" val="1429759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Calculate total sectors using CHS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6027420" cy="4351338"/>
          </a:xfrm>
        </p:spPr>
        <p:txBody>
          <a:bodyPr/>
          <a:lstStyle/>
          <a:p>
            <a:r>
              <a:rPr sz="2600">
                <a:solidFill>
                  <a:srgbClr val="000000"/>
                </a:solidFill>
                <a:latin typeface="Calibri"/>
              </a:rPr>
              <a:t># sectors = Cylinders × Heads × Sectors per track</a:t>
            </a:r>
          </a:p>
          <a:p>
            <a:r>
              <a:rPr sz="2600">
                <a:solidFill>
                  <a:srgbClr val="000000"/>
                </a:solidFill>
                <a:latin typeface="Calibri"/>
              </a:rPr>
              <a:t>Example values:</a:t>
            </a:r>
          </a:p>
          <a:p>
            <a:pPr lvl="1"/>
            <a:r>
              <a:rPr sz="2600">
                <a:solidFill>
                  <a:srgbClr val="000000"/>
                </a:solidFill>
                <a:latin typeface="Calibri"/>
              </a:rPr>
              <a:t>Sectors per track = 400</a:t>
            </a:r>
          </a:p>
          <a:p>
            <a:pPr lvl="1"/>
            <a:r>
              <a:rPr sz="2600">
                <a:solidFill>
                  <a:srgbClr val="000000"/>
                </a:solidFill>
                <a:latin typeface="Calibri"/>
              </a:rPr>
              <a:t>Heads = 12</a:t>
            </a:r>
          </a:p>
          <a:p>
            <a:pPr lvl="1"/>
            <a:r>
              <a:rPr sz="2600">
                <a:solidFill>
                  <a:srgbClr val="000000"/>
                </a:solidFill>
                <a:latin typeface="Calibri"/>
              </a:rPr>
              <a:t>Cylinders = 17,000</a:t>
            </a:r>
          </a:p>
          <a:p>
            <a:r>
              <a:rPr sz="2600">
                <a:solidFill>
                  <a:srgbClr val="000000"/>
                </a:solidFill>
                <a:latin typeface="Calibri"/>
              </a:rPr>
              <a:t>Total sectors = 17,000 × 12 × 400 = 81,600,000</a:t>
            </a:r>
          </a:p>
        </p:txBody>
      </p:sp>
      <p:pic>
        <p:nvPicPr>
          <p:cNvPr id="3" name="Picture 2" descr="https://www.cs.uic.edu/~jbell/CourseNotes/OperatingSystems/images/Chapter10/10_01_DiskMechan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796" y="1915778"/>
            <a:ext cx="5017072" cy="3681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073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Calculate disk size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7233" y="1443233"/>
            <a:ext cx="5962367" cy="4814400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000000"/>
                </a:solidFill>
                <a:latin typeface="Calibri"/>
              </a:rPr>
              <a:t>1 KiB = 1,024 bytes; 1 MiB = 1,024 KiB; 1 GiB = 1,024 MiB</a:t>
            </a:r>
          </a:p>
          <a:p>
            <a:r>
              <a:rPr sz="2400" dirty="0">
                <a:solidFill>
                  <a:srgbClr val="000000"/>
                </a:solidFill>
                <a:latin typeface="Calibri"/>
              </a:rPr>
              <a:t>Bytes = number of sectors × bytes per sector</a:t>
            </a:r>
          </a:p>
          <a:p>
            <a:r>
              <a:rPr sz="2400" dirty="0">
                <a:solidFill>
                  <a:srgbClr val="000000"/>
                </a:solidFill>
                <a:latin typeface="Calibri"/>
              </a:rPr>
              <a:t>81,600,000 sectors × 512 bytes = 41,779,200,000 bytes</a:t>
            </a:r>
          </a:p>
          <a:p>
            <a:r>
              <a:rPr sz="2400" dirty="0">
                <a:solidFill>
                  <a:srgbClr val="000000"/>
                </a:solidFill>
                <a:latin typeface="Calibri"/>
              </a:rPr>
              <a:t>41,779,200,000 ÷ 1,024³ = 38.91 GiB</a:t>
            </a:r>
          </a:p>
          <a:p>
            <a:r>
              <a:rPr sz="2400" dirty="0">
                <a:solidFill>
                  <a:srgbClr val="000000"/>
                </a:solidFill>
                <a:latin typeface="Calibri"/>
              </a:rPr>
              <a:t>Decimal display: ≈ 41.78 GB</a:t>
            </a:r>
          </a:p>
        </p:txBody>
      </p:sp>
      <p:pic>
        <p:nvPicPr>
          <p:cNvPr id="3" name="Picture 2" descr="https://www.cs.uic.edu/~jbell/CourseNotes/OperatingSystems/images/Chapter10/10_01_DiskMechan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633" y="1527361"/>
            <a:ext cx="4554338" cy="334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86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What is a partition?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D715-7292-4FAD-A484-09D5D92FAB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61" y="2627190"/>
            <a:ext cx="3535148" cy="32981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9993" y="6046472"/>
            <a:ext cx="4670853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https://www.maketecheasier.com/assets/uploads/2012/05/partitions-partition-diagram.png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96" y="427665"/>
            <a:ext cx="4829400" cy="19047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08C398-E544-4166-829B-67A0F372F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696" y="2974221"/>
            <a:ext cx="1590061" cy="340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1053F-EBBF-4152-8D99-0B94E621F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900" y="2632270"/>
            <a:ext cx="3918062" cy="40892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38200" y="1555720"/>
            <a:ext cx="4602646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 dirty="0">
                <a:solidFill>
                  <a:srgbClr val="005082"/>
                </a:solidFill>
                <a:latin typeface="Calibri"/>
              </a:rPr>
              <a:t>A partition is a defined region of a disk. The partition table records where each region starts, ends, and what file system it uses.</a:t>
            </a:r>
          </a:p>
        </p:txBody>
      </p:sp>
    </p:spTree>
    <p:extLst>
      <p:ext uri="{BB962C8B-B14F-4D97-AF65-F5344CB8AC3E}">
        <p14:creationId xmlns:p14="http://schemas.microsoft.com/office/powerpoint/2010/main" val="1428006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FCC1-2BE3-1CB1-03DF-2A93E2FA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FA81-2D46-6429-B36A-8909F96E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PC boot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4CA81-5995-592B-FEAD-15D13C27F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63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5393D-0135-4183-1613-AEEAB3D7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EAE58D-527E-4701-9280-ED69E63C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Booting a computer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2B7E4A-36BB-E62E-81B1-5217AF49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83" y="1443233"/>
            <a:ext cx="5967117" cy="4814400"/>
          </a:xfrm>
        </p:spPr>
        <p:txBody>
          <a:bodyPr>
            <a:normAutofit/>
          </a:bodyPr>
          <a:lstStyle/>
          <a:p>
            <a:pPr fontAlgn="t"/>
            <a:r>
              <a:rPr sz="2200">
                <a:solidFill>
                  <a:srgbClr val="000000"/>
                </a:solidFill>
                <a:latin typeface="Calibri"/>
              </a:rPr>
              <a:t>Power on → firmware performs POST.</a:t>
            </a:r>
          </a:p>
          <a:p>
            <a:r>
              <a:rPr sz="2200">
                <a:solidFill>
                  <a:srgbClr val="000000"/>
                </a:solidFill>
                <a:latin typeface="Calibri"/>
              </a:rPr>
              <a:t>Firmware selects a boot device from the configured boot order.</a:t>
            </a:r>
          </a:p>
          <a:p>
            <a:r>
              <a:rPr sz="2200">
                <a:solidFill>
                  <a:srgbClr val="000000"/>
                </a:solidFill>
                <a:latin typeface="Calibri"/>
              </a:rPr>
              <a:t>Legacy BIOS reads the MBR from sector 0.</a:t>
            </a:r>
          </a:p>
          <a:p>
            <a:r>
              <a:rPr sz="2200">
                <a:solidFill>
                  <a:srgbClr val="000000"/>
                </a:solidFill>
                <a:latin typeface="Calibri"/>
              </a:rPr>
              <a:t>MBR code reads the partition table and jumps to the active partition boot record.</a:t>
            </a:r>
          </a:p>
          <a:p>
            <a:r>
              <a:rPr sz="2200">
                <a:solidFill>
                  <a:srgbClr val="000000"/>
                </a:solidFill>
                <a:latin typeface="Calibri"/>
              </a:rPr>
              <a:t>The boot loader loads the OS kernel; the operating system then takes control.</a:t>
            </a:r>
          </a:p>
          <a:p>
            <a:r>
              <a:rPr sz="2200">
                <a:solidFill>
                  <a:srgbClr val="000000"/>
                </a:solidFill>
                <a:latin typeface="Calibri"/>
              </a:rPr>
              <a:t>Windows note: the “system” volume stores boot files; the “boot” volume stores the OS files.</a:t>
            </a:r>
          </a:p>
        </p:txBody>
      </p:sp>
      <p:pic>
        <p:nvPicPr>
          <p:cNvPr id="5122" name="Picture 2" descr="Bootstrap">
            <a:extLst>
              <a:ext uri="{FF2B5EF4-FFF2-40B4-BE49-F238E27FC236}">
                <a16:creationId xmlns:a16="http://schemas.microsoft.com/office/drawing/2014/main" id="{B782D7CE-FD36-FBF8-6495-D36F578A1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248" y="17068"/>
            <a:ext cx="5683752" cy="228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E75CF7-5C48-7E9E-4BCC-7C86E3C5A8FF}"/>
              </a:ext>
            </a:extLst>
          </p:cNvPr>
          <p:cNvSpPr/>
          <p:nvPr/>
        </p:nvSpPr>
        <p:spPr>
          <a:xfrm>
            <a:off x="7130373" y="6292724"/>
            <a:ext cx="4223427" cy="400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7" dirty="0">
                <a:hlinkClick r:id="rId3"/>
              </a:rPr>
              <a:t>http://www.c-jump.com/CIS24/Slides/Booting/Booting.html</a:t>
            </a:r>
            <a:endParaRPr lang="en-US" sz="667" dirty="0"/>
          </a:p>
          <a:p>
            <a:r>
              <a:rPr lang="en-US" sz="667" dirty="0"/>
              <a:t>https://i2.wp.com/neosmart.net/wiki/wp-content/uploads/sites/5/2015/01/Master-Boot-Record.png?resize=1024%2C416&amp;ssl=1</a:t>
            </a:r>
          </a:p>
        </p:txBody>
      </p:sp>
      <p:pic>
        <p:nvPicPr>
          <p:cNvPr id="5124" name="Picture 4" descr="Master Boot Record">
            <a:extLst>
              <a:ext uri="{FF2B5EF4-FFF2-40B4-BE49-F238E27FC236}">
                <a16:creationId xmlns:a16="http://schemas.microsoft.com/office/drawing/2014/main" id="{FB94383D-607A-C945-7C89-0A1C86C4B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175" y="2813918"/>
            <a:ext cx="3955821" cy="160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10CA7C-04C8-B7C9-7DFA-0650D0E83C86}"/>
              </a:ext>
            </a:extLst>
          </p:cNvPr>
          <p:cNvCxnSpPr>
            <a:cxnSpLocks/>
            <a:endCxn id="5124" idx="0"/>
          </p:cNvCxnSpPr>
          <p:nvPr/>
        </p:nvCxnSpPr>
        <p:spPr>
          <a:xfrm flipH="1">
            <a:off x="9242086" y="2076351"/>
            <a:ext cx="1344781" cy="737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F6E962-6E51-5BBF-24F6-BD88C30B3FB5}"/>
              </a:ext>
            </a:extLst>
          </p:cNvPr>
          <p:cNvSpPr txBox="1"/>
          <p:nvPr/>
        </p:nvSpPr>
        <p:spPr>
          <a:xfrm>
            <a:off x="7022726" y="4690793"/>
            <a:ext cx="2414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500" b="0">
                <a:solidFill>
                  <a:srgbClr val="64A050"/>
                </a:solidFill>
                <a:latin typeface="Calibri"/>
              </a:rPr>
              <a:t>Jump to the bootable partition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79EBBF-4CF3-6EE6-67B5-9821290C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175" y="5158538"/>
            <a:ext cx="2279073" cy="105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0C13E9D-B01D-3F72-882D-B8DECA2632D4}"/>
              </a:ext>
            </a:extLst>
          </p:cNvPr>
          <p:cNvSpPr/>
          <p:nvPr/>
        </p:nvSpPr>
        <p:spPr>
          <a:xfrm>
            <a:off x="10586867" y="1919484"/>
            <a:ext cx="121437" cy="156867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73F81D-EA03-A507-E8F0-BE2DD6CDC852}"/>
              </a:ext>
            </a:extLst>
          </p:cNvPr>
          <p:cNvSpPr/>
          <p:nvPr/>
        </p:nvSpPr>
        <p:spPr>
          <a:xfrm>
            <a:off x="10527671" y="1626654"/>
            <a:ext cx="180633" cy="141120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A6F7D8-ECFE-6A36-EBE1-E0781320E150}"/>
              </a:ext>
            </a:extLst>
          </p:cNvPr>
          <p:cNvGrpSpPr/>
          <p:nvPr/>
        </p:nvGrpSpPr>
        <p:grpSpPr>
          <a:xfrm>
            <a:off x="7489500" y="4122000"/>
            <a:ext cx="1396440" cy="993240"/>
            <a:chOff x="7489500" y="4122000"/>
            <a:chExt cx="1396440" cy="9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45C65A-8DC6-212A-0386-429558D6551F}"/>
                    </a:ext>
                  </a:extLst>
                </p14:cNvPr>
                <p14:cNvContentPartPr/>
                <p14:nvPr/>
              </p14:nvContentPartPr>
              <p14:xfrm>
                <a:off x="7489500" y="4213440"/>
                <a:ext cx="699120" cy="320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A98AF7-DB60-1C8C-4E10-57662ECD0B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71860" y="4195800"/>
                  <a:ext cx="7347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C08F162-E24C-E315-8B2F-C6A4CF47299C}"/>
                    </a:ext>
                  </a:extLst>
                </p14:cNvPr>
                <p14:cNvContentPartPr/>
                <p14:nvPr/>
              </p14:nvContentPartPr>
              <p14:xfrm>
                <a:off x="7993140" y="4207680"/>
                <a:ext cx="303480" cy="99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7082BA5-1B95-5DF5-7576-0A7387F323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75500" y="4190040"/>
                  <a:ext cx="339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427B1C-6C35-9640-1455-5065D0A7237C}"/>
                    </a:ext>
                  </a:extLst>
                </p14:cNvPr>
                <p14:cNvContentPartPr/>
                <p14:nvPr/>
              </p14:nvContentPartPr>
              <p14:xfrm>
                <a:off x="8419740" y="4213080"/>
                <a:ext cx="288720" cy="24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A4A9B5-FB45-BF1E-9964-F376E7EAF3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02100" y="4195080"/>
                  <a:ext cx="324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F40A2D-C090-7800-357E-8CBBD1999AE1}"/>
                    </a:ext>
                  </a:extLst>
                </p14:cNvPr>
                <p14:cNvContentPartPr/>
                <p14:nvPr/>
              </p14:nvContentPartPr>
              <p14:xfrm>
                <a:off x="8678940" y="4122000"/>
                <a:ext cx="99720" cy="196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FBDCA0-E8F0-C435-5E33-95A5A4470E7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61300" y="4104360"/>
                  <a:ext cx="135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F60869-27BC-7911-5061-0DEA4E608123}"/>
                    </a:ext>
                  </a:extLst>
                </p14:cNvPr>
                <p14:cNvContentPartPr/>
                <p14:nvPr/>
              </p14:nvContentPartPr>
              <p14:xfrm>
                <a:off x="8297340" y="4259160"/>
                <a:ext cx="588600" cy="824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37D4E0-558D-E615-7E07-F8BE45A9669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79340" y="4241520"/>
                  <a:ext cx="62424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1361C1C-1538-3E4A-5E52-3B88A9EDB667}"/>
                    </a:ext>
                  </a:extLst>
                </p14:cNvPr>
                <p14:cNvContentPartPr/>
                <p14:nvPr/>
              </p14:nvContentPartPr>
              <p14:xfrm>
                <a:off x="8290140" y="4907160"/>
                <a:ext cx="258840" cy="208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ED466C-69C2-BA62-6441-AC97145735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72500" y="4889520"/>
                  <a:ext cx="29448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4C639B-F6A4-C434-236E-7EB5C956BEB2}"/>
              </a:ext>
            </a:extLst>
          </p:cNvPr>
          <p:cNvGrpSpPr/>
          <p:nvPr/>
        </p:nvGrpSpPr>
        <p:grpSpPr>
          <a:xfrm>
            <a:off x="6780660" y="1539000"/>
            <a:ext cx="3718800" cy="4137840"/>
            <a:chOff x="6780660" y="1539000"/>
            <a:chExt cx="3718800" cy="413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09E121-ECA5-B614-5C8F-2C4CDF986777}"/>
                    </a:ext>
                  </a:extLst>
                </p14:cNvPr>
                <p14:cNvContentPartPr/>
                <p14:nvPr/>
              </p14:nvContentPartPr>
              <p14:xfrm>
                <a:off x="6780660" y="1688400"/>
                <a:ext cx="3670920" cy="3988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C74837-52E4-FFC5-EB81-1805A3958D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63020" y="1670400"/>
                  <a:ext cx="3706560" cy="40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02507F-2ED7-1A9C-EC09-70AEAF0F7FDB}"/>
                    </a:ext>
                  </a:extLst>
                </p14:cNvPr>
                <p14:cNvContentPartPr/>
                <p14:nvPr/>
              </p14:nvContentPartPr>
              <p14:xfrm>
                <a:off x="10385700" y="1539000"/>
                <a:ext cx="113760" cy="259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BFD8A36-7F18-6D9E-665D-4A0A17C632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67700" y="1521360"/>
                  <a:ext cx="149400" cy="29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7664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bios setup windows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88" y="1503412"/>
            <a:ext cx="8816623" cy="495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87D119-F3F6-006D-F05B-C923E8648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021" y="4512529"/>
            <a:ext cx="8207451" cy="1440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36AA5A-4034-54C6-A0AB-102AE61897A2}"/>
              </a:ext>
            </a:extLst>
          </p:cNvPr>
          <p:cNvSpPr txBox="1"/>
          <p:nvPr/>
        </p:nvSpPr>
        <p:spPr>
          <a:xfrm>
            <a:off x="5587198" y="2735205"/>
            <a:ext cx="373654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Legacy BIOS usually pairs with MBR.</a:t>
            </a:r>
            <a:endParaRPr lang="en-US" dirty="0"/>
          </a:p>
          <a:p>
            <a:r>
              <a:rPr sz="1800" b="0">
                <a:solidFill>
                  <a:srgbClr val="000000"/>
                </a:solidFill>
                <a:latin typeface="Calibri"/>
              </a:rPr>
              <a:t>UEFI usually pairs with GPT.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5E141-97CC-711C-D320-DA2193AE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different boot options</a:t>
            </a:r>
          </a:p>
        </p:txBody>
      </p:sp>
    </p:spTree>
    <p:extLst>
      <p:ext uri="{BB962C8B-B14F-4D97-AF65-F5344CB8AC3E}">
        <p14:creationId xmlns:p14="http://schemas.microsoft.com/office/powerpoint/2010/main" val="1939852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8B12B-87B3-4BA5-9F77-1685E747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What does the Master Boot Record look like?</a:t>
            </a:r>
            <a:endParaRPr lang="en-US" dirty="0"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5061FF5-BFFA-4DFB-8E25-48403C79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388" y="1554480"/>
            <a:ext cx="5559969" cy="5107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E860ED-0731-412D-83EE-E79F5AEF32F3}"/>
              </a:ext>
            </a:extLst>
          </p:cNvPr>
          <p:cNvSpPr txBox="1"/>
          <p:nvPr/>
        </p:nvSpPr>
        <p:spPr>
          <a:xfrm>
            <a:off x="838200" y="1554480"/>
            <a:ext cx="2656840" cy="615553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700" b="1" dirty="0">
                <a:solidFill>
                  <a:srgbClr val="000000"/>
                </a:solidFill>
                <a:latin typeface="Calibri"/>
              </a:rPr>
              <a:t>Open </a:t>
            </a:r>
            <a:r>
              <a:rPr sz="1700" b="1" dirty="0" err="1">
                <a:solidFill>
                  <a:srgbClr val="000000"/>
                </a:solidFill>
                <a:latin typeface="Calibri"/>
              </a:rPr>
              <a:t>WinHex</a:t>
            </a:r>
            <a:r>
              <a:rPr sz="1700" b="1" dirty="0">
                <a:solidFill>
                  <a:srgbClr val="000000"/>
                </a:solidFill>
                <a:latin typeface="Calibri"/>
              </a:rPr>
              <a:t> or </a:t>
            </a:r>
            <a:r>
              <a:rPr sz="1700" b="1" dirty="0" err="1">
                <a:solidFill>
                  <a:srgbClr val="000000"/>
                </a:solidFill>
                <a:latin typeface="Calibri"/>
              </a:rPr>
              <a:t>HxD</a:t>
            </a:r>
            <a:r>
              <a:rPr sz="1700" b="1" dirty="0">
                <a:solidFill>
                  <a:srgbClr val="000000"/>
                </a:solidFill>
                <a:latin typeface="Calibri"/>
              </a:rPr>
              <a:t> as administrator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70EEB9-FD3F-F6D1-9ACC-E7DA056A5EA9}"/>
              </a:ext>
            </a:extLst>
          </p:cNvPr>
          <p:cNvSpPr txBox="1"/>
          <p:nvPr/>
        </p:nvSpPr>
        <p:spPr>
          <a:xfrm>
            <a:off x="838200" y="2466836"/>
            <a:ext cx="2524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Calibri"/>
              </a:rPr>
              <a:t>Tool example: HxD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https://mh-nexus.de/en/hxd/</a:t>
            </a:r>
          </a:p>
        </p:txBody>
      </p:sp>
    </p:spTree>
    <p:extLst>
      <p:ext uri="{BB962C8B-B14F-4D97-AF65-F5344CB8AC3E}">
        <p14:creationId xmlns:p14="http://schemas.microsoft.com/office/powerpoint/2010/main" val="1611306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B413B6E-3DF0-4F5A-88C2-D7D0254C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522" y="1485184"/>
            <a:ext cx="4648603" cy="29796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279282AB-B26A-4BD2-BF72-D0A96A3C7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80" y="1388206"/>
            <a:ext cx="4232798" cy="4528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5C9D3F-4A50-4409-925E-12DC7484A1BA}"/>
              </a:ext>
            </a:extLst>
          </p:cNvPr>
          <p:cNvSpPr txBox="1"/>
          <p:nvPr/>
        </p:nvSpPr>
        <p:spPr>
          <a:xfrm>
            <a:off x="1266242" y="877824"/>
            <a:ext cx="5144718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2000" b="1" dirty="0">
                <a:solidFill>
                  <a:srgbClr val="000000"/>
                </a:solidFill>
                <a:latin typeface="Calibri"/>
              </a:rPr>
              <a:t>Step 1: open the physical storage device</a:t>
            </a:r>
          </a:p>
        </p:txBody>
      </p:sp>
    </p:spTree>
    <p:extLst>
      <p:ext uri="{BB962C8B-B14F-4D97-AF65-F5344CB8AC3E}">
        <p14:creationId xmlns:p14="http://schemas.microsoft.com/office/powerpoint/2010/main" val="588258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B1F483-29FE-42DF-A908-82E0CF58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9104"/>
            <a:ext cx="5682806" cy="26013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2DA623-344A-40A0-899F-32A9A3D5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945" y="2549104"/>
            <a:ext cx="4601177" cy="3181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56C7D5-67D4-4354-8020-CF79451F25C5}"/>
              </a:ext>
            </a:extLst>
          </p:cNvPr>
          <p:cNvSpPr txBox="1"/>
          <p:nvPr/>
        </p:nvSpPr>
        <p:spPr>
          <a:xfrm>
            <a:off x="838200" y="2164080"/>
            <a:ext cx="542036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1" dirty="0">
                <a:solidFill>
                  <a:srgbClr val="000000"/>
                </a:solidFill>
                <a:latin typeface="Calibri"/>
              </a:rPr>
              <a:t>Step 2: set hexadecimal offsets and 16 bytes per line</a:t>
            </a:r>
          </a:p>
        </p:txBody>
      </p:sp>
    </p:spTree>
    <p:extLst>
      <p:ext uri="{BB962C8B-B14F-4D97-AF65-F5344CB8AC3E}">
        <p14:creationId xmlns:p14="http://schemas.microsoft.com/office/powerpoint/2010/main" val="1159618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285493E-B9BE-41B8-B977-15024CC0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32" y="2203773"/>
            <a:ext cx="8736136" cy="3437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F88776-CF3B-462F-9BB9-4A43F4F41370}"/>
              </a:ext>
            </a:extLst>
          </p:cNvPr>
          <p:cNvSpPr txBox="1"/>
          <p:nvPr/>
        </p:nvSpPr>
        <p:spPr>
          <a:xfrm>
            <a:off x="1727932" y="1750004"/>
            <a:ext cx="405310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Calibri"/>
              </a:rPr>
              <a:t>Step 3: enable the Data Interpreter pane</a:t>
            </a:r>
          </a:p>
        </p:txBody>
      </p:sp>
    </p:spTree>
    <p:extLst>
      <p:ext uri="{BB962C8B-B14F-4D97-AF65-F5344CB8AC3E}">
        <p14:creationId xmlns:p14="http://schemas.microsoft.com/office/powerpoint/2010/main" val="2564593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EBBF2E-8A87-4098-83B9-CAF18D46F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065" y="374356"/>
            <a:ext cx="8330183" cy="58349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17D645-6EEE-4120-AA69-2DFDD098BEC8}"/>
              </a:ext>
            </a:extLst>
          </p:cNvPr>
          <p:cNvSpPr txBox="1"/>
          <p:nvPr/>
        </p:nvSpPr>
        <p:spPr>
          <a:xfrm>
            <a:off x="517764" y="4221932"/>
            <a:ext cx="3974165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Find in the MBR:</a:t>
            </a:r>
          </a:p>
          <a:p>
            <a:r>
              <a:rPr sz="1800" b="0">
                <a:solidFill>
                  <a:srgbClr val="000000"/>
                </a:solidFill>
                <a:latin typeface="Calibri"/>
              </a:rPr>
              <a:t>(1) first sector of partition 1</a:t>
            </a:r>
          </a:p>
          <a:p>
            <a:r>
              <a:rPr sz="1800" b="0">
                <a:solidFill>
                  <a:srgbClr val="000000"/>
                </a:solidFill>
                <a:latin typeface="Calibri"/>
              </a:rPr>
              <a:t>(2) total sectors in partition 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519A89B-898D-4745-8FE4-FF443B1BB0E8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504847" y="5145262"/>
            <a:ext cx="3847827" cy="628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A53EDA8-50B5-4F50-A50E-890D13AE9A96}"/>
              </a:ext>
            </a:extLst>
          </p:cNvPr>
          <p:cNvSpPr/>
          <p:nvPr/>
        </p:nvSpPr>
        <p:spPr>
          <a:xfrm>
            <a:off x="4564380" y="1028700"/>
            <a:ext cx="1059180" cy="205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A8732D-0E94-473F-8E93-F7CC44AFD76B}"/>
              </a:ext>
            </a:extLst>
          </p:cNvPr>
          <p:cNvCxnSpPr/>
          <p:nvPr/>
        </p:nvCxnSpPr>
        <p:spPr>
          <a:xfrm>
            <a:off x="4876800" y="624840"/>
            <a:ext cx="236220" cy="4038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CC8167-70CF-4BDB-A9D0-0F3991B02B2D}"/>
              </a:ext>
            </a:extLst>
          </p:cNvPr>
          <p:cNvSpPr txBox="1"/>
          <p:nvPr/>
        </p:nvSpPr>
        <p:spPr>
          <a:xfrm>
            <a:off x="517764" y="1234440"/>
            <a:ext cx="617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Calibri"/>
              </a:rPr>
              <a:t>Master Boot Record (MBR):</a:t>
            </a:r>
          </a:p>
          <a:p>
            <a:r>
              <a:rPr sz="2000" b="0">
                <a:solidFill>
                  <a:srgbClr val="000000"/>
                </a:solidFill>
                <a:latin typeface="Calibri"/>
              </a:rPr>
              <a:t>• Legacy partition scheme</a:t>
            </a:r>
          </a:p>
          <a:p>
            <a:r>
              <a:rPr sz="2000" b="0">
                <a:solidFill>
                  <a:srgbClr val="000000"/>
                </a:solidFill>
                <a:latin typeface="Calibri"/>
              </a:rPr>
              <a:t>• Sector 0 of the disk</a:t>
            </a:r>
          </a:p>
          <a:p>
            <a:r>
              <a:rPr sz="2000" b="0">
                <a:solidFill>
                  <a:srgbClr val="000000"/>
                </a:solidFill>
                <a:latin typeface="Calibri"/>
              </a:rPr>
              <a:t>• Up to 2 TiB with 512-byte sectors</a:t>
            </a:r>
          </a:p>
        </p:txBody>
      </p:sp>
    </p:spTree>
    <p:extLst>
      <p:ext uri="{BB962C8B-B14F-4D97-AF65-F5344CB8AC3E}">
        <p14:creationId xmlns:p14="http://schemas.microsoft.com/office/powerpoint/2010/main" val="1861126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810D98-CDF4-4551-80F7-3E5E1FBE7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3" y="451638"/>
            <a:ext cx="7415516" cy="60991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F098FD-17F4-4C71-8F4F-8B21CF8A2B97}"/>
              </a:ext>
            </a:extLst>
          </p:cNvPr>
          <p:cNvSpPr txBox="1"/>
          <p:nvPr/>
        </p:nvSpPr>
        <p:spPr>
          <a:xfrm>
            <a:off x="631503" y="4511555"/>
            <a:ext cx="2300630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Calibri"/>
              </a:rPr>
              <a:t>Convert hex to decimal</a:t>
            </a:r>
          </a:p>
          <a:p>
            <a:endParaRPr sz="1800" b="0">
              <a:solidFill>
                <a:srgbClr val="000000"/>
              </a:solidFill>
              <a:latin typeface="Calibri"/>
            </a:endParaRPr>
          </a:p>
          <a:p>
            <a:r>
              <a:rPr sz="1800" b="0">
                <a:solidFill>
                  <a:srgbClr val="000000"/>
                </a:solidFill>
                <a:latin typeface="Calibri"/>
              </a:rPr>
              <a:t>(00000800)₁₆ = (2048)₁₀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D070A5-A034-46C9-A72C-EB8E8038D08B}"/>
              </a:ext>
            </a:extLst>
          </p:cNvPr>
          <p:cNvCxnSpPr/>
          <p:nvPr/>
        </p:nvCxnSpPr>
        <p:spPr>
          <a:xfrm flipV="1">
            <a:off x="4594860" y="1264920"/>
            <a:ext cx="4808220" cy="3909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043B81E-0572-01DA-791C-82C8E40E4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74396"/>
            <a:ext cx="2932133" cy="67639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54EDEB-6730-198E-36BB-C740084DC1D8}"/>
              </a:ext>
            </a:extLst>
          </p:cNvPr>
          <p:cNvCxnSpPr/>
          <p:nvPr/>
        </p:nvCxnSpPr>
        <p:spPr>
          <a:xfrm flipV="1">
            <a:off x="1027755" y="5434885"/>
            <a:ext cx="113356" cy="981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CB43CB-6DE9-083C-C47D-3BA516758114}"/>
              </a:ext>
            </a:extLst>
          </p:cNvPr>
          <p:cNvSpPr txBox="1"/>
          <p:nvPr/>
        </p:nvSpPr>
        <p:spPr>
          <a:xfrm>
            <a:off x="4723155" y="6488668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0x01C6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2A5FBF-2D18-4521-74B8-70FD1706D7A6}"/>
              </a:ext>
            </a:extLst>
          </p:cNvPr>
          <p:cNvSpPr txBox="1"/>
          <p:nvPr/>
        </p:nvSpPr>
        <p:spPr>
          <a:xfrm>
            <a:off x="5769021" y="6488668"/>
            <a:ext cx="841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0x01CA</a:t>
            </a:r>
          </a:p>
        </p:txBody>
      </p:sp>
    </p:spTree>
    <p:extLst>
      <p:ext uri="{BB962C8B-B14F-4D97-AF65-F5344CB8AC3E}">
        <p14:creationId xmlns:p14="http://schemas.microsoft.com/office/powerpoint/2010/main" val="2182210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8C995C-AB5A-4F7A-821E-429673A4D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854" y="259136"/>
            <a:ext cx="7224084" cy="59669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E9249F-8123-4CC5-AAFD-3F5AE566D961}"/>
              </a:ext>
            </a:extLst>
          </p:cNvPr>
          <p:cNvSpPr txBox="1"/>
          <p:nvPr/>
        </p:nvSpPr>
        <p:spPr>
          <a:xfrm>
            <a:off x="4411190" y="6291087"/>
            <a:ext cx="4187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83,881,984 sectors × 512 bytes/sector ≈ 39.99 GiB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710C4-C5F4-42B1-8627-4E333127411F}"/>
              </a:ext>
            </a:extLst>
          </p:cNvPr>
          <p:cNvSpPr txBox="1"/>
          <p:nvPr/>
        </p:nvSpPr>
        <p:spPr>
          <a:xfrm>
            <a:off x="919389" y="4539173"/>
            <a:ext cx="2353465" cy="646331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Convert the sector count</a:t>
            </a:r>
          </a:p>
          <a:p>
            <a:r>
              <a:rPr sz="1800" b="0">
                <a:solidFill>
                  <a:srgbClr val="000000"/>
                </a:solidFill>
                <a:latin typeface="Calibri"/>
              </a:rPr>
              <a:t>from hex to decimal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99A3F-4F5C-40E9-91C5-5CAEE643CE26}"/>
              </a:ext>
            </a:extLst>
          </p:cNvPr>
          <p:cNvSpPr txBox="1"/>
          <p:nvPr/>
        </p:nvSpPr>
        <p:spPr>
          <a:xfrm>
            <a:off x="919389" y="5579778"/>
            <a:ext cx="2336602" cy="646331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sz="1700" b="0">
                <a:solidFill>
                  <a:srgbClr val="000000"/>
                </a:solidFill>
                <a:latin typeface="Calibri"/>
              </a:rPr>
              <a:t>Partition size =</a:t>
            </a:r>
          </a:p>
          <a:p>
            <a:r>
              <a:rPr sz="1700" b="0">
                <a:solidFill>
                  <a:srgbClr val="000000"/>
                </a:solidFill>
                <a:latin typeface="Calibri"/>
              </a:rPr>
              <a:t>sector count × bytes/sector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69957-7597-43A9-A8B7-7DB2A3F6EA9D}"/>
              </a:ext>
            </a:extLst>
          </p:cNvPr>
          <p:cNvSpPr txBox="1"/>
          <p:nvPr/>
        </p:nvSpPr>
        <p:spPr>
          <a:xfrm>
            <a:off x="4992142" y="5185504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Calibri"/>
              </a:rPr>
              <a:t>0x01CA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DCB1A-253D-42BC-A976-E2850F59BFD8}"/>
              </a:ext>
            </a:extLst>
          </p:cNvPr>
          <p:cNvCxnSpPr/>
          <p:nvPr/>
        </p:nvCxnSpPr>
        <p:spPr>
          <a:xfrm>
            <a:off x="5852160" y="5455920"/>
            <a:ext cx="411480" cy="1828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75520E9-D664-4F48-ACA7-73755858F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57" y="3176076"/>
            <a:ext cx="3292125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40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371147" descr="09cfc62f-d12f-4aaa-9832-5e2350236098">
            <a:extLst>
              <a:ext uri="{FF2B5EF4-FFF2-40B4-BE49-F238E27FC236}">
                <a16:creationId xmlns:a16="http://schemas.microsoft.com/office/drawing/2014/main" id="{C55EB74F-1B03-4887-A0F7-9ECC5994E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15" y="1654692"/>
            <a:ext cx="10286885" cy="5044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E36C8B-4E76-478C-A5EA-B5719B862A1D}"/>
              </a:ext>
            </a:extLst>
          </p:cNvPr>
          <p:cNvSpPr/>
          <p:nvPr/>
        </p:nvSpPr>
        <p:spPr>
          <a:xfrm>
            <a:off x="1152381" y="1970934"/>
            <a:ext cx="1059180" cy="205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C427E0D-430D-4A95-93C1-70B640D7E93B}"/>
              </a:ext>
            </a:extLst>
          </p:cNvPr>
          <p:cNvCxnSpPr/>
          <p:nvPr/>
        </p:nvCxnSpPr>
        <p:spPr>
          <a:xfrm>
            <a:off x="1464801" y="1567074"/>
            <a:ext cx="236220" cy="4038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4DFE94DD-5EB2-173B-7562-B29383AB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315" y="158778"/>
            <a:ext cx="10515600" cy="1325563"/>
          </a:xfrm>
        </p:spPr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GUID Partition Table (GPT)</a:t>
            </a:r>
          </a:p>
        </p:txBody>
      </p:sp>
    </p:spTree>
    <p:extLst>
      <p:ext uri="{BB962C8B-B14F-4D97-AF65-F5344CB8AC3E}">
        <p14:creationId xmlns:p14="http://schemas.microsoft.com/office/powerpoint/2010/main" val="730846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1532" y="6188137"/>
            <a:ext cx="1005323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sz="1050" dirty="0">
                <a:solidFill>
                  <a:srgbClr val="000000"/>
                </a:solidFill>
                <a:latin typeface="Calibri"/>
              </a:rPr>
              <a:t>By the original uploader </a:t>
            </a:r>
            <a:r>
              <a:rPr sz="1050" dirty="0" err="1">
                <a:solidFill>
                  <a:srgbClr val="000000"/>
                </a:solidFill>
                <a:latin typeface="Calibri"/>
              </a:rPr>
              <a:t>Kbolino</a:t>
            </a:r>
            <a:r>
              <a:rPr sz="1050" dirty="0">
                <a:solidFill>
                  <a:srgbClr val="000000"/>
                </a:solidFill>
                <a:latin typeface="Calibri"/>
              </a:rPr>
              <a:t> at English Wikipedia; transferred to Wikimedia Commons; CC BY-SA 2.5. https://commons.wikimedia.org/w/index.php?curid=3036588</a:t>
            </a:r>
          </a:p>
        </p:txBody>
      </p:sp>
      <p:pic>
        <p:nvPicPr>
          <p:cNvPr id="3074" name="Picture 2" descr="https://upload.wikimedia.org/wikipedia/commons/thumb/0/07/GUID_Partition_Table_Scheme.svg/400px-GUID_Partition_Table_Schem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682" y="1"/>
            <a:ext cx="4392439" cy="603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GPT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97233" y="1753200"/>
            <a:ext cx="6091448" cy="4058320"/>
          </a:xfrm>
        </p:spPr>
        <p:txBody>
          <a:bodyPr/>
          <a:lstStyle/>
          <a:p>
            <a:r>
              <a:rPr sz="2400" dirty="0">
                <a:solidFill>
                  <a:srgbClr val="000000"/>
                </a:solidFill>
                <a:latin typeface="Calibri"/>
              </a:rPr>
              <a:t>MBR is a legacy scheme from the PC BIOS era.</a:t>
            </a:r>
          </a:p>
          <a:p>
            <a:r>
              <a:rPr sz="2400" dirty="0">
                <a:solidFill>
                  <a:srgbClr val="000000"/>
                </a:solidFill>
                <a:latin typeface="Calibri"/>
              </a:rPr>
              <a:t>MBR is limited by 32-bit LBA fields; with 512-byte sectors, this is about 2 TiB.</a:t>
            </a:r>
          </a:p>
          <a:p>
            <a:r>
              <a:rPr sz="2400" dirty="0">
                <a:solidFill>
                  <a:srgbClr val="000000"/>
                </a:solidFill>
                <a:latin typeface="Calibri"/>
              </a:rPr>
              <a:t>GPT supports much larger disks and many more partitions.</a:t>
            </a:r>
          </a:p>
          <a:p>
            <a:r>
              <a:rPr sz="2400" dirty="0">
                <a:solidFill>
                  <a:srgbClr val="000000"/>
                </a:solidFill>
                <a:latin typeface="Calibri"/>
              </a:rPr>
              <a:t>GPT uses Logical Block Addressing (LBA) instead of CHS.</a:t>
            </a:r>
          </a:p>
          <a:p>
            <a:r>
              <a:rPr sz="2400" dirty="0">
                <a:solidFill>
                  <a:srgbClr val="000000"/>
                </a:solidFill>
                <a:latin typeface="Calibri"/>
              </a:rPr>
              <a:t>GPT stores a primary header near the beginning and a backup header at the end of the disk.</a:t>
            </a:r>
          </a:p>
        </p:txBody>
      </p:sp>
    </p:spTree>
    <p:extLst>
      <p:ext uri="{BB962C8B-B14F-4D97-AF65-F5344CB8AC3E}">
        <p14:creationId xmlns:p14="http://schemas.microsoft.com/office/powerpoint/2010/main" val="3293749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upload.wikimedia.org/wikipedia/commons/thumb/0/07/GUID_Partition_Table_Scheme.svg/400px-GUID_Partition_Table_Schem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61" y="316501"/>
            <a:ext cx="4392439" cy="603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008618" y="2270416"/>
            <a:ext cx="37072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000000"/>
                </a:solidFill>
                <a:latin typeface="Calibri"/>
              </a:rPr>
              <a:t>Partition-entry array:</a:t>
            </a:r>
            <a:endParaRPr lang="en-US" sz="2400" dirty="0"/>
          </a:p>
          <a:p>
            <a:r>
              <a:rPr sz="2000" b="0" dirty="0">
                <a:solidFill>
                  <a:srgbClr val="000000"/>
                </a:solidFill>
                <a:latin typeface="Calibri"/>
              </a:rPr>
              <a:t>128 bytes per entry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5649077" y="1186912"/>
            <a:ext cx="1514834" cy="120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921314" y="963040"/>
            <a:ext cx="43924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000000"/>
                </a:solidFill>
                <a:latin typeface="Calibri"/>
              </a:rPr>
              <a:t>Protective MBR:</a:t>
            </a:r>
          </a:p>
          <a:p>
            <a:r>
              <a:rPr sz="2000" b="0" dirty="0">
                <a:solidFill>
                  <a:srgbClr val="000000"/>
                </a:solidFill>
                <a:latin typeface="Calibri"/>
              </a:rPr>
              <a:t>backward compatibility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5649077" y="2029788"/>
            <a:ext cx="1514834" cy="56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070674" y="5139040"/>
            <a:ext cx="35831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000000"/>
                </a:solidFill>
                <a:latin typeface="Calibri"/>
              </a:rPr>
              <a:t>Backup GPT header and entries</a:t>
            </a:r>
          </a:p>
          <a:p>
            <a:r>
              <a:rPr sz="2000" b="0" dirty="0">
                <a:solidFill>
                  <a:srgbClr val="000000"/>
                </a:solidFill>
                <a:latin typeface="Calibri"/>
              </a:rPr>
              <a:t>at the end of the disk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6096000" y="5500566"/>
            <a:ext cx="1359540" cy="143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724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30</a:t>
            </a:fld>
            <a:endParaRPr lang="en"/>
          </a:p>
        </p:txBody>
      </p:sp>
      <p:pic>
        <p:nvPicPr>
          <p:cNvPr id="2052" name="Picture 4" descr="http://3.bp.blogspot.com/-qyDv61EyyM4/VX3yVw6dY1I/AAAAAAAAArU/nucvcaJ_jxs/s1600/1B_GP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23" y="17621"/>
            <a:ext cx="11331645" cy="67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21200" y="3725333"/>
            <a:ext cx="1354667" cy="127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5875867" y="3725333"/>
            <a:ext cx="1354667" cy="127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385613" y="2491029"/>
            <a:ext cx="1578820" cy="991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86598" y="2858330"/>
            <a:ext cx="389401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Calibri"/>
              </a:rPr>
              <a:t>Partition-entry array usually starts at LBA 2 in the primary GPT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8842" y="3352909"/>
            <a:ext cx="1016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Calibri"/>
              </a:rPr>
              <a:t>Why 0x400?</a:t>
            </a:r>
          </a:p>
          <a:p>
            <a:r>
              <a:rPr sz="1400" b="0">
                <a:solidFill>
                  <a:srgbClr val="C00000"/>
                </a:solidFill>
                <a:latin typeface="Calibri"/>
              </a:rPr>
              <a:t>Sector 2 starts at byte offset 0x400 because 2 × 512 = 1024.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E1AAB5-5D45-4FD0-8DC2-F0299D0E8C1E}"/>
              </a:ext>
            </a:extLst>
          </p:cNvPr>
          <p:cNvSpPr/>
          <p:nvPr/>
        </p:nvSpPr>
        <p:spPr>
          <a:xfrm>
            <a:off x="4316819" y="4586177"/>
            <a:ext cx="7335249" cy="113413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DAF1E9-0BA0-1C79-DDBC-6B7D2F4DE486}"/>
              </a:ext>
            </a:extLst>
          </p:cNvPr>
          <p:cNvCxnSpPr/>
          <p:nvPr/>
        </p:nvCxnSpPr>
        <p:spPr>
          <a:xfrm>
            <a:off x="4193865" y="3482177"/>
            <a:ext cx="191748" cy="72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928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6643-FB50-8B90-5A50-BA1FA082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Calculate GPT partition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C32AD-D0CD-6760-B885-273725396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46247"/>
          </a:xfrm>
        </p:spPr>
        <p:txBody>
          <a:bodyPr>
            <a:normAutofit/>
          </a:bodyPr>
          <a:lstStyle/>
          <a:p>
            <a:r>
              <a:rPr sz="2200" dirty="0">
                <a:solidFill>
                  <a:srgbClr val="000000"/>
                </a:solidFill>
                <a:latin typeface="Calibri"/>
              </a:rPr>
              <a:t>Confirm protective MBR: partition type 0xEE at MBR offset 0x1C2.</a:t>
            </a:r>
          </a:p>
          <a:p>
            <a:r>
              <a:rPr sz="2200" dirty="0">
                <a:solidFill>
                  <a:srgbClr val="000000"/>
                </a:solidFill>
                <a:latin typeface="Calibri"/>
              </a:rPr>
              <a:t>Read the GPT header at LBA 1.</a:t>
            </a:r>
          </a:p>
          <a:p>
            <a:r>
              <a:rPr sz="2200" dirty="0">
                <a:solidFill>
                  <a:srgbClr val="000000"/>
                </a:solidFill>
                <a:latin typeface="Calibri"/>
              </a:rPr>
              <a:t>Locate the partition-entry array from GPT-header offset 0x48; it is usually LBA 2.</a:t>
            </a:r>
          </a:p>
          <a:p>
            <a:r>
              <a:rPr sz="2200" dirty="0">
                <a:solidFill>
                  <a:srgbClr val="000000"/>
                </a:solidFill>
                <a:latin typeface="Calibri"/>
              </a:rPr>
              <a:t>Each GPT partition entry is 128 bytes.</a:t>
            </a:r>
          </a:p>
          <a:p>
            <a:r>
              <a:rPr sz="2200" dirty="0">
                <a:solidFill>
                  <a:srgbClr val="000000"/>
                </a:solidFill>
                <a:latin typeface="Calibri"/>
              </a:rPr>
              <a:t>Read the starting LBA and ending LBA from the target partition entry.</a:t>
            </a:r>
          </a:p>
          <a:p>
            <a:r>
              <a:rPr sz="2200" dirty="0">
                <a:solidFill>
                  <a:srgbClr val="000000"/>
                </a:solidFill>
                <a:latin typeface="Calibri"/>
              </a:rPr>
              <a:t>Partition size = (ending LBA − starting LBA + 1) × bytes per sector.</a:t>
            </a:r>
          </a:p>
        </p:txBody>
      </p:sp>
      <p:pic>
        <p:nvPicPr>
          <p:cNvPr id="4" name="Picture 4" descr="http://3.bp.blogspot.com/-qyDv61EyyM4/VX3yVw6dY1I/AAAAAAAAArU/nucvcaJ_jxs/s1600/1B_GPT.png">
            <a:extLst>
              <a:ext uri="{FF2B5EF4-FFF2-40B4-BE49-F238E27FC236}">
                <a16:creationId xmlns:a16="http://schemas.microsoft.com/office/drawing/2014/main" id="{2EA7FA2B-86B1-4DBB-E4DF-4E28881AC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40" t="42791" b="32812"/>
          <a:stretch>
            <a:fillRect/>
          </a:stretch>
        </p:blipFill>
        <p:spPr bwMode="auto">
          <a:xfrm>
            <a:off x="960616" y="4487926"/>
            <a:ext cx="7485704" cy="163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87DDB2-51D7-09C8-F459-BC6374C1C614}"/>
              </a:ext>
            </a:extLst>
          </p:cNvPr>
          <p:cNvCxnSpPr>
            <a:cxnSpLocks/>
          </p:cNvCxnSpPr>
          <p:nvPr/>
        </p:nvCxnSpPr>
        <p:spPr>
          <a:xfrm flipH="1">
            <a:off x="2204720" y="3901440"/>
            <a:ext cx="1016000" cy="1418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4CD60E-0614-F84D-5C15-B9AA4504D5E6}"/>
              </a:ext>
            </a:extLst>
          </p:cNvPr>
          <p:cNvCxnSpPr>
            <a:cxnSpLocks/>
          </p:cNvCxnSpPr>
          <p:nvPr/>
        </p:nvCxnSpPr>
        <p:spPr>
          <a:xfrm flipH="1">
            <a:off x="3367024" y="3901440"/>
            <a:ext cx="1618500" cy="1499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7106463-87B7-15B5-D382-BD98D7F351F6}"/>
              </a:ext>
            </a:extLst>
          </p:cNvPr>
          <p:cNvSpPr/>
          <p:nvPr/>
        </p:nvSpPr>
        <p:spPr>
          <a:xfrm>
            <a:off x="1350010" y="5323586"/>
            <a:ext cx="1352986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AA8660-E9AF-D42E-E6FE-8E6E88580FD6}"/>
              </a:ext>
            </a:extLst>
          </p:cNvPr>
          <p:cNvSpPr/>
          <p:nvPr/>
        </p:nvSpPr>
        <p:spPr>
          <a:xfrm>
            <a:off x="2725420" y="5319776"/>
            <a:ext cx="1352986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6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2F4E-513A-4B51-A364-DB3E42E0E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Show MBR/GPT details using a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4C9D2-31B6-496C-AC48-1E5E60FA9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5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33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80" y="1177211"/>
            <a:ext cx="6405206" cy="49300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414" y="1177211"/>
            <a:ext cx="4133674" cy="4930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E29D3E-8566-41AE-B2FB-17EE28C6D787}"/>
              </a:ext>
            </a:extLst>
          </p:cNvPr>
          <p:cNvSpPr txBox="1"/>
          <p:nvPr/>
        </p:nvSpPr>
        <p:spPr>
          <a:xfrm>
            <a:off x="400980" y="807879"/>
            <a:ext cx="421270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900" b="1">
                <a:solidFill>
                  <a:srgbClr val="000000"/>
                </a:solidFill>
                <a:latin typeface="Calibri"/>
              </a:rPr>
              <a:t>Open Physical Devices</a:t>
            </a:r>
          </a:p>
        </p:txBody>
      </p:sp>
    </p:spTree>
    <p:extLst>
      <p:ext uri="{BB962C8B-B14F-4D97-AF65-F5344CB8AC3E}">
        <p14:creationId xmlns:p14="http://schemas.microsoft.com/office/powerpoint/2010/main" val="1187390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471" y="116597"/>
            <a:ext cx="7819013" cy="6458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9603F8-6C0F-4944-AA54-669E32463917}"/>
              </a:ext>
            </a:extLst>
          </p:cNvPr>
          <p:cNvSpPr txBox="1"/>
          <p:nvPr/>
        </p:nvSpPr>
        <p:spPr>
          <a:xfrm>
            <a:off x="516271" y="116596"/>
            <a:ext cx="136332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1" dirty="0">
                <a:solidFill>
                  <a:srgbClr val="000000"/>
                </a:solidFill>
                <a:latin typeface="Calibri"/>
              </a:rPr>
              <a:t>Show MBR sector</a:t>
            </a:r>
          </a:p>
        </p:txBody>
      </p:sp>
    </p:spTree>
    <p:extLst>
      <p:ext uri="{BB962C8B-B14F-4D97-AF65-F5344CB8AC3E}">
        <p14:creationId xmlns:p14="http://schemas.microsoft.com/office/powerpoint/2010/main" val="189084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C1E7ECD-6A98-418F-8E1E-BAEDFF3C3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55" y="1011104"/>
            <a:ext cx="3596952" cy="2697714"/>
          </a:xfrm>
          <a:prstGeom prst="rect">
            <a:avLst/>
          </a:prstGeom>
        </p:spPr>
      </p:pic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AEE05CF-7B76-4A25-B094-EF798B262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075" y="1011104"/>
            <a:ext cx="7364370" cy="4605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A9669E-AC5B-4EC2-8580-4EE53266E743}"/>
              </a:ext>
            </a:extLst>
          </p:cNvPr>
          <p:cNvSpPr txBox="1"/>
          <p:nvPr/>
        </p:nvSpPr>
        <p:spPr>
          <a:xfrm>
            <a:off x="453555" y="399177"/>
            <a:ext cx="421270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Calibri"/>
              </a:rPr>
              <a:t>Apply the Master Boot Record template</a:t>
            </a:r>
          </a:p>
        </p:txBody>
      </p:sp>
    </p:spTree>
    <p:extLst>
      <p:ext uri="{BB962C8B-B14F-4D97-AF65-F5344CB8AC3E}">
        <p14:creationId xmlns:p14="http://schemas.microsoft.com/office/powerpoint/2010/main" val="3630229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5E312B-B227-4E6D-AC77-7378414DD8CB}"/>
              </a:ext>
            </a:extLst>
          </p:cNvPr>
          <p:cNvSpPr txBox="1"/>
          <p:nvPr/>
        </p:nvSpPr>
        <p:spPr>
          <a:xfrm>
            <a:off x="777084" y="1089019"/>
            <a:ext cx="3239008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Calibri"/>
              </a:rPr>
              <a:t>Example: MBR template output</a:t>
            </a:r>
          </a:p>
          <a:p>
            <a:r>
              <a:rPr sz="1800" b="0">
                <a:solidFill>
                  <a:srgbClr val="000000"/>
                </a:solidFill>
                <a:latin typeface="Calibri"/>
              </a:rPr>
              <a:t>with multiple partitions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3B058B4E-24C0-4E7C-B7D8-1E43E086D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127" y="0"/>
            <a:ext cx="5689497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7D2F10-4737-1B59-D9B1-39596EFB79B7}"/>
                  </a:ext>
                </a:extLst>
              </p14:cNvPr>
              <p14:cNvContentPartPr/>
              <p14:nvPr/>
            </p14:nvContentPartPr>
            <p14:xfrm>
              <a:off x="4484520" y="2698920"/>
              <a:ext cx="420840" cy="340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7D2F10-4737-1B59-D9B1-39596EFB79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5520" y="2689920"/>
                <a:ext cx="4384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26A7A8-B23B-39BD-080C-D222CF03A03E}"/>
                  </a:ext>
                </a:extLst>
              </p14:cNvPr>
              <p14:cNvContentPartPr/>
              <p14:nvPr/>
            </p14:nvContentPartPr>
            <p14:xfrm>
              <a:off x="4469400" y="4794840"/>
              <a:ext cx="433440" cy="333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26A7A8-B23B-39BD-080C-D222CF03A0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60400" y="4785840"/>
                <a:ext cx="451080" cy="35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9588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4AF46-4442-7A60-EB2C-35126162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Computer Systems and Digital Evidence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90029-BD78-2DD8-DCA5-4657440E8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9975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Computer systems have multiple layers: </a:t>
            </a:r>
            <a:r>
              <a:rPr lang="en-GB" dirty="0"/>
              <a:t>applications, operating system, memory, and storage can all contain forensic evidence. </a:t>
            </a:r>
          </a:p>
          <a:p>
            <a:r>
              <a:rPr lang="en-GB" b="1" dirty="0"/>
              <a:t>Programs execute as processes and threads: </a:t>
            </a:r>
            <a:r>
              <a:rPr lang="en-GB" dirty="0"/>
              <a:t>examining processes and memory can reveal what was running on a system. </a:t>
            </a:r>
          </a:p>
          <a:p>
            <a:r>
              <a:rPr lang="en-GB" b="1" dirty="0"/>
              <a:t>Storage devices organize data into addressable sectors/blocks: </a:t>
            </a:r>
            <a:r>
              <a:rPr lang="en-GB" dirty="0"/>
              <a:t>investigators must understand how raw storage maps to higher-level structures. </a:t>
            </a:r>
          </a:p>
          <a:p>
            <a:r>
              <a:rPr lang="en-GB" b="1" dirty="0"/>
              <a:t>Partitions describe how a disk is divided</a:t>
            </a:r>
            <a:r>
              <a:rPr lang="en-GB" dirty="0"/>
              <a:t>: MBR and GPT store information needed to locate and calculate partition boundaries. </a:t>
            </a:r>
          </a:p>
          <a:p>
            <a:r>
              <a:rPr lang="en-GB" b="1" dirty="0"/>
              <a:t>Boot structures matter</a:t>
            </a:r>
            <a:r>
              <a:rPr lang="en-GB" dirty="0"/>
              <a:t>: BIOS/UEFI, MBR/GPT, boot managers, and operating-system loaders determine how a computer starts.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B9745-4EED-0A53-EB20-D49078F3F8E6}"/>
              </a:ext>
            </a:extLst>
          </p:cNvPr>
          <p:cNvSpPr txBox="1"/>
          <p:nvPr/>
        </p:nvSpPr>
        <p:spPr>
          <a:xfrm>
            <a:off x="1064260" y="5570537"/>
            <a:ext cx="989838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Forensic takeaway: To interpret digital evidence correctly, understand how the evidence moves from hardware → storage structures → operating system → applications → user activity.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997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289F-A899-4A8A-8D46-77B5046C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400">
                <a:solidFill>
                  <a:srgbClr val="000000"/>
                </a:solidFill>
                <a:latin typeface="Calibri"/>
              </a:rPr>
              <a:t>Assignment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92F541-F753-4D16-B7AD-A7FD510AB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968" y="1508824"/>
            <a:ext cx="3608832" cy="4975649"/>
          </a:xfrm>
        </p:spPr>
        <p:txBody>
          <a:bodyPr>
            <a:normAutofit fontScale="92500"/>
          </a:bodyPr>
          <a:lstStyle/>
          <a:p>
            <a:r>
              <a:rPr sz="1900">
                <a:solidFill>
                  <a:srgbClr val="000000"/>
                </a:solidFill>
                <a:latin typeface="Calibri"/>
              </a:rPr>
              <a:t>Goal: verify the size of partition 1 on a PC using its partition table.</a:t>
            </a:r>
          </a:p>
          <a:p>
            <a:r>
              <a:rPr sz="1900">
                <a:solidFill>
                  <a:srgbClr val="000000"/>
                </a:solidFill>
                <a:latin typeface="Calibri"/>
              </a:rPr>
              <a:t>Record the verification process step by step.</a:t>
            </a:r>
          </a:p>
          <a:p>
            <a:r>
              <a:rPr sz="1900">
                <a:solidFill>
                  <a:srgbClr val="000000"/>
                </a:solidFill>
                <a:latin typeface="Calibri"/>
              </a:rPr>
              <a:t>Requirements:</a:t>
            </a:r>
          </a:p>
          <a:p>
            <a:pPr lvl="1"/>
            <a:r>
              <a:rPr sz="1900">
                <a:solidFill>
                  <a:srgbClr val="000000"/>
                </a:solidFill>
                <a:latin typeface="Calibri"/>
              </a:rPr>
              <a:t>Do not use WinHex/HxD templates for the calculation.</a:t>
            </a:r>
          </a:p>
          <a:p>
            <a:pPr lvl="1"/>
            <a:r>
              <a:rPr sz="1900">
                <a:solidFill>
                  <a:srgbClr val="000000"/>
                </a:solidFill>
                <a:latin typeface="Calibri"/>
              </a:rPr>
              <a:t>Identify whether the disk uses MBR or GPT.</a:t>
            </a:r>
          </a:p>
          <a:p>
            <a:pPr lvl="1"/>
            <a:r>
              <a:rPr sz="1900">
                <a:solidFill>
                  <a:srgbClr val="000000"/>
                </a:solidFill>
                <a:latin typeface="Calibri"/>
              </a:rPr>
              <a:t>Calculate each partition size in GB/GiB from partition-table values.</a:t>
            </a:r>
          </a:p>
          <a:p>
            <a:pPr lvl="1"/>
            <a:r>
              <a:rPr sz="1900">
                <a:solidFill>
                  <a:srgbClr val="000000"/>
                </a:solidFill>
                <a:latin typeface="Calibri"/>
              </a:rPr>
              <a:t>Include screenshots of your own partition table.</a:t>
            </a:r>
          </a:p>
          <a:p>
            <a:r>
              <a:rPr sz="1900">
                <a:solidFill>
                  <a:srgbClr val="000000"/>
                </a:solidFill>
                <a:latin typeface="Calibri"/>
              </a:rPr>
              <a:t>Hint: use HxD/WinHex to inspect bytes and Windows Disk Management to verify MBR/GPT.</a:t>
            </a:r>
          </a:p>
        </p:txBody>
      </p:sp>
      <p:pic>
        <p:nvPicPr>
          <p:cNvPr id="4" name="Picture 3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EB5AAD75-46D2-4952-8D8B-1B60B97D4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43438"/>
            <a:ext cx="6422649" cy="4975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39B231-5A6E-8BC2-7E8D-1453194623C5}"/>
              </a:ext>
            </a:extLst>
          </p:cNvPr>
          <p:cNvCxnSpPr/>
          <p:nvPr/>
        </p:nvCxnSpPr>
        <p:spPr>
          <a:xfrm flipH="1">
            <a:off x="3412800" y="3429000"/>
            <a:ext cx="4514400" cy="216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252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1E617-DF5A-67D9-86A0-0C547355D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62" y="182598"/>
            <a:ext cx="10684166" cy="64928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A5D256-CCF3-5A64-0141-A94D49D53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4" y="2281890"/>
            <a:ext cx="3696020" cy="42523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320040"/>
            <a:ext cx="9306560" cy="4023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800" b="1" dirty="0">
                <a:solidFill>
                  <a:srgbClr val="000000"/>
                </a:solidFill>
                <a:latin typeface="Calibri"/>
              </a:rPr>
              <a:t>Verify partition style in Windows Disk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5349240"/>
            <a:ext cx="3840480" cy="43891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Use Properties → Volumes to confirm MBR/GPT.</a:t>
            </a:r>
          </a:p>
        </p:txBody>
      </p:sp>
    </p:spTree>
    <p:extLst>
      <p:ext uri="{BB962C8B-B14F-4D97-AF65-F5344CB8AC3E}">
        <p14:creationId xmlns:p14="http://schemas.microsoft.com/office/powerpoint/2010/main" val="211546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4703</TotalTime>
  <Words>1408</Words>
  <Application>Microsoft Office PowerPoint</Application>
  <PresentationFormat>Widescreen</PresentationFormat>
  <Paragraphs>174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Computer Systems and Digital Evidence</vt:lpstr>
      <vt:lpstr>Overview</vt:lpstr>
      <vt:lpstr>Computer systems</vt:lpstr>
      <vt:lpstr>Layers of a computer system</vt:lpstr>
      <vt:lpstr>Parts of the computer</vt:lpstr>
      <vt:lpstr>Check system specifications</vt:lpstr>
      <vt:lpstr>How do computers work?</vt:lpstr>
      <vt:lpstr>PowerPoint Presentation</vt:lpstr>
      <vt:lpstr>Why is computer forensics hard?</vt:lpstr>
      <vt:lpstr>Areas of digital forensics</vt:lpstr>
      <vt:lpstr>Hard disk drives</vt:lpstr>
      <vt:lpstr>Understand disk drives</vt:lpstr>
      <vt:lpstr>What is a disk sector?</vt:lpstr>
      <vt:lpstr>Calculate total sectors using CHS</vt:lpstr>
      <vt:lpstr>Calculate disk size</vt:lpstr>
      <vt:lpstr>What is a partition?</vt:lpstr>
      <vt:lpstr>PC boot process</vt:lpstr>
      <vt:lpstr>Booting a computer</vt:lpstr>
      <vt:lpstr>Two different boot options</vt:lpstr>
      <vt:lpstr>What does the Master Boot Record look like?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 Partition Table (GPT)</vt:lpstr>
      <vt:lpstr>Why GPT</vt:lpstr>
      <vt:lpstr>PowerPoint Presentation</vt:lpstr>
      <vt:lpstr>PowerPoint Presentation</vt:lpstr>
      <vt:lpstr>Calculate GPT partition size</vt:lpstr>
      <vt:lpstr>Show MBR/GPT details using a template</vt:lpstr>
      <vt:lpstr>PowerPoint Presentation</vt:lpstr>
      <vt:lpstr>PowerPoint Presentation</vt:lpstr>
      <vt:lpstr>PowerPoint Presentation</vt:lpstr>
      <vt:lpstr>PowerPoint Presentation</vt:lpstr>
      <vt:lpstr>Computer Systems and Digital Evidence</vt:lpstr>
      <vt:lpstr>Assignment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Weifeng Xu</cp:lastModifiedBy>
  <cp:revision>25</cp:revision>
  <dcterms:created xsi:type="dcterms:W3CDTF">2020-09-14T14:43:27Z</dcterms:created>
  <dcterms:modified xsi:type="dcterms:W3CDTF">2026-09-13T21:58:42Z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46707a-0714-4b19-9e75-9e86a08e862d_Enabled">
    <vt:lpwstr>true</vt:lpwstr>
  </property>
  <property fmtid="{D5CDD505-2E9C-101B-9397-08002B2CF9AE}" pid="3" name="MSIP_Label_2f46707a-0714-4b19-9e75-9e86a08e862d_SetDate">
    <vt:lpwstr>2022-09-11T13:28:11Z</vt:lpwstr>
  </property>
  <property fmtid="{D5CDD505-2E9C-101B-9397-08002B2CF9AE}" pid="4" name="MSIP_Label_2f46707a-0714-4b19-9e75-9e86a08e862d_Method">
    <vt:lpwstr>Standard</vt:lpwstr>
  </property>
  <property fmtid="{D5CDD505-2E9C-101B-9397-08002B2CF9AE}" pid="5" name="MSIP_Label_2f46707a-0714-4b19-9e75-9e86a08e862d_Name">
    <vt:lpwstr>defa4170-0d19-0005-0004-bc88714345d2</vt:lpwstr>
  </property>
  <property fmtid="{D5CDD505-2E9C-101B-9397-08002B2CF9AE}" pid="6" name="MSIP_Label_2f46707a-0714-4b19-9e75-9e86a08e862d_SiteId">
    <vt:lpwstr>e902b1b3-068c-446e-83b4-e3dfa474e6f9</vt:lpwstr>
  </property>
  <property fmtid="{D5CDD505-2E9C-101B-9397-08002B2CF9AE}" pid="7" name="MSIP_Label_2f46707a-0714-4b19-9e75-9e86a08e862d_ActionId">
    <vt:lpwstr>d2fe7ec8-c1ce-49b5-8142-f0e8b2bc9b4b</vt:lpwstr>
  </property>
  <property fmtid="{D5CDD505-2E9C-101B-9397-08002B2CF9AE}" pid="8" name="MSIP_Label_2f46707a-0714-4b19-9e75-9e86a08e862d_ContentBits">
    <vt:lpwstr>0</vt:lpwstr>
  </property>
</Properties>
</file>