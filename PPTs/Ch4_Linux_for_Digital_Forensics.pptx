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431" r:id="rId3"/>
    <p:sldId id="493" r:id="rId4"/>
    <p:sldId id="507" r:id="rId5"/>
    <p:sldId id="497" r:id="rId6"/>
    <p:sldId id="511" r:id="rId7"/>
    <p:sldId id="512" r:id="rId8"/>
    <p:sldId id="392" r:id="rId9"/>
    <p:sldId id="513" r:id="rId10"/>
    <p:sldId id="514" r:id="rId11"/>
    <p:sldId id="467" r:id="rId12"/>
    <p:sldId id="505" r:id="rId13"/>
    <p:sldId id="447" r:id="rId14"/>
    <p:sldId id="491" r:id="rId15"/>
    <p:sldId id="448" r:id="rId16"/>
    <p:sldId id="490" r:id="rId17"/>
    <p:sldId id="462" r:id="rId18"/>
    <p:sldId id="450" r:id="rId19"/>
    <p:sldId id="449" r:id="rId20"/>
    <p:sldId id="456" r:id="rId21"/>
    <p:sldId id="455" r:id="rId22"/>
    <p:sldId id="457" r:id="rId23"/>
    <p:sldId id="430" r:id="rId24"/>
    <p:sldId id="451" r:id="rId25"/>
    <p:sldId id="458" r:id="rId26"/>
    <p:sldId id="452" r:id="rId27"/>
    <p:sldId id="463" r:id="rId28"/>
    <p:sldId id="460" r:id="rId29"/>
    <p:sldId id="461" r:id="rId30"/>
    <p:sldId id="465" r:id="rId31"/>
    <p:sldId id="466" r:id="rId32"/>
    <p:sldId id="506" r:id="rId33"/>
    <p:sldId id="459" r:id="rId34"/>
    <p:sldId id="394" r:id="rId35"/>
    <p:sldId id="464" r:id="rId36"/>
    <p:sldId id="468" r:id="rId37"/>
    <p:sldId id="469" r:id="rId38"/>
    <p:sldId id="396" r:id="rId39"/>
    <p:sldId id="470" r:id="rId40"/>
    <p:sldId id="471" r:id="rId41"/>
    <p:sldId id="472" r:id="rId42"/>
    <p:sldId id="416" r:id="rId43"/>
    <p:sldId id="404" r:id="rId44"/>
    <p:sldId id="475" r:id="rId45"/>
    <p:sldId id="476" r:id="rId46"/>
    <p:sldId id="477" r:id="rId47"/>
    <p:sldId id="478" r:id="rId48"/>
    <p:sldId id="434" r:id="rId49"/>
    <p:sldId id="482" r:id="rId50"/>
    <p:sldId id="484" r:id="rId51"/>
    <p:sldId id="411" r:id="rId52"/>
    <p:sldId id="414" r:id="rId53"/>
    <p:sldId id="418" r:id="rId54"/>
    <p:sldId id="500" r:id="rId55"/>
    <p:sldId id="504" r:id="rId56"/>
    <p:sldId id="481" r:id="rId57"/>
    <p:sldId id="442" r:id="rId58"/>
    <p:sldId id="485" r:id="rId59"/>
    <p:sldId id="486" r:id="rId60"/>
    <p:sldId id="487" r:id="rId61"/>
    <p:sldId id="488" r:id="rId62"/>
    <p:sldId id="489" r:id="rId63"/>
    <p:sldId id="439" r:id="rId64"/>
    <p:sldId id="440" r:id="rId65"/>
    <p:sldId id="441" r:id="rId66"/>
    <p:sldId id="443" r:id="rId67"/>
    <p:sldId id="508" r:id="rId68"/>
    <p:sldId id="509" r:id="rId69"/>
    <p:sldId id="499" r:id="rId70"/>
    <p:sldId id="49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B079A-BA71-44FA-8697-13EDC0B2B357}" v="2" dt="2026-02-10T15:17:48.4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84" autoAdjust="0"/>
    <p:restoredTop sz="86667" autoAdjust="0"/>
  </p:normalViewPr>
  <p:slideViewPr>
    <p:cSldViewPr snapToGrid="0">
      <p:cViewPr>
        <p:scale>
          <a:sx n="75" d="100"/>
          <a:sy n="75" d="100"/>
        </p:scale>
        <p:origin x="653"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F99F8FFF-BA20-43EA-924B-4DF5D2A785F3}"/>
    <pc:docChg chg="custSel addSld delSld modSld">
      <pc:chgData name="Weifeng Xu" userId="e7aed605-a3dd-4d5a-a692-a87037af107b" providerId="ADAL" clId="{F99F8FFF-BA20-43EA-924B-4DF5D2A785F3}" dt="2026-02-10T18:15:00.005" v="14" actId="47"/>
      <pc:docMkLst>
        <pc:docMk/>
      </pc:docMkLst>
      <pc:sldChg chg="delSp modSp add del mod">
        <pc:chgData name="Weifeng Xu" userId="e7aed605-a3dd-4d5a-a692-a87037af107b" providerId="ADAL" clId="{F99F8FFF-BA20-43EA-924B-4DF5D2A785F3}" dt="2026-02-10T18:15:00.005" v="14" actId="47"/>
        <pc:sldMkLst>
          <pc:docMk/>
          <pc:sldMk cId="721033151" sldId="518"/>
        </pc:sldMkLst>
        <pc:spChg chg="mod">
          <ac:chgData name="Weifeng Xu" userId="e7aed605-a3dd-4d5a-a692-a87037af107b" providerId="ADAL" clId="{F99F8FFF-BA20-43EA-924B-4DF5D2A785F3}" dt="2026-02-10T15:17:54.636" v="13" actId="207"/>
          <ac:spMkLst>
            <pc:docMk/>
            <pc:sldMk cId="721033151" sldId="518"/>
            <ac:spMk id="2" creationId="{036690B4-AC3E-F354-632F-2FF43DCD3103}"/>
          </ac:spMkLst>
        </pc:spChg>
        <pc:spChg chg="del">
          <ac:chgData name="Weifeng Xu" userId="e7aed605-a3dd-4d5a-a692-a87037af107b" providerId="ADAL" clId="{F99F8FFF-BA20-43EA-924B-4DF5D2A785F3}" dt="2026-02-10T15:17:23.584" v="3" actId="478"/>
          <ac:spMkLst>
            <pc:docMk/>
            <pc:sldMk cId="721033151" sldId="518"/>
            <ac:spMk id="7" creationId="{0ED303AB-928C-FDE9-2D2C-A7E46F417E6A}"/>
          </ac:spMkLst>
        </pc:spChg>
        <pc:picChg chg="mod">
          <ac:chgData name="Weifeng Xu" userId="e7aed605-a3dd-4d5a-a692-a87037af107b" providerId="ADAL" clId="{F99F8FFF-BA20-43EA-924B-4DF5D2A785F3}" dt="2026-02-10T15:17:30.560" v="6" actId="14100"/>
          <ac:picMkLst>
            <pc:docMk/>
            <pc:sldMk cId="721033151" sldId="518"/>
            <ac:picMk id="4" creationId="{35C8AB96-22D5-8F0F-799F-036FC7F55446}"/>
          </ac:picMkLst>
        </pc:picChg>
        <pc:picChg chg="del">
          <ac:chgData name="Weifeng Xu" userId="e7aed605-a3dd-4d5a-a692-a87037af107b" providerId="ADAL" clId="{F99F8FFF-BA20-43EA-924B-4DF5D2A785F3}" dt="2026-02-10T15:17:25.692" v="4" actId="478"/>
          <ac:picMkLst>
            <pc:docMk/>
            <pc:sldMk cId="721033151" sldId="518"/>
            <ac:picMk id="6" creationId="{946E9C86-C04E-4E0A-0602-8798156821E0}"/>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4.321"/>
    </inkml:context>
    <inkml:brush xml:id="br0">
      <inkml:brushProperty name="width" value="0.1" units="cm"/>
      <inkml:brushProperty name="height" value="0.1" units="cm"/>
      <inkml:brushProperty name="color" value="#E71224"/>
    </inkml:brush>
  </inkml:definitions>
  <inkml:trace contextRef="#ctx0" brushRef="#br0">7973 5814 24575,'-6'-2'0,"0"0"0,0-1 0,1 1 0,-1-1 0,0 0 0,1-1 0,-6-4 0,7 5 0,-34-24 0,25 17 0,-1 0 0,0 0 0,-30-13 0,36 20 0,1-1 0,-1 0 0,1 0 0,0-1 0,0 0 0,0 0 0,1 0 0,0-1 0,0 0 0,0 0 0,1-1 0,-8-11 0,-60-70 0,20 25 0,30 36 0,-38-34 0,44 47 0,1-2 0,1 0 0,0 0 0,1-1 0,1-1 0,-18-31 0,19 29 0,0 1 0,-1 1 0,-2 0 0,0 1 0,0 1 0,-2 0 0,0 1 0,-33-23 0,22 16 0,0-1 0,1-2 0,-23-28 0,-22-20 0,-19-4 0,72 60 0,0 0 0,-28-17 0,29 22 0,0-2 0,1 0 0,-28-29 0,10 3 0,-55-49 0,52 52 0,28 26 0,-1 0 0,0 1 0,-1 0 0,-20-12 0,22 15 0,0-1 0,0 0 0,1 0 0,0-1 0,0 0 0,-12-17 0,12 15 0,1 0 0,-2 1 0,1 0 0,-2 1 0,-11-9 0,-86-66 0,82 63 0,-104-82 0,57 47 0,36 26 0,-1 3 0,-45-27 0,70 47 0,1-2 0,0 0 0,1 0 0,0-1 0,-12-13 0,13 12 0,-1 0 0,0 1 0,-1 0 0,-21-14 0,9 11 0,0 0 0,1-2 0,1 0 0,1-2 0,-35-33 0,-19-15 0,45 37 0,-1 2 0,-2 1 0,0 1 0,-40-21 0,52 32 0,0 0 0,1-2 0,0-1 0,-32-32 0,37 33 0,-1 1 0,0 1 0,-1 0 0,-22-12 0,-34-25 0,35 20 0,18 14 0,-1 0 0,2-2 0,-27-30 0,21 21 0,-1 0 0,-2 2 0,-48-35 0,39 32 0,-94-66 0,116 83 0,-1 2 0,-24-13 0,24 14 0,0 0 0,-24-18 0,-68-40 0,70 40 0,-11-10 0,25 17 0,0 1 0,-1 1 0,-32-16 0,0-1 0,50 30 0,0 1 0,-1-1 0,1 2 0,-15-5 0,16 6 0,-1-1 0,0 0 0,1-1 0,-1 0 0,1 0 0,-12-7 0,-62-50 0,-116-65 0,181 116 0,1 0 0,0-1 0,0-1 0,1 0 0,-21-23 0,29 30 0,0-1 0,0 1 0,0 0 0,-1 0 0,0 1 0,0 0 0,0 0 0,-10-4 0,8 5 0,1-1 0,0-1 0,0 1 0,0-1 0,-8-7 0,-50-39 0,41 32 0,0 0 0,-38-39 0,38 33 0,-1 2 0,-1 1 0,0 1 0,-55-30 0,-39-28 0,48 6 0,-14 6 0,79 60 0,-1 0 0,1-1 0,0 0 0,1-1 0,-7-8 0,10 10 0,-1 0 0,-1 1 0,1-1 0,-1 1 0,0 1 0,0-1 0,0 1 0,0-1 0,-1 1 0,0 1 0,0-1 0,-11-4 0,10 6 0,0 0 0,0-1 0,0 0 0,0 0 0,1-1 0,-1 0 0,1 0 0,0 0 0,1-1 0,-11-9 0,-12-7 0,-6-5 0,20 10 0,-2 0 0,0 1 0,-1 1 0,-1 1 0,-32-20 0,28 19 0,1-1 0,-20-19 0,-23-16 0,22 28 0,34 19 0,0-1 0,0 0 0,0 0 0,1-1 0,-10-8 0,-128-97 0,29 25 0,106 78 0,0 1 0,0 0 0,-17-7 0,-15-9 0,30 15 0,0 1 0,-1 1 0,-22-7 0,24 9 0,1-1 0,0 0 0,-1 0 0,2-1 0,-1 0 0,-13-10 0,-5-4 0,0 0 0,0 2 0,-43-18 0,33 17 0,-48-32 0,54 30 0,-44-20 0,-3-1 0,64 33 0,0 0 0,0 2 0,-1-1 0,0 2 0,-25-6 0,23 5 0,-1 0 0,2-2 0,-1 0 0,1-1 0,-19-13 0,-35-18 0,-3 6 0,20 10 0,-57-34 0,88 45 0,0 1 0,-26-8 0,-26-13 0,63 28 0,0 0 0,0 1 0,-23-5 0,25 7 0,0 0 0,1-1 0,-1 0 0,0-1 0,1 0 0,-13-8 0,9 4 0,0 1 0,-27-10 0,30 13 0,0 0 0,1 0 0,0-1 0,-1 0 0,2 0 0,-1-1 0,-13-12 0,-30-37-1365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5.736"/>
    </inkml:context>
    <inkml:brush xml:id="br0">
      <inkml:brushProperty name="width" value="0.1" units="cm"/>
      <inkml:brushProperty name="height" value="0.1" units="cm"/>
      <inkml:brushProperty name="color" value="#E71224"/>
    </inkml:brush>
  </inkml:definitions>
  <inkml:trace contextRef="#ctx0" brushRef="#br0">644 0 24575,'-4'1'0,"1"-1"0,-1 1 0,1 0 0,0 0 0,-1 0 0,1 1 0,0-1 0,0 1 0,0 0 0,0 0 0,0 0 0,-4 3 0,-17 11 0,-43 29 0,27-26 0,-46 32 0,56-33 0,18-12 0,1 1 0,0 0 0,-17 15 0,20-15 0,-1 1 0,0-1 0,0-1 0,0 0 0,-1 0 0,0 0 0,-1-2 0,1 1 0,-1-1 0,0-1 0,0 0 0,0 0 0,0-1 0,-15 1 0,-35 7 0,56-9 0,0 0 0,1 1 0,-1-1 0,0 1 0,0 1 0,1-1 0,-1 1 0,1-1 0,-7 7 0,10-8 0,0 0 0,0 1 0,0-1 0,1 1 0,-1-1 0,0 1 0,1 0 0,-1-1 0,1 1 0,-1 0 0,1 0 0,0-1 0,-1 1 0,1 0 0,0-1 0,0 1 0,1 0 0,-1 0 0,0-1 0,0 1 0,1 0 0,-1 0 0,1-1 0,1 3 0,23 43 0,-17-33 0,36 81 0,-34-76 0,0 0 0,23 33 0,-20-34 0,0 1 0,14 33 0,48 110-1365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8.254"/>
    </inkml:context>
    <inkml:brush xml:id="br0">
      <inkml:brushProperty name="width" value="0.1" units="cm"/>
      <inkml:brushProperty name="height" value="0.1" units="cm"/>
      <inkml:brushProperty name="color" value="#E71224"/>
    </inkml:brush>
  </inkml:definitions>
  <inkml:trace contextRef="#ctx0" brushRef="#br0">14005 2 24575,'-11'0'0,"8"0"0,0-1 0,0 1 0,0 0 0,0 0 0,0 0 0,0 0 0,-1 0 0,1 1 0,0 0 0,0-1 0,0 1 0,0 0 0,0 1 0,1-1 0,-1 0 0,0 1 0,0-1 0,1 1 0,-1 0 0,1 0 0,0 0 0,-1 0 0,-1 4 0,-15 18 0,-27 29 0,-8 9 0,43-50 0,0-1 0,-1 0 0,-1 0 0,1-1 0,-2-1 0,1 0 0,-1 0 0,0-2 0,-31 12 0,13-4 0,-21 11 0,-56 24 0,55-29 0,23-8 0,0-2 0,-45 11 0,64-20 0,-18 3 0,-53 18 0,47-12 0,0-2 0,-54 6 0,52-9 0,-1 1 0,-39 14 0,38-10-186,0-2 0,-62 8-1,62-12 118,0 1-1,-63 20 1,52-11-412,-97 15-1,77-17 1228,-52 21-746,21-4 0,71-21 0,-40 16 0,47-15 0,0-1 0,-1-1 0,-34 5 0,33-7 0,1 0 0,0 1 0,-46 21 0,-21 7 0,75-31 0,0-1 0,-21 2 0,22-4 0,0 1 0,1 1 0,-19 6 0,-16 8 246,0 2 0,2 3 0,-64 37 0,79-41-246,-60 25 0,55-27 0,-38 22 0,52-25 0,0-1 0,-1-2 0,-1 0 0,1-2 0,-1 0 0,-1-2 0,-35 4 0,46-7 0,0 0 0,-26 11 0,27-9 0,0 0 0,-30 5 0,-149 24 0,-2-1 0,81-11 52,20-2-639,-10 1 535,-163 57 0,120-32 48,-126 36 4,91-11 0,119-45 0,-213 81 0,207-84 0,-2-2 0,0-4 0,-110 12 0,160-25 0,-41 14 0,-1-1 0,-365 80-1034,307-74 837,-5 0-155,71-11 127,-91 7-1,86-13 171,-66 14-1,-183 28 56,217-37 0,-3-4 0,60-5 0,0 1 0,-46 10 0,-85 13-36,119-20-10,0 1 0,-64 18 0,70-13 199,-69 8 0,-14 4-172,22-1 279,-54 16-238,108-26 633,-81 13 1,-23 4 292,126-24-907,0-1 0,-32 1 0,-21 4-30,-59 12-11,116-18 0,-1-1 0,-31 0 0,36-3 0,0 1 0,0 1 0,1 1 0,-35 9 0,5 2 0,-93 15 0,97-22 0,1 1 0,0 3 0,-43 15 0,60-17 0,0-2 0,-1-1 0,0-1 0,0-2 0,0 0 0,-29-2 0,-19 3 0,5 6 0,45-6 0,-39 3 0,16-6 0,21-2 0,0 2 0,0 1 0,-40 8 0,32-2 0,-138 40 0,98-29 0,58-15 0,-1 0 0,1 0 0,-24 11 0,16-5 0,-1-2 0,0 0 0,-53 7 0,-32 9 0,63-12 0,-2-2 0,-69 6 0,2 4 39,84-12-445,-1-2 1,-65 3 0,70-7 283,-43 7 1,-20 1 6,67-8 251,0 2 0,1 0 0,-26 8 1,25-5 67,-1-2 0,-39 4 0,-24 2 211,59-6-433,-46 1-1,40-6 19,1 2 0,-46 8 0,51-6 0,1-1 0,-51-2 0,-19 1 0,39 8 0,45-6 0,0-1 0,-26 2 0,-38-4 0,40-2 0,0 2 0,-69 10 0,-26 12 0,-50 5 0,160-26 0,-35 8 0,37-6 0,0 0 0,-27 0 0,29-3 0,1 1 0,-29 7 0,3-1 0,20-2 0,-37 11 0,37-9 0,-36 6 0,52-12-118,9-1 84,-1-1 1,0 1-1,0-1 0,0 0 1,0 1-1,0-1 0,0 0 0,-1 0 1,1 1-1,0-1 0,0 0 1,0 0-1,0 0 0,0-1 0,0 1 1,0 0-1,0 0 0,0 0 1,0-1-1,0 1 0,0 0 1,0-1-1,0 1 0,0-1 0,0 0 1,0 1-1,0-1 0,1 1 1,-1-1-1,0 0 0,0 0 0,1 0 1,-1 1-1,0-1 0,1 0 1,-1-2-1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3:30:09.850"/>
    </inkml:context>
    <inkml:brush xml:id="br0">
      <inkml:brushProperty name="width" value="0.1" units="cm"/>
      <inkml:brushProperty name="height" value="0.1" units="cm"/>
      <inkml:brushProperty name="color" value="#E71224"/>
    </inkml:brush>
  </inkml:definitions>
  <inkml:trace contextRef="#ctx0" brushRef="#br0">207 0 24575,'1'38'0,"-1"-6"0,-4 44 0,2-65 0,0 1 0,0-1 0,-1 0 0,-1 0 0,0 0 0,0-1 0,-10 16 0,-12 12 0,20-29 0,0-1 0,0 1 0,1 0 0,0 0 0,0 0 0,1 1 0,-3 11 0,1-1 0,-1-1 0,-1 1 0,-1-1 0,0-1 0,-2 1 0,-20 27 0,29-44 0,0 1 0,0 0 0,0 0 0,1 0 0,-1 0 0,1 0 0,0 0 0,0 1 0,0-1 0,0 0 0,1 1 0,-1-1 0,1 0 0,0 1 0,0-1 0,0 1 0,0-1 0,1 0 0,1 5 0,0-3 0,0 0 0,0 0 0,1 0 0,0-1 0,-1 1 0,2-1 0,-1 0 0,1 0 0,-1 0 0,1 0 0,9 6 0,18 15 0,49 49 0,-69-64 0,0 0 0,0-1 0,1-1 0,17 10 0,-15-10 0,-2 0 0,1 1 0,-1 0 0,12 13 0,119 125 0,-114-122 0,10 12 0,-30-28 0,0 0 0,1-1 0,0 0 0,0-1 0,15 8 0,-25-14-50,1-1-1,0 0 1,-1 1-1,1-1 0,0 0 1,-1 1-1,1-1 1,0 0-1,-1 0 1,1 0-1,0 0 0,-1 0 1,1 0-1,0 0 1,0 0-1,-1 0 1,1 0-1,0 0 0,-1 0 1,1 0-1,0 0 1,0-1-1,-1 1 1,1 0-1,-1-1 1,2 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4.279"/>
    </inkml:context>
    <inkml:brush xml:id="br0">
      <inkml:brushProperty name="width" value="0.1" units="cm"/>
      <inkml:brushProperty name="height" value="0.1" units="cm"/>
      <inkml:brushProperty name="color" value="#008C3A"/>
    </inkml:brush>
  </inkml:definitions>
  <inkml:trace contextRef="#ctx0" brushRef="#br0">223 24 24575,'-28'4'0,"-48"17"0,72-20 0,-1 2 0,1-1 0,-1 0 0,1 1 0,0 0 0,0 0 0,0 0 0,-6 7 0,-23 16 0,30-24 0,0 1 0,0-1 0,0 1 0,1-1 0,-1 1 0,1 0 0,-1 0 0,1 0 0,0 0 0,0 1 0,0-1 0,0 0 0,1 1 0,0-1 0,-1 1 0,1 0 0,0 0 0,1-1 0,-1 8 0,-1 9 0,2 0 0,2 34 0,1-16 0,-3-11 0,7 47 0,-4-62 0,-1 0 0,2-1 0,0 1 0,0-1 0,1 0 0,9 15 0,0 5 0,-13-26 0,1-1 0,0 0 0,-1 0 0,1 0 0,0-1 0,1 1 0,-1 0 0,1-1 0,0 1 0,0-1 0,0 0 0,6 5 0,48 32 0,89 56 0,-132-89 0,0 0 0,1-1 0,0-1 0,0-1 0,1 0 0,-1-1 0,31 3 0,117-6 0,-76-3 0,-48 4 0,-21 0 0,-1 0 0,0-2 0,22-2 0,-35 2 0,1 0 0,0 0 0,-1-1 0,1 1 0,-1-1 0,1 0 0,-1 0 0,0-1 0,0 1 0,0-1 0,0 0 0,-1 0 0,1 0 0,-1 0 0,1-1 0,2-4 0,0-1 0,-1 1 0,-1-1 0,1 0 0,-2 0 0,1-1 0,-1 1 0,-1-1 0,1 0 0,1-19 0,-3-6 0,-3-54 0,0 21 0,2 36 0,1 15 0,-1 0 0,-4-28 0,3 40 0,0-1 0,0 1 0,-1 0 0,0 0 0,0 0 0,0 0 0,0 0 0,-1 0 0,0 0 0,0 1 0,-1-1 0,-4-4 0,-25-24 0,3 3 0,-34-42 0,57 64-72,-1-1 1,-1 1-1,1 0 0,-2 1 0,1 0 0,-1 0 0,0 1 0,0 0 1,0 1-1,-1 0 0,0 1 0,0 0 0,0 0 0,0 1 0,-1 1 1,0 0-1,1 1 0,-13-1 0,6 2-6754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7.726"/>
    </inkml:context>
    <inkml:brush xml:id="br0">
      <inkml:brushProperty name="width" value="0.1" units="cm"/>
      <inkml:brushProperty name="height" value="0.1" units="cm"/>
      <inkml:brushProperty name="color" value="#008C3A"/>
    </inkml:brush>
  </inkml:definitions>
  <inkml:trace contextRef="#ctx0" brushRef="#br0">0 6149 24575,'7'1'0,"-1"0"0,1 0 0,0 0 0,12 5 0,18 4 0,-13-9 0,0-1 0,1-1 0,-1-1 0,45-9 0,-62 9 0,38-3 0,0 3 0,81 3 0,-36 0 0,-54 0 0,-15 0 0,0-1 0,29-4 0,-43 3 0,-1 0 0,1-1 0,0 0 0,-2 0 0,2-1 0,0 0 0,-1 0 0,-1-1 0,1 1 0,0-1 0,6-6 0,31-19 0,-33 25 0,-1-2 0,-1 0 0,10-7 0,-7 1 0,1 0 0,-2-1 0,0 0 0,-2 0 0,1-2 0,9-18 0,10-18 0,-20 38 0,1 1 0,1 0 0,0 1 0,0-1 0,1 2 0,1 0 0,-1 1 0,2 0 0,-1 0 0,28-13 0,79-45 0,-78 42 0,61-26 0,-77 40 0,-1 0 0,-1-2 0,0 0 0,0-3 0,21-17 0,-38 26 0,-1 0 0,0 0 0,0-1 0,0 1 0,-1-1 0,0-1 0,-2 2 0,6-18 0,8-17 0,56-133 0,-5 10 0,-49 125 0,2-3 0,47-81 0,-62 118 0,-1-1 0,0-1 0,0 1 0,0 0 0,-1-1 0,0 0 0,-1 0 0,0 0 0,2-14 0,-1 7 0,1 1 0,8-23 0,-7 26 0,-1 0 0,0-1 0,-1 0 0,2-23 0,5-54 0,-4 53 0,-1-46 0,-5-461 0,-2 528 0,0 1 0,0-2 0,-2 1 0,0 1 0,0-1 0,-9-19 0,5 17 0,2 0 0,1 0 0,1-1 0,-4-20 0,5 14 0,-1-1 0,-2 0 0,-1 0 0,-1 1 0,-14-32 0,13 31 0,-13-44 0,15 43 0,-17-42 0,20 59 0,1-2 0,1 2 0,-1-2 0,0-11 0,1 13 0,1-1 0,-2 0 0,1 1 0,-1-1 0,-5-11 0,4 12 0,0-2 0,0 2 0,1-2 0,1 0 0,-2-16 0,3 14 0,-1 2 0,-1-1 0,0 1 0,-6-16 0,6 21 0,-4-8 0,0-1 0,1 0 0,1 0 0,1-1 0,-1 1 0,2-1 0,-3-30 0,3 10 0,1 2 0,-4-2 0,0 2 0,-13-39 0,14 58 0,-3-11 0,-5-33 0,4 15 0,6 22 0,-1-1 0,-1-33 0,5 32 0,0 0 0,-2-1 0,-8-36 0,6 35 0,-4-45 0,-1-11 0,5 42 0,1 0 0,3-81 0,-1-31 0,-9 96 0,6 40 0,1 1 0,0-23 0,3 25 0,-1-12 0,0 0 0,-10-45 0,-1-16 0,3 14 0,2 21 0,3-1 0,2 2 0,5-53 0,-2 4 0,0 57 0,-3 1 0,-9-62 0,4 52 0,3 0 0,3 0 0,3-52 0,0 5 0,-2-289 0,-1 398 0,0 1 0,-1-1 0,1-1 0,-2 2 0,-7 18 0,-26 52 0,14-52 0,19-27 0,0 0 0,1 0 0,-1 0 0,1 1 0,-1-1 0,1 0 0,1 0 0,0 1 0,-1 0 0,0 0 0,-1 6 0,-2 13 0,-2 0 0,0 0 0,-2-1 0,-21 41 0,18-38 0,-4 11-24,11-23-311,-2 1-1,0-1 1,-14 22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29.559"/>
    </inkml:context>
    <inkml:brush xml:id="br0">
      <inkml:brushProperty name="width" value="0.1" units="cm"/>
      <inkml:brushProperty name="height" value="0.1" units="cm"/>
      <inkml:brushProperty name="color" value="#008C3A"/>
    </inkml:brush>
  </inkml:definitions>
  <inkml:trace contextRef="#ctx0" brushRef="#br0">0 1 24575,'4'1'0,"-1"0"0,0 0 0,-1 0 0,0 0 0,1 1 0,0 0 0,0-1 0,-1 0 0,1 1 0,-1 0 0,1 1 0,-2-1 0,4 5 0,10 5 0,0 1 0,1-3 0,2 1 0,-1-1 0,1-1 0,-1-1 0,2-1 0,37 11 0,-46-16-12,0 2-1,0 0 0,-1 1 1,1 0-1,-2-1 0,1 2 1,15 11-1,2 3-1251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39.826"/>
    </inkml:context>
    <inkml:brush xml:id="br0">
      <inkml:brushProperty name="width" value="0.1" units="cm"/>
      <inkml:brushProperty name="height" value="0.1" units="cm"/>
      <inkml:brushProperty name="color" value="#008C3A"/>
    </inkml:brush>
  </inkml:definitions>
  <inkml:trace contextRef="#ctx0" brushRef="#br0">1 90 24575,'6'-1'0,"1"0"0,0 0 0,0 0 0,13-5 0,19-4 0,50 5 0,91 6 0,-57 1 0,-81-1 0,6-1 0,-1-1 0,77-12 0,-71 7 0,-1 1 0,1 3 0,56 5 0,-8-1 0,464-2 0,-547-1 0,0-1 0,29-6 0,22-3 0,2 0 0,-52 6 0,1 2 0,21-1 0,618 3 0,-318 3 0,570-2 0,-894 1 0,-1 0 0,29 8 0,-27-5 0,0-1 0,20 1 0,261-4 0,-142-1 0,-141 2 0,-1 1 0,0 0 0,16 5 0,-14-3 0,0-1 0,24 1 0,12-3 0,-13-1 0,-1 2 0,47 8 0,-22-2-1365,-45-7-5461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9T13:56:41.559"/>
    </inkml:context>
    <inkml:brush xml:id="br0">
      <inkml:brushProperty name="width" value="0.1" units="cm"/>
      <inkml:brushProperty name="height" value="0.1" units="cm"/>
      <inkml:brushProperty name="color" value="#008C3A"/>
    </inkml:brush>
  </inkml:definitions>
  <inkml:trace contextRef="#ctx0" brushRef="#br0">28 0 24575,'1'3'0,"1"0"0,-1 0 0,1 0 0,0-1 0,-1 1 0,1 0 0,0-1 0,1 0 0,-1 1 0,0-1 0,4 2 0,2 5 0,46 58 0,-38-44 0,36 39 0,-46-57 0,-1 0 0,0 1 0,-1-1 0,1 1 0,-1 0 0,-1 1 0,1-1 0,-1 1 0,0-1 0,3 10 0,-5-13 0,-1 1 0,1-1 0,-1 0 0,1 0 0,-1 0 0,0 0 0,-1 0 0,1 0 0,0 0 0,-1 1 0,1-1 0,-1 0 0,0 0 0,0 0 0,-1-1 0,1 1 0,0 0 0,-1 0 0,0-1 0,1 1 0,-1-1 0,0 1 0,0-1 0,-1 0 0,-4 4 0,-19 15 0,5-6 0,0 2 0,2 0 0,0 1 0,1 0 0,-27 38 0,43-54-97,0 1-1,1-1 1,-1 1-1,0-1 1,-1 0-1,1 0 1,0 0-1,0 0 1,-1 0-1,1 0 1,-1-1-1,0 0 0,-3 2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3T13:56:23.793"/>
    </inkml:context>
    <inkml:brush xml:id="br0">
      <inkml:brushProperty name="width" value="0.1" units="cm"/>
      <inkml:brushProperty name="height" value="0.1" units="cm"/>
      <inkml:brushProperty name="color" value="#FF0066"/>
    </inkml:brush>
  </inkml:definitions>
  <inkml:trace contextRef="#ctx0" brushRef="#br0">29 1 24575,'28'10'0,"-9"-2"0,66 24 0,-60-21 0,0-2 0,40 10 0,-50-14 0,-1 0 0,1 1 0,-1 0 0,-1 1 0,1 0 0,-1 1 0,0 1 0,-1 0 0,20 20 0,42 54 0,-52-56 0,36 35 0,-38-41 0,0 2 0,-1 0 0,17 27 0,21 26 0,-7-6 0,-34-45 0,30 33 0,-36-45 0,-1 1 0,0 1 0,0-1 0,-2 1 0,0 1 0,0-1 0,-2 1 0,5 18 0,-3-10 0,1-1 0,20 40 0,-18-43 0,-1 1 0,12 41 0,-13-35 0,15 33 0,47 98 0,-49-107 0,-14-31 0,20 37 0,-18-39 0,-1 1 0,-1 0 0,-1 0 0,0 1 0,-1 0 0,-1 0 0,2 36 0,-1-31 0,0 1 0,2-1 0,1 0 0,13 26 0,-3-2 0,9 14 0,-17-41 0,-1 0 0,-1 1 0,6 26 0,-8-26 0,0-1 0,12 24 0,-9-23 0,11 41 0,-9-19 0,-6-29 0,0 1 0,-2-1 0,2 24 0,-2-13 0,1 1 0,12 40 0,-9-41 0,-1 0 0,3 41 0,3 23 0,-7-60 0,1 47 0,-7 836 0,1-903 0,-1-1 0,0 1 0,0 0 0,-2-1 0,1 1 0,-1-1 0,-5 13 0,-5 3 0,-21 34 0,29-51 0,1-1 0,0 1 0,1 0 0,0 0 0,1 0 0,0 0 0,0 1 0,1-1 0,0 0 0,1 1 0,1 18 0,0-18 0,-1 0 0,0 1 0,0-1 0,-1 1 0,-1-1 0,0 0 0,0 1 0,-7 14 0,-30 76 0,14-35 0,12-35 0,-1 0 0,-2-1 0,-1-1 0,-1-1 0,-26 32 0,28-38 0,-24 42 0,5-5 0,-54 88 0,36-44 0,38-79 0,-2 0 0,-34 36 0,8-9 0,-34 29 0,57-61 0,1 1 0,0 1 0,-20 29 0,21-20 0,-2-2 0,0-1 0,-2 0 0,-1-2 0,-2 0 0,-50 39 0,-3 5 0,69-60 0,0 0 0,0 1 0,1 0 0,-13 20 0,14-18 0,-1-2 0,0 1 0,0-1 0,-15 14 0,-8 1 0,0-1 0,-2-1 0,0-2 0,-41 18 0,73-38 3,-1 0 0,1 0 0,-1 0 0,0 0 0,1-1-1,-1 1 1,0 0 0,1-1 0,-1 0 0,0 1 0,0-1-1,0 0 1,1 0 0,-1 0 0,0 0 0,0 0 0,0 0 0,1-1-1,-1 1 1,0-1 0,0 1 0,1-1 0,-1 0 0,0 1 0,1-1-1,-1 0 1,1 0 0,-1 0 0,-2-3 0,1 0-90,0-1-1,0 0 1,0 0 0,1 0 0,0-1-1,0 1 1,-2-9 0,-1 0-666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3T13:56:25.254"/>
    </inkml:context>
    <inkml:brush xml:id="br0">
      <inkml:brushProperty name="width" value="0.1" units="cm"/>
      <inkml:brushProperty name="height" value="0.1" units="cm"/>
      <inkml:brushProperty name="color" value="#FF0066"/>
    </inkml:brush>
  </inkml:definitions>
  <inkml:trace contextRef="#ctx0" brushRef="#br0">78 1 24575,'1'16'0,"0"1"0,8 30 0,-5-29 0,-1 0 0,1 22 0,-4 295 0,-1-320 0,0-1 0,-1-1 0,-5 18 0,-4 31 0,11-56 0,-1 0 0,1 0 0,-1 0 0,-1 0 0,1 0 0,-1 0 0,0 0 0,-1 0 0,1-1 0,-1 1 0,0-1 0,-1 0 0,1 0 0,-1 0 0,0 0 0,0-1 0,0 1 0,-10 7 0,13-12 0,1 1 0,0-1 0,-1 0 0,1 1 0,-1-1 0,1 1 0,0-1 0,-1 0 0,1 1 0,-1-1 0,1 0 0,-1 1 0,1-1 0,-1 0 0,1 0 0,-1 0 0,0 1 0,1-1 0,-1 0 0,1 0 0,-1 0 0,1 0 0,-1 0 0,0 0 0,1 0 0,-1 0 0,1 0 0,-1 0 0,1-1 0,-1 1 0,1 0 0,-1 0 0,0 0 0,1-1 0,-1 1 0,1 0 0,-1-1 0,1 0 0,-1 0 0,1 0 0,0 0 0,0 0 0,0 0 0,1 0 0,-1 0 0,0 0 0,0 1 0,0-1 0,1 0 0,-1 0 0,0 0 0,1 0 0,-1 0 0,1 1 0,-1-1 0,1 0 0,-1 0 0,1 1 0,0-1 0,-1 0 0,2 0 0,7-5 0,0 0 0,0 0 0,1 1 0,-1 0 0,1 1 0,1 0 0,-1 0 0,0 1 0,1 1 0,15-3 0,22-6 0,80-15 0,-100 21 0,-1 2 0,1 0 0,-1 2 0,55 5 0,30 18 0,-99-19 0,-1 0 0,0 1 0,16 7 0,-18-6 0,1-1 0,0 0 0,0-1 0,16 3 0,46 11-1365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58D5F-65FB-4E17-9D5B-8CF1DE5A98DF}"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49544B-F866-4ED0-8997-24601187AE87}" type="slidenum">
              <a:rPr lang="en-US" smtClean="0"/>
              <a:t>‹#›</a:t>
            </a:fld>
            <a:endParaRPr lang="en-US"/>
          </a:p>
        </p:txBody>
      </p:sp>
    </p:spTree>
    <p:extLst>
      <p:ext uri="{BB962C8B-B14F-4D97-AF65-F5344CB8AC3E}">
        <p14:creationId xmlns:p14="http://schemas.microsoft.com/office/powerpoint/2010/main" val="159519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4</a:t>
            </a:fld>
            <a:endParaRPr lang="en-US"/>
          </a:p>
        </p:txBody>
      </p:sp>
    </p:spTree>
    <p:extLst>
      <p:ext uri="{BB962C8B-B14F-4D97-AF65-F5344CB8AC3E}">
        <p14:creationId xmlns:p14="http://schemas.microsoft.com/office/powerpoint/2010/main" val="69586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https://www.geeksforgeeks.org/file-systems-in-operating-system/</a:t>
            </a:r>
          </a:p>
        </p:txBody>
      </p:sp>
      <p:sp>
        <p:nvSpPr>
          <p:cNvPr id="4" name="Slide Number Placeholder 3"/>
          <p:cNvSpPr>
            <a:spLocks noGrp="1"/>
          </p:cNvSpPr>
          <p:nvPr>
            <p:ph type="sldNum" sz="quarter" idx="5"/>
          </p:nvPr>
        </p:nvSpPr>
        <p:spPr/>
        <p:txBody>
          <a:bodyPr/>
          <a:lstStyle/>
          <a:p>
            <a:fld id="{8349544B-F866-4ED0-8997-24601187AE87}" type="slidenum">
              <a:rPr lang="en-US" smtClean="0"/>
              <a:t>10</a:t>
            </a:fld>
            <a:endParaRPr lang="en-US"/>
          </a:p>
        </p:txBody>
      </p:sp>
    </p:spTree>
    <p:extLst>
      <p:ext uri="{BB962C8B-B14F-4D97-AF65-F5344CB8AC3E}">
        <p14:creationId xmlns:p14="http://schemas.microsoft.com/office/powerpoint/2010/main" val="783003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https://www.geeksforgeeks.org/file-systems-in-operating-system/</a:t>
            </a:r>
          </a:p>
        </p:txBody>
      </p:sp>
      <p:sp>
        <p:nvSpPr>
          <p:cNvPr id="4" name="Slide Number Placeholder 3"/>
          <p:cNvSpPr>
            <a:spLocks noGrp="1"/>
          </p:cNvSpPr>
          <p:nvPr>
            <p:ph type="sldNum" sz="quarter" idx="5"/>
          </p:nvPr>
        </p:nvSpPr>
        <p:spPr/>
        <p:txBody>
          <a:bodyPr/>
          <a:lstStyle/>
          <a:p>
            <a:fld id="{8349544B-F866-4ED0-8997-24601187AE87}" type="slidenum">
              <a:rPr lang="en-US" smtClean="0"/>
              <a:t>11</a:t>
            </a:fld>
            <a:endParaRPr lang="en-US"/>
          </a:p>
        </p:txBody>
      </p:sp>
    </p:spTree>
    <p:extLst>
      <p:ext uri="{BB962C8B-B14F-4D97-AF65-F5344CB8AC3E}">
        <p14:creationId xmlns:p14="http://schemas.microsoft.com/office/powerpoint/2010/main" val="78300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https://www.geeksforgeeks.org/file-systems-in-operating-system/</a:t>
            </a:r>
          </a:p>
        </p:txBody>
      </p:sp>
      <p:sp>
        <p:nvSpPr>
          <p:cNvPr id="4" name="Slide Number Placeholder 3"/>
          <p:cNvSpPr>
            <a:spLocks noGrp="1"/>
          </p:cNvSpPr>
          <p:nvPr>
            <p:ph type="sldNum" sz="quarter" idx="5"/>
          </p:nvPr>
        </p:nvSpPr>
        <p:spPr/>
        <p:txBody>
          <a:bodyPr/>
          <a:lstStyle/>
          <a:p>
            <a:fld id="{8349544B-F866-4ED0-8997-24601187AE87}" type="slidenum">
              <a:rPr lang="en-US" smtClean="0"/>
              <a:t>12</a:t>
            </a:fld>
            <a:endParaRPr lang="en-US"/>
          </a:p>
        </p:txBody>
      </p:sp>
    </p:spTree>
    <p:extLst>
      <p:ext uri="{BB962C8B-B14F-4D97-AF65-F5344CB8AC3E}">
        <p14:creationId xmlns:p14="http://schemas.microsoft.com/office/powerpoint/2010/main" val="1507201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525960"/>
                </a:solidFill>
                <a:effectLst/>
                <a:latin typeface="-apple-system"/>
              </a:rPr>
              <a:t>The "Everything is a file" phrase defines the architecture of the operating system. It means that everything in the system from processes, files, directories, sockets, pipes, ... is represented by a file descriptor abstracted over the virtual filesystem layer in the kernel</a:t>
            </a:r>
          </a:p>
          <a:p>
            <a:r>
              <a:rPr lang="en-GB" b="1" i="0" dirty="0">
                <a:solidFill>
                  <a:srgbClr val="232629"/>
                </a:solidFill>
                <a:effectLst/>
                <a:latin typeface="-apple-system"/>
              </a:rPr>
              <a:t>Devices can be represented as file-like object under /dev/ filesystem</a:t>
            </a:r>
            <a:r>
              <a:rPr lang="en-GB" b="0" i="0" dirty="0">
                <a:solidFill>
                  <a:srgbClr val="232629"/>
                </a:solidFill>
                <a:effectLst/>
                <a:latin typeface="-apple-system"/>
              </a:rPr>
              <a:t>.</a:t>
            </a:r>
          </a:p>
          <a:p>
            <a:r>
              <a:rPr lang="en-GB" b="0" i="0" dirty="0">
                <a:solidFill>
                  <a:srgbClr val="232629"/>
                </a:solidFill>
                <a:effectLst/>
                <a:latin typeface="-apple-system"/>
              </a:rPr>
              <a:t>Unix has no direct equivalent of the Windows registry. The same information is scattered through the filesystem, largely in </a:t>
            </a:r>
            <a:r>
              <a:rPr lang="en-GB" dirty="0"/>
              <a:t>/etc</a:t>
            </a:r>
            <a:r>
              <a:rPr lang="en-GB" b="0" i="0" dirty="0">
                <a:solidFill>
                  <a:srgbClr val="232629"/>
                </a:solidFill>
                <a:effectLst/>
                <a:latin typeface="-apple-system"/>
              </a:rPr>
              <a:t>, </a:t>
            </a:r>
            <a:r>
              <a:rPr lang="en-GB" dirty="0"/>
              <a:t>/proc</a:t>
            </a:r>
            <a:r>
              <a:rPr lang="en-GB" b="0" i="0" dirty="0">
                <a:solidFill>
                  <a:srgbClr val="232629"/>
                </a:solidFill>
                <a:effectLst/>
                <a:latin typeface="-apple-system"/>
              </a:rPr>
              <a:t> and </a:t>
            </a:r>
            <a:r>
              <a:rPr lang="en-GB" dirty="0"/>
              <a:t>/sys</a:t>
            </a:r>
            <a:r>
              <a:rPr lang="en-GB" b="0" i="0" dirty="0">
                <a:solidFill>
                  <a:srgbClr val="232629"/>
                </a:solidFill>
                <a:effectLst/>
                <a:latin typeface="-apple-system"/>
              </a:rPr>
              <a:t>.</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15</a:t>
            </a:fld>
            <a:endParaRPr lang="en-US"/>
          </a:p>
        </p:txBody>
      </p:sp>
    </p:spTree>
    <p:extLst>
      <p:ext uri="{BB962C8B-B14F-4D97-AF65-F5344CB8AC3E}">
        <p14:creationId xmlns:p14="http://schemas.microsoft.com/office/powerpoint/2010/main" val="2092226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19</a:t>
            </a:fld>
            <a:endParaRPr lang="en-US"/>
          </a:p>
        </p:txBody>
      </p:sp>
    </p:spTree>
    <p:extLst>
      <p:ext uri="{BB962C8B-B14F-4D97-AF65-F5344CB8AC3E}">
        <p14:creationId xmlns:p14="http://schemas.microsoft.com/office/powerpoint/2010/main" val="2023711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4151"/>
                </a:solidFill>
                <a:effectLst/>
                <a:latin typeface="Söhne"/>
              </a:rPr>
              <a:t>Windows </a:t>
            </a:r>
            <a:r>
              <a:rPr lang="en-GB" b="0" i="0" dirty="0" err="1">
                <a:solidFill>
                  <a:srgbClr val="374151"/>
                </a:solidFill>
                <a:effectLst/>
                <a:latin typeface="Söhne"/>
              </a:rPr>
              <a:t>cmd</a:t>
            </a:r>
            <a:r>
              <a:rPr lang="en-GB" b="0" i="0" dirty="0">
                <a:solidFill>
                  <a:srgbClr val="374151"/>
                </a:solidFill>
                <a:effectLst/>
                <a:latin typeface="Söhne"/>
              </a:rPr>
              <a:t>: </a:t>
            </a:r>
          </a:p>
          <a:p>
            <a:endParaRPr lang="en-GB" b="0" i="0" dirty="0">
              <a:solidFill>
                <a:srgbClr val="374151"/>
              </a:solidFill>
              <a:effectLst/>
              <a:latin typeface="Söhne"/>
            </a:endParaRPr>
          </a:p>
          <a:p>
            <a:r>
              <a:rPr lang="en-GB" b="0" i="0" dirty="0">
                <a:solidFill>
                  <a:srgbClr val="374151"/>
                </a:solidFill>
                <a:effectLst/>
                <a:latin typeface="Söhne"/>
              </a:rPr>
              <a:t>wmic </a:t>
            </a:r>
            <a:r>
              <a:rPr lang="en-GB" b="0" i="0" dirty="0" err="1">
                <a:solidFill>
                  <a:srgbClr val="374151"/>
                </a:solidFill>
                <a:effectLst/>
                <a:latin typeface="Söhne"/>
              </a:rPr>
              <a:t>logicaldisk</a:t>
            </a:r>
            <a:r>
              <a:rPr lang="en-GB" b="0" i="0" dirty="0">
                <a:solidFill>
                  <a:srgbClr val="374151"/>
                </a:solidFill>
                <a:effectLst/>
                <a:latin typeface="Söhne"/>
              </a:rPr>
              <a:t> get size, </a:t>
            </a:r>
            <a:r>
              <a:rPr lang="en-GB" b="0" i="0" dirty="0" err="1">
                <a:solidFill>
                  <a:srgbClr val="374151"/>
                </a:solidFill>
                <a:effectLst/>
                <a:latin typeface="Söhne"/>
              </a:rPr>
              <a:t>freespace</a:t>
            </a:r>
            <a:r>
              <a:rPr lang="en-GB" b="0" i="0" dirty="0">
                <a:solidFill>
                  <a:srgbClr val="374151"/>
                </a:solidFill>
                <a:effectLst/>
                <a:latin typeface="Söhne"/>
              </a:rPr>
              <a:t>, caption</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21</a:t>
            </a:fld>
            <a:endParaRPr lang="en-US"/>
          </a:p>
        </p:txBody>
      </p:sp>
    </p:spTree>
    <p:extLst>
      <p:ext uri="{BB962C8B-B14F-4D97-AF65-F5344CB8AC3E}">
        <p14:creationId xmlns:p14="http://schemas.microsoft.com/office/powerpoint/2010/main" val="566431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a:t>
            </a:r>
          </a:p>
        </p:txBody>
      </p:sp>
      <p:sp>
        <p:nvSpPr>
          <p:cNvPr id="4" name="Slide Number Placeholder 3"/>
          <p:cNvSpPr>
            <a:spLocks noGrp="1"/>
          </p:cNvSpPr>
          <p:nvPr>
            <p:ph type="sldNum" sz="quarter" idx="5"/>
          </p:nvPr>
        </p:nvSpPr>
        <p:spPr/>
        <p:txBody>
          <a:bodyPr/>
          <a:lstStyle/>
          <a:p>
            <a:fld id="{8349544B-F866-4ED0-8997-24601187AE87}" type="slidenum">
              <a:rPr lang="en-US" smtClean="0"/>
              <a:t>26</a:t>
            </a:fld>
            <a:endParaRPr lang="en-US"/>
          </a:p>
        </p:txBody>
      </p:sp>
    </p:spTree>
    <p:extLst>
      <p:ext uri="{BB962C8B-B14F-4D97-AF65-F5344CB8AC3E}">
        <p14:creationId xmlns:p14="http://schemas.microsoft.com/office/powerpoint/2010/main" val="4251569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Windows path</a:t>
            </a:r>
          </a:p>
        </p:txBody>
      </p:sp>
      <p:sp>
        <p:nvSpPr>
          <p:cNvPr id="4" name="Slide Number Placeholder 3"/>
          <p:cNvSpPr>
            <a:spLocks noGrp="1"/>
          </p:cNvSpPr>
          <p:nvPr>
            <p:ph type="sldNum" sz="quarter" idx="5"/>
          </p:nvPr>
        </p:nvSpPr>
        <p:spPr/>
        <p:txBody>
          <a:bodyPr/>
          <a:lstStyle/>
          <a:p>
            <a:fld id="{8349544B-F866-4ED0-8997-24601187AE87}" type="slidenum">
              <a:rPr lang="en-US" smtClean="0"/>
              <a:t>35</a:t>
            </a:fld>
            <a:endParaRPr lang="en-US"/>
          </a:p>
        </p:txBody>
      </p:sp>
    </p:spTree>
    <p:extLst>
      <p:ext uri="{BB962C8B-B14F-4D97-AF65-F5344CB8AC3E}">
        <p14:creationId xmlns:p14="http://schemas.microsoft.com/office/powerpoint/2010/main" val="3169632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export PATH=/some/new/path:$PATH</a:t>
            </a:r>
          </a:p>
          <a:p>
            <a:endParaRPr lang="en-GB" dirty="0"/>
          </a:p>
          <a:p>
            <a:r>
              <a:rPr lang="en-GB" dirty="0"/>
              <a:t>In Windows </a:t>
            </a:r>
            <a:r>
              <a:rPr lang="en-GB" b="0" i="0" dirty="0" err="1">
                <a:solidFill>
                  <a:srgbClr val="374151"/>
                </a:solidFill>
                <a:effectLst/>
                <a:latin typeface="Söhne"/>
              </a:rPr>
              <a:t>setx</a:t>
            </a:r>
            <a:r>
              <a:rPr lang="en-GB" b="0" i="0" dirty="0">
                <a:solidFill>
                  <a:srgbClr val="374151"/>
                </a:solidFill>
                <a:effectLst/>
                <a:latin typeface="Söhne"/>
              </a:rPr>
              <a:t> path "%path%;C:\Program Files\Java\jdk1.8.0_202\bin" -m</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36</a:t>
            </a:fld>
            <a:endParaRPr lang="en-US"/>
          </a:p>
        </p:txBody>
      </p:sp>
    </p:spTree>
    <p:extLst>
      <p:ext uri="{BB962C8B-B14F-4D97-AF65-F5344CB8AC3E}">
        <p14:creationId xmlns:p14="http://schemas.microsoft.com/office/powerpoint/2010/main" val="1993851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my_first_file.txt </a:t>
            </a:r>
          </a:p>
          <a:p>
            <a:r>
              <a:rPr lang="en-GB" dirty="0"/>
              <a:t>grep "hello" my_first_file.txt</a:t>
            </a:r>
          </a:p>
          <a:p>
            <a:endParaRPr lang="en-US" dirty="0"/>
          </a:p>
          <a:p>
            <a:r>
              <a:rPr lang="en-US" dirty="0"/>
              <a:t>https://sites.cs.ucsb.edu/~pconrad/topics/BackslashVsForwardSlash/</a:t>
            </a:r>
          </a:p>
        </p:txBody>
      </p:sp>
      <p:sp>
        <p:nvSpPr>
          <p:cNvPr id="4" name="Slide Number Placeholder 3"/>
          <p:cNvSpPr>
            <a:spLocks noGrp="1"/>
          </p:cNvSpPr>
          <p:nvPr>
            <p:ph type="sldNum" sz="quarter" idx="5"/>
          </p:nvPr>
        </p:nvSpPr>
        <p:spPr/>
        <p:txBody>
          <a:bodyPr/>
          <a:lstStyle/>
          <a:p>
            <a:fld id="{8349544B-F866-4ED0-8997-24601187AE87}" type="slidenum">
              <a:rPr lang="en-US" smtClean="0"/>
              <a:t>49</a:t>
            </a:fld>
            <a:endParaRPr lang="en-US"/>
          </a:p>
        </p:txBody>
      </p:sp>
    </p:spTree>
    <p:extLst>
      <p:ext uri="{BB962C8B-B14F-4D97-AF65-F5344CB8AC3E}">
        <p14:creationId xmlns:p14="http://schemas.microsoft.com/office/powerpoint/2010/main" val="3303523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nmap</a:t>
            </a:r>
            <a:r>
              <a:rPr lang="en-US" dirty="0"/>
              <a:t> localhost -p 21</a:t>
            </a:r>
          </a:p>
        </p:txBody>
      </p:sp>
      <p:sp>
        <p:nvSpPr>
          <p:cNvPr id="4" name="Slide Number Placeholder 3"/>
          <p:cNvSpPr>
            <a:spLocks noGrp="1"/>
          </p:cNvSpPr>
          <p:nvPr>
            <p:ph type="sldNum" sz="quarter" idx="5"/>
          </p:nvPr>
        </p:nvSpPr>
        <p:spPr/>
        <p:txBody>
          <a:bodyPr/>
          <a:lstStyle/>
          <a:p>
            <a:fld id="{8349544B-F866-4ED0-8997-24601187AE87}" type="slidenum">
              <a:rPr lang="en-US" smtClean="0"/>
              <a:t>55</a:t>
            </a:fld>
            <a:endParaRPr lang="en-US"/>
          </a:p>
        </p:txBody>
      </p:sp>
    </p:spTree>
    <p:extLst>
      <p:ext uri="{BB962C8B-B14F-4D97-AF65-F5344CB8AC3E}">
        <p14:creationId xmlns:p14="http://schemas.microsoft.com/office/powerpoint/2010/main" val="2664083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#!/bin/sh</a:t>
            </a:r>
          </a:p>
          <a:p>
            <a:r>
              <a:rPr lang="en-US"/>
              <a:t>echo </a:t>
            </a:r>
            <a:r>
              <a:rPr lang="en-US" dirty="0"/>
              <a:t>"Hello World" &gt; myFile.txt</a:t>
            </a:r>
          </a:p>
          <a:p>
            <a:r>
              <a:rPr lang="en-US" dirty="0"/>
              <a:t>ls myFile.txt -l</a:t>
            </a:r>
          </a:p>
        </p:txBody>
      </p:sp>
      <p:sp>
        <p:nvSpPr>
          <p:cNvPr id="4" name="Slide Number Placeholder 3"/>
          <p:cNvSpPr>
            <a:spLocks noGrp="1"/>
          </p:cNvSpPr>
          <p:nvPr>
            <p:ph type="sldNum" sz="quarter" idx="5"/>
          </p:nvPr>
        </p:nvSpPr>
        <p:spPr/>
        <p:txBody>
          <a:bodyPr/>
          <a:lstStyle/>
          <a:p>
            <a:fld id="{8349544B-F866-4ED0-8997-24601187AE87}" type="slidenum">
              <a:rPr lang="en-US" smtClean="0"/>
              <a:t>58</a:t>
            </a:fld>
            <a:endParaRPr lang="en-US"/>
          </a:p>
        </p:txBody>
      </p:sp>
    </p:spTree>
    <p:extLst>
      <p:ext uri="{BB962C8B-B14F-4D97-AF65-F5344CB8AC3E}">
        <p14:creationId xmlns:p14="http://schemas.microsoft.com/office/powerpoint/2010/main" val="4239957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export PATH=/home/kali/</a:t>
            </a:r>
            <a:r>
              <a:rPr lang="en-GB" dirty="0" err="1"/>
              <a:t>myfolder</a:t>
            </a:r>
            <a:r>
              <a:rPr lang="en-GB" dirty="0"/>
              <a:t>:$PATH</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61</a:t>
            </a:fld>
            <a:endParaRPr lang="en-US"/>
          </a:p>
        </p:txBody>
      </p:sp>
    </p:spTree>
    <p:extLst>
      <p:ext uri="{BB962C8B-B14F-4D97-AF65-F5344CB8AC3E}">
        <p14:creationId xmlns:p14="http://schemas.microsoft.com/office/powerpoint/2010/main" val="436322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92"/>
        <p:cNvGrpSpPr/>
        <p:nvPr/>
      </p:nvGrpSpPr>
      <p:grpSpPr>
        <a:xfrm>
          <a:off x="0" y="0"/>
          <a:ext cx="0" cy="0"/>
          <a:chOff x="0" y="0"/>
          <a:chExt cx="0" cy="0"/>
        </a:xfrm>
      </p:grpSpPr>
      <p:sp>
        <p:nvSpPr>
          <p:cNvPr id="193" name="Google Shape;193;p3"/>
          <p:cNvSpPr txBox="1">
            <a:spLocks noGrp="1"/>
          </p:cNvSpPr>
          <p:nvPr>
            <p:ph type="ctrTitle"/>
          </p:nvPr>
        </p:nvSpPr>
        <p:spPr>
          <a:xfrm>
            <a:off x="4281247" y="2215683"/>
            <a:ext cx="7068800" cy="1546400"/>
          </a:xfrm>
          <a:prstGeom prst="rect">
            <a:avLst/>
          </a:prstGeom>
        </p:spPr>
        <p:txBody>
          <a:bodyPr spcFirstLastPara="1" wrap="square" lIns="91425" tIns="91425" rIns="91425" bIns="91425" anchor="b" anchorCtr="0"/>
          <a:lstStyle>
            <a:lvl1pPr lvl="0" algn="r" rtl="0">
              <a:spcBef>
                <a:spcPts val="0"/>
              </a:spcBef>
              <a:spcAft>
                <a:spcPts val="0"/>
              </a:spcAft>
              <a:buSzPts val="3700"/>
              <a:buNone/>
              <a:defRPr sz="4933" b="0"/>
            </a:lvl1pPr>
            <a:lvl2pPr lvl="1" algn="r" rtl="0">
              <a:spcBef>
                <a:spcPts val="0"/>
              </a:spcBef>
              <a:spcAft>
                <a:spcPts val="0"/>
              </a:spcAft>
              <a:buSzPts val="3700"/>
              <a:buNone/>
              <a:defRPr sz="4933" b="0"/>
            </a:lvl2pPr>
            <a:lvl3pPr lvl="2" algn="r" rtl="0">
              <a:spcBef>
                <a:spcPts val="0"/>
              </a:spcBef>
              <a:spcAft>
                <a:spcPts val="0"/>
              </a:spcAft>
              <a:buSzPts val="3700"/>
              <a:buNone/>
              <a:defRPr sz="4933" b="0"/>
            </a:lvl3pPr>
            <a:lvl4pPr lvl="3" algn="r" rtl="0">
              <a:spcBef>
                <a:spcPts val="0"/>
              </a:spcBef>
              <a:spcAft>
                <a:spcPts val="0"/>
              </a:spcAft>
              <a:buSzPts val="3700"/>
              <a:buNone/>
              <a:defRPr sz="4933" b="0"/>
            </a:lvl4pPr>
            <a:lvl5pPr lvl="4" algn="r" rtl="0">
              <a:spcBef>
                <a:spcPts val="0"/>
              </a:spcBef>
              <a:spcAft>
                <a:spcPts val="0"/>
              </a:spcAft>
              <a:buSzPts val="3700"/>
              <a:buNone/>
              <a:defRPr sz="4933" b="0"/>
            </a:lvl5pPr>
            <a:lvl6pPr lvl="5" algn="r" rtl="0">
              <a:spcBef>
                <a:spcPts val="0"/>
              </a:spcBef>
              <a:spcAft>
                <a:spcPts val="0"/>
              </a:spcAft>
              <a:buSzPts val="3700"/>
              <a:buNone/>
              <a:defRPr sz="4933" b="0"/>
            </a:lvl6pPr>
            <a:lvl7pPr lvl="6" algn="r" rtl="0">
              <a:spcBef>
                <a:spcPts val="0"/>
              </a:spcBef>
              <a:spcAft>
                <a:spcPts val="0"/>
              </a:spcAft>
              <a:buSzPts val="3700"/>
              <a:buNone/>
              <a:defRPr sz="4933" b="0"/>
            </a:lvl7pPr>
            <a:lvl8pPr lvl="7" algn="r" rtl="0">
              <a:spcBef>
                <a:spcPts val="0"/>
              </a:spcBef>
              <a:spcAft>
                <a:spcPts val="0"/>
              </a:spcAft>
              <a:buSzPts val="3700"/>
              <a:buNone/>
              <a:defRPr sz="4933" b="0"/>
            </a:lvl8pPr>
            <a:lvl9pPr lvl="8" algn="r" rtl="0">
              <a:spcBef>
                <a:spcPts val="0"/>
              </a:spcBef>
              <a:spcAft>
                <a:spcPts val="0"/>
              </a:spcAft>
              <a:buSzPts val="3700"/>
              <a:buNone/>
              <a:defRPr sz="4933" b="0"/>
            </a:lvl9pPr>
          </a:lstStyle>
          <a:p>
            <a:endParaRPr/>
          </a:p>
        </p:txBody>
      </p:sp>
      <p:sp>
        <p:nvSpPr>
          <p:cNvPr id="194" name="Google Shape;194;p3"/>
          <p:cNvSpPr txBox="1">
            <a:spLocks noGrp="1"/>
          </p:cNvSpPr>
          <p:nvPr>
            <p:ph type="subTitle" idx="1"/>
          </p:nvPr>
        </p:nvSpPr>
        <p:spPr>
          <a:xfrm>
            <a:off x="4281180" y="3818903"/>
            <a:ext cx="7068800" cy="1046400"/>
          </a:xfrm>
          <a:prstGeom prst="rect">
            <a:avLst/>
          </a:prstGeom>
        </p:spPr>
        <p:txBody>
          <a:bodyPr spcFirstLastPara="1" wrap="square" lIns="91425" tIns="91425" rIns="91425" bIns="91425" anchor="t" anchorCtr="0"/>
          <a:lstStyle>
            <a:lvl1pPr lvl="0" algn="r" rtl="0">
              <a:spcBef>
                <a:spcPts val="0"/>
              </a:spcBef>
              <a:spcAft>
                <a:spcPts val="0"/>
              </a:spcAft>
              <a:buClr>
                <a:srgbClr val="1C4587"/>
              </a:buClr>
              <a:buSzPts val="2600"/>
              <a:buNone/>
              <a:defRPr>
                <a:solidFill>
                  <a:srgbClr val="1C4587"/>
                </a:solidFill>
              </a:defRPr>
            </a:lvl1pPr>
            <a:lvl2pPr lvl="1" algn="r" rtl="0">
              <a:spcBef>
                <a:spcPts val="0"/>
              </a:spcBef>
              <a:spcAft>
                <a:spcPts val="0"/>
              </a:spcAft>
              <a:buClr>
                <a:srgbClr val="1C4587"/>
              </a:buClr>
              <a:buSzPts val="3000"/>
              <a:buNone/>
              <a:defRPr sz="4000">
                <a:solidFill>
                  <a:srgbClr val="1C4587"/>
                </a:solidFill>
              </a:defRPr>
            </a:lvl2pPr>
            <a:lvl3pPr lvl="2" algn="r" rtl="0">
              <a:spcBef>
                <a:spcPts val="0"/>
              </a:spcBef>
              <a:spcAft>
                <a:spcPts val="0"/>
              </a:spcAft>
              <a:buClr>
                <a:srgbClr val="1C4587"/>
              </a:buClr>
              <a:buSzPts val="3000"/>
              <a:buNone/>
              <a:defRPr sz="4000">
                <a:solidFill>
                  <a:srgbClr val="1C4587"/>
                </a:solidFill>
              </a:defRPr>
            </a:lvl3pPr>
            <a:lvl4pPr lvl="3" algn="r" rtl="0">
              <a:spcBef>
                <a:spcPts val="0"/>
              </a:spcBef>
              <a:spcAft>
                <a:spcPts val="0"/>
              </a:spcAft>
              <a:buClr>
                <a:srgbClr val="1C4587"/>
              </a:buClr>
              <a:buSzPts val="3000"/>
              <a:buNone/>
              <a:defRPr sz="4000">
                <a:solidFill>
                  <a:srgbClr val="1C4587"/>
                </a:solidFill>
              </a:defRPr>
            </a:lvl4pPr>
            <a:lvl5pPr lvl="4" algn="r" rtl="0">
              <a:spcBef>
                <a:spcPts val="0"/>
              </a:spcBef>
              <a:spcAft>
                <a:spcPts val="0"/>
              </a:spcAft>
              <a:buClr>
                <a:srgbClr val="1C4587"/>
              </a:buClr>
              <a:buSzPts val="3000"/>
              <a:buNone/>
              <a:defRPr sz="4000">
                <a:solidFill>
                  <a:srgbClr val="1C4587"/>
                </a:solidFill>
              </a:defRPr>
            </a:lvl5pPr>
            <a:lvl6pPr lvl="5" algn="r" rtl="0">
              <a:spcBef>
                <a:spcPts val="0"/>
              </a:spcBef>
              <a:spcAft>
                <a:spcPts val="0"/>
              </a:spcAft>
              <a:buClr>
                <a:srgbClr val="1C4587"/>
              </a:buClr>
              <a:buSzPts val="3000"/>
              <a:buNone/>
              <a:defRPr sz="4000">
                <a:solidFill>
                  <a:srgbClr val="1C4587"/>
                </a:solidFill>
              </a:defRPr>
            </a:lvl6pPr>
            <a:lvl7pPr lvl="6" algn="r" rtl="0">
              <a:spcBef>
                <a:spcPts val="0"/>
              </a:spcBef>
              <a:spcAft>
                <a:spcPts val="0"/>
              </a:spcAft>
              <a:buClr>
                <a:srgbClr val="1C4587"/>
              </a:buClr>
              <a:buSzPts val="3000"/>
              <a:buNone/>
              <a:defRPr sz="4000">
                <a:solidFill>
                  <a:srgbClr val="1C4587"/>
                </a:solidFill>
              </a:defRPr>
            </a:lvl7pPr>
            <a:lvl8pPr lvl="7" algn="r" rtl="0">
              <a:spcBef>
                <a:spcPts val="0"/>
              </a:spcBef>
              <a:spcAft>
                <a:spcPts val="0"/>
              </a:spcAft>
              <a:buClr>
                <a:srgbClr val="1C4587"/>
              </a:buClr>
              <a:buSzPts val="3000"/>
              <a:buNone/>
              <a:defRPr sz="4000">
                <a:solidFill>
                  <a:srgbClr val="1C4587"/>
                </a:solidFill>
              </a:defRPr>
            </a:lvl8pPr>
            <a:lvl9pPr lvl="8" algn="r" rtl="0">
              <a:spcBef>
                <a:spcPts val="0"/>
              </a:spcBef>
              <a:spcAft>
                <a:spcPts val="0"/>
              </a:spcAft>
              <a:buClr>
                <a:srgbClr val="1C4587"/>
              </a:buClr>
              <a:buSzPts val="3000"/>
              <a:buNone/>
              <a:defRPr sz="4000">
                <a:solidFill>
                  <a:srgbClr val="1C4587"/>
                </a:solidFill>
              </a:defRPr>
            </a:lvl9pPr>
          </a:lstStyle>
          <a:p>
            <a:endParaRPr/>
          </a:p>
        </p:txBody>
      </p:sp>
      <p:sp>
        <p:nvSpPr>
          <p:cNvPr id="195" name="Google Shape;195;p3"/>
          <p:cNvSpPr/>
          <p:nvPr/>
        </p:nvSpPr>
        <p:spPr>
          <a:xfrm>
            <a:off x="5882774" y="6215517"/>
            <a:ext cx="600733" cy="744979"/>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6" name="Google Shape;196;p3"/>
          <p:cNvSpPr/>
          <p:nvPr/>
        </p:nvSpPr>
        <p:spPr>
          <a:xfrm>
            <a:off x="5291768" y="5333718"/>
            <a:ext cx="591013" cy="672893"/>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7" name="Google Shape;197;p3"/>
          <p:cNvSpPr/>
          <p:nvPr/>
        </p:nvSpPr>
        <p:spPr>
          <a:xfrm>
            <a:off x="8377819"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8" name="Google Shape;198;p3"/>
          <p:cNvSpPr/>
          <p:nvPr/>
        </p:nvSpPr>
        <p:spPr>
          <a:xfrm>
            <a:off x="76620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9" name="Google Shape;199;p3"/>
          <p:cNvSpPr/>
          <p:nvPr/>
        </p:nvSpPr>
        <p:spPr>
          <a:xfrm>
            <a:off x="94181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0" name="Google Shape;200;p3"/>
          <p:cNvSpPr/>
          <p:nvPr/>
        </p:nvSpPr>
        <p:spPr>
          <a:xfrm>
            <a:off x="11657298" y="5555569"/>
            <a:ext cx="660375" cy="453651"/>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1" name="Google Shape;201;p3"/>
          <p:cNvSpPr/>
          <p:nvPr/>
        </p:nvSpPr>
        <p:spPr>
          <a:xfrm>
            <a:off x="87753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2" name="Google Shape;202;p3"/>
          <p:cNvSpPr/>
          <p:nvPr/>
        </p:nvSpPr>
        <p:spPr>
          <a:xfrm>
            <a:off x="86761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3" name="Google Shape;203;p3"/>
          <p:cNvSpPr/>
          <p:nvPr/>
        </p:nvSpPr>
        <p:spPr>
          <a:xfrm>
            <a:off x="73347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4" name="Google Shape;204;p3"/>
          <p:cNvSpPr/>
          <p:nvPr/>
        </p:nvSpPr>
        <p:spPr>
          <a:xfrm>
            <a:off x="69354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5" name="Google Shape;205;p3"/>
          <p:cNvSpPr/>
          <p:nvPr/>
        </p:nvSpPr>
        <p:spPr>
          <a:xfrm>
            <a:off x="6354112"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6" name="Google Shape;206;p3"/>
          <p:cNvSpPr/>
          <p:nvPr/>
        </p:nvSpPr>
        <p:spPr>
          <a:xfrm>
            <a:off x="73624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7" name="Google Shape;207;p3"/>
          <p:cNvSpPr/>
          <p:nvPr/>
        </p:nvSpPr>
        <p:spPr>
          <a:xfrm>
            <a:off x="107367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8" name="Google Shape;208;p3"/>
          <p:cNvSpPr/>
          <p:nvPr/>
        </p:nvSpPr>
        <p:spPr>
          <a:xfrm>
            <a:off x="10736769"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9" name="Google Shape;209;p3"/>
          <p:cNvSpPr/>
          <p:nvPr/>
        </p:nvSpPr>
        <p:spPr>
          <a:xfrm>
            <a:off x="9312764"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0" name="Google Shape;210;p3"/>
          <p:cNvSpPr/>
          <p:nvPr/>
        </p:nvSpPr>
        <p:spPr>
          <a:xfrm>
            <a:off x="116663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1" name="Google Shape;211;p3"/>
          <p:cNvSpPr/>
          <p:nvPr/>
        </p:nvSpPr>
        <p:spPr>
          <a:xfrm>
            <a:off x="82142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2" name="Google Shape;212;p3"/>
          <p:cNvSpPr/>
          <p:nvPr/>
        </p:nvSpPr>
        <p:spPr>
          <a:xfrm>
            <a:off x="113632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3" name="Google Shape;213;p3"/>
          <p:cNvSpPr/>
          <p:nvPr/>
        </p:nvSpPr>
        <p:spPr>
          <a:xfrm>
            <a:off x="65229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4" name="Google Shape;214;p3"/>
          <p:cNvSpPr/>
          <p:nvPr/>
        </p:nvSpPr>
        <p:spPr>
          <a:xfrm>
            <a:off x="117725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5" name="Google Shape;215;p3"/>
          <p:cNvSpPr/>
          <p:nvPr/>
        </p:nvSpPr>
        <p:spPr>
          <a:xfrm>
            <a:off x="5985573" y="5608925"/>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6" name="Google Shape;216;p3"/>
          <p:cNvSpPr/>
          <p:nvPr/>
        </p:nvSpPr>
        <p:spPr>
          <a:xfrm rot="1920548">
            <a:off x="9648968"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7" name="Google Shape;217;p3"/>
          <p:cNvSpPr/>
          <p:nvPr/>
        </p:nvSpPr>
        <p:spPr>
          <a:xfrm>
            <a:off x="110177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8" name="Google Shape;218;p3"/>
          <p:cNvSpPr/>
          <p:nvPr/>
        </p:nvSpPr>
        <p:spPr>
          <a:xfrm rot="-5400000">
            <a:off x="102458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9" name="Google Shape;219;p3"/>
          <p:cNvSpPr/>
          <p:nvPr/>
        </p:nvSpPr>
        <p:spPr>
          <a:xfrm>
            <a:off x="102128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0" name="Google Shape;220;p3"/>
          <p:cNvSpPr/>
          <p:nvPr/>
        </p:nvSpPr>
        <p:spPr>
          <a:xfrm>
            <a:off x="67460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1" name="Google Shape;221;p3"/>
          <p:cNvSpPr/>
          <p:nvPr/>
        </p:nvSpPr>
        <p:spPr>
          <a:xfrm>
            <a:off x="103765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2" name="Google Shape;222;p3"/>
          <p:cNvSpPr/>
          <p:nvPr/>
        </p:nvSpPr>
        <p:spPr>
          <a:xfrm>
            <a:off x="1977021"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3" name="Google Shape;223;p3"/>
          <p:cNvSpPr/>
          <p:nvPr/>
        </p:nvSpPr>
        <p:spPr>
          <a:xfrm>
            <a:off x="12612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4" name="Google Shape;224;p3"/>
          <p:cNvSpPr/>
          <p:nvPr/>
        </p:nvSpPr>
        <p:spPr>
          <a:xfrm>
            <a:off x="30173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5" name="Google Shape;225;p3"/>
          <p:cNvSpPr/>
          <p:nvPr/>
        </p:nvSpPr>
        <p:spPr>
          <a:xfrm>
            <a:off x="23745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6" name="Google Shape;226;p3"/>
          <p:cNvSpPr/>
          <p:nvPr/>
        </p:nvSpPr>
        <p:spPr>
          <a:xfrm>
            <a:off x="22753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7" name="Google Shape;227;p3"/>
          <p:cNvSpPr/>
          <p:nvPr/>
        </p:nvSpPr>
        <p:spPr>
          <a:xfrm>
            <a:off x="9339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8" name="Google Shape;228;p3"/>
          <p:cNvSpPr/>
          <p:nvPr/>
        </p:nvSpPr>
        <p:spPr>
          <a:xfrm>
            <a:off x="5346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9" name="Google Shape;229;p3"/>
          <p:cNvSpPr/>
          <p:nvPr/>
        </p:nvSpPr>
        <p:spPr>
          <a:xfrm>
            <a:off x="-46688"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0" name="Google Shape;230;p3"/>
          <p:cNvSpPr/>
          <p:nvPr/>
        </p:nvSpPr>
        <p:spPr>
          <a:xfrm>
            <a:off x="9616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1" name="Google Shape;231;p3"/>
          <p:cNvSpPr/>
          <p:nvPr/>
        </p:nvSpPr>
        <p:spPr>
          <a:xfrm>
            <a:off x="43359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2" name="Google Shape;232;p3"/>
          <p:cNvSpPr/>
          <p:nvPr/>
        </p:nvSpPr>
        <p:spPr>
          <a:xfrm>
            <a:off x="4335971"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3" name="Google Shape;233;p3"/>
          <p:cNvSpPr/>
          <p:nvPr/>
        </p:nvSpPr>
        <p:spPr>
          <a:xfrm>
            <a:off x="2911965"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4" name="Google Shape;234;p3"/>
          <p:cNvSpPr/>
          <p:nvPr/>
        </p:nvSpPr>
        <p:spPr>
          <a:xfrm>
            <a:off x="52655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5" name="Google Shape;235;p3"/>
          <p:cNvSpPr/>
          <p:nvPr/>
        </p:nvSpPr>
        <p:spPr>
          <a:xfrm>
            <a:off x="18134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6" name="Google Shape;236;p3"/>
          <p:cNvSpPr/>
          <p:nvPr/>
        </p:nvSpPr>
        <p:spPr>
          <a:xfrm>
            <a:off x="49624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7" name="Google Shape;237;p3"/>
          <p:cNvSpPr/>
          <p:nvPr/>
        </p:nvSpPr>
        <p:spPr>
          <a:xfrm>
            <a:off x="1221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8" name="Google Shape;238;p3"/>
          <p:cNvSpPr/>
          <p:nvPr/>
        </p:nvSpPr>
        <p:spPr>
          <a:xfrm>
            <a:off x="53717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9" name="Google Shape;239;p3"/>
          <p:cNvSpPr/>
          <p:nvPr/>
        </p:nvSpPr>
        <p:spPr>
          <a:xfrm>
            <a:off x="3606" y="6533642"/>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0" name="Google Shape;240;p3"/>
          <p:cNvSpPr/>
          <p:nvPr/>
        </p:nvSpPr>
        <p:spPr>
          <a:xfrm rot="1920548">
            <a:off x="3248167"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1" name="Google Shape;241;p3"/>
          <p:cNvSpPr/>
          <p:nvPr/>
        </p:nvSpPr>
        <p:spPr>
          <a:xfrm>
            <a:off x="46169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2" name="Google Shape;242;p3"/>
          <p:cNvSpPr/>
          <p:nvPr/>
        </p:nvSpPr>
        <p:spPr>
          <a:xfrm rot="-5400000">
            <a:off x="38450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3" name="Google Shape;243;p3"/>
          <p:cNvSpPr/>
          <p:nvPr/>
        </p:nvSpPr>
        <p:spPr>
          <a:xfrm>
            <a:off x="38120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4" name="Google Shape;244;p3"/>
          <p:cNvSpPr/>
          <p:nvPr/>
        </p:nvSpPr>
        <p:spPr>
          <a:xfrm>
            <a:off x="3452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5" name="Google Shape;245;p3"/>
          <p:cNvSpPr/>
          <p:nvPr/>
        </p:nvSpPr>
        <p:spPr>
          <a:xfrm>
            <a:off x="39757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Tree>
    <p:extLst>
      <p:ext uri="{BB962C8B-B14F-4D97-AF65-F5344CB8AC3E}">
        <p14:creationId xmlns:p14="http://schemas.microsoft.com/office/powerpoint/2010/main" val="225234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9/13/2026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2.xml"/><Relationship Id="rId10" Type="http://schemas.openxmlformats.org/officeDocument/2006/relationships/image" Target="../media/image12.png"/><Relationship Id="rId4" Type="http://schemas.openxmlformats.org/officeDocument/2006/relationships/image" Target="../media/image91.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customXml" Target="../ink/ink9.xml"/><Relationship Id="rId3" Type="http://schemas.openxmlformats.org/officeDocument/2006/relationships/image" Target="../media/image18.png"/><Relationship Id="rId7" Type="http://schemas.openxmlformats.org/officeDocument/2006/relationships/customXml" Target="../ink/ink6.xml"/><Relationship Id="rId12" Type="http://schemas.openxmlformats.org/officeDocument/2006/relationships/image" Target="../media/image2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200.png"/><Relationship Id="rId4" Type="http://schemas.openxmlformats.org/officeDocument/2006/relationships/image" Target="../media/image19.png"/><Relationship Id="rId9" Type="http://schemas.openxmlformats.org/officeDocument/2006/relationships/customXml" Target="../ink/ink7.xml"/><Relationship Id="rId1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2.jpeg"/><Relationship Id="rId7" Type="http://schemas.openxmlformats.org/officeDocument/2006/relationships/customXml" Target="../ink/ink11.xml"/><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customXml" Target="../ink/ink10.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63.png"/><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75.png"/><Relationship Id="rId4" Type="http://schemas.openxmlformats.org/officeDocument/2006/relationships/image" Target="../media/image74.png"/></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 Id="rId4" Type="http://schemas.openxmlformats.org/officeDocument/2006/relationships/image" Target="../media/image78.png"/></Relationships>
</file>

<file path=ppt/slides/_rels/slide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r>
              <a:rPr lang="en-US" dirty="0"/>
              <a:t>Linux for Digital Forensics </a:t>
            </a:r>
          </a:p>
        </p:txBody>
      </p:sp>
      <p:sp>
        <p:nvSpPr>
          <p:cNvPr id="7" name="Subtitle 6">
            <a:extLst>
              <a:ext uri="{FF2B5EF4-FFF2-40B4-BE49-F238E27FC236}">
                <a16:creationId xmlns:a16="http://schemas.microsoft.com/office/drawing/2014/main" id="{F2871076-CFC8-4CD5-BF65-ECB4ACAEF8D8}"/>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94B0131F-1AEC-4AF1-B829-66619748423D}"/>
              </a:ext>
            </a:extLst>
          </p:cNvPr>
          <p:cNvPicPr>
            <a:picLocks noChangeAspect="1"/>
          </p:cNvPicPr>
          <p:nvPr/>
        </p:nvPicPr>
        <p:blipFill rotWithShape="1">
          <a:blip r:embed="rId2"/>
          <a:srcRect r="42638" b="52891"/>
          <a:stretch/>
        </p:blipFill>
        <p:spPr>
          <a:xfrm>
            <a:off x="9224162" y="178381"/>
            <a:ext cx="2887676" cy="1795889"/>
          </a:xfrm>
          <a:prstGeom prst="rect">
            <a:avLst/>
          </a:prstGeom>
        </p:spPr>
      </p:pic>
    </p:spTree>
    <p:extLst>
      <p:ext uri="{BB962C8B-B14F-4D97-AF65-F5344CB8AC3E}">
        <p14:creationId xmlns:p14="http://schemas.microsoft.com/office/powerpoint/2010/main" val="132506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E4D6EB-8B42-4167-9B41-B77F0C7A20B2}"/>
              </a:ext>
            </a:extLst>
          </p:cNvPr>
          <p:cNvSpPr>
            <a:spLocks noGrp="1"/>
          </p:cNvSpPr>
          <p:nvPr>
            <p:ph type="title"/>
          </p:nvPr>
        </p:nvSpPr>
        <p:spPr>
          <a:xfrm>
            <a:off x="838200" y="365125"/>
            <a:ext cx="10515600" cy="1325563"/>
          </a:xfrm>
        </p:spPr>
        <p:txBody>
          <a:bodyPr/>
          <a:lstStyle/>
          <a:p>
            <a:r>
              <a:t>Overview</a:t>
            </a:r>
            <a:endParaRPr lang="en-US" dirty="0"/>
          </a:p>
        </p:txBody>
      </p:sp>
      <p:sp>
        <p:nvSpPr>
          <p:cNvPr id="5" name="Content Placeholder 4">
            <a:extLst>
              <a:ext uri="{FF2B5EF4-FFF2-40B4-BE49-F238E27FC236}">
                <a16:creationId xmlns:a16="http://schemas.microsoft.com/office/drawing/2014/main" id="{AA7D2DDE-BF6D-459D-9188-84B17B477993}"/>
              </a:ext>
            </a:extLst>
          </p:cNvPr>
          <p:cNvSpPr>
            <a:spLocks noGrp="1"/>
          </p:cNvSpPr>
          <p:nvPr>
            <p:ph idx="1"/>
          </p:nvPr>
        </p:nvSpPr>
        <p:spPr>
          <a:xfrm>
            <a:off x="838200" y="1825625"/>
            <a:ext cx="10515600" cy="4351338"/>
          </a:xfrm>
        </p:spPr>
        <p:txBody>
          <a:bodyPr lIns="45720" rIns="45720">
            <a:normAutofit/>
          </a:bodyPr>
          <a:lstStyle/>
          <a:p>
            <a:pPr>
              <a:spcAft>
                <a:spcPts val="400"/>
              </a:spcAft>
            </a:pPr>
            <a:r>
              <a:rPr sz="3000">
                <a:solidFill>
                  <a:srgbClr val="000000"/>
                </a:solidFill>
              </a:rPr>
              <a:t>Operating systems and file systems</a:t>
            </a:r>
          </a:p>
          <a:p>
            <a:pPr>
              <a:spcAft>
                <a:spcPts val="400"/>
              </a:spcAft>
            </a:pPr>
            <a:r>
              <a:rPr sz="3000">
                <a:solidFill>
                  <a:srgbClr val="000000"/>
                </a:solidFill>
              </a:rPr>
              <a:t>Virtual File System (VFS) and forensic relevance</a:t>
            </a:r>
          </a:p>
          <a:p>
            <a:pPr>
              <a:spcAft>
                <a:spcPts val="400"/>
              </a:spcAft>
            </a:pPr>
            <a:r>
              <a:rPr sz="3000">
                <a:solidFill>
                  <a:srgbClr val="000000"/>
                </a:solidFill>
              </a:rPr>
              <a:t>Linux filesystem hierarchy, inodes, and metadata</a:t>
            </a:r>
          </a:p>
          <a:p>
            <a:pPr>
              <a:spcAft>
                <a:spcPts val="400"/>
              </a:spcAft>
            </a:pPr>
            <a:r>
              <a:rPr sz="3000">
                <a:solidFill>
                  <a:srgbClr val="000000"/>
                </a:solidFill>
              </a:rPr>
              <a:t>Paths, relative paths, and the $PATH variable</a:t>
            </a:r>
          </a:p>
          <a:p>
            <a:pPr>
              <a:spcAft>
                <a:spcPts val="400"/>
              </a:spcAft>
            </a:pPr>
            <a:r>
              <a:rPr sz="3000">
                <a:solidFill>
                  <a:srgbClr val="000000"/>
                </a:solidFill>
              </a:rPr>
              <a:t>Core Linux commands for digital forensic work</a:t>
            </a:r>
          </a:p>
        </p:txBody>
      </p:sp>
    </p:spTree>
    <p:extLst>
      <p:ext uri="{BB962C8B-B14F-4D97-AF65-F5344CB8AC3E}">
        <p14:creationId xmlns:p14="http://schemas.microsoft.com/office/powerpoint/2010/main" val="593614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31C78D-78A1-49DC-B782-F890DF224CF4}"/>
              </a:ext>
            </a:extLst>
          </p:cNvPr>
          <p:cNvSpPr>
            <a:spLocks noGrp="1"/>
          </p:cNvSpPr>
          <p:nvPr>
            <p:ph type="title"/>
          </p:nvPr>
        </p:nvSpPr>
        <p:spPr>
          <a:xfrm>
            <a:off x="831850" y="1709738"/>
            <a:ext cx="10515600" cy="2852737"/>
          </a:xfrm>
        </p:spPr>
        <p:txBody>
          <a:bodyPr/>
          <a:lstStyle/>
          <a:p>
            <a:r>
              <a:rPr dirty="0"/>
              <a:t>Operating Systems</a:t>
            </a:r>
            <a:endParaRPr lang="en-US" dirty="0"/>
          </a:p>
        </p:txBody>
      </p:sp>
      <p:sp>
        <p:nvSpPr>
          <p:cNvPr id="7" name="Text Placeholder 6">
            <a:extLst>
              <a:ext uri="{FF2B5EF4-FFF2-40B4-BE49-F238E27FC236}">
                <a16:creationId xmlns:a16="http://schemas.microsoft.com/office/drawing/2014/main" id="{884E09AA-5D92-4777-86E9-8B970559F012}"/>
              </a:ext>
            </a:extLst>
          </p:cNvPr>
          <p:cNvSpPr>
            <a:spLocks noGrp="1"/>
          </p:cNvSpPr>
          <p:nvPr>
            <p:ph type="body" idx="1"/>
          </p:nvPr>
        </p:nvSpPr>
        <p:spPr/>
        <p:txBody>
          <a:bodyPr/>
          <a:lstStyle/>
          <a:p>
            <a:endParaRPr lang="en-US"/>
          </a:p>
        </p:txBody>
      </p:sp>
      <p:pic>
        <p:nvPicPr>
          <p:cNvPr id="1026" name="Picture 2" descr="What Is the Most Popular Operating System?">
            <a:extLst>
              <a:ext uri="{FF2B5EF4-FFF2-40B4-BE49-F238E27FC236}">
                <a16:creationId xmlns:a16="http://schemas.microsoft.com/office/drawing/2014/main" id="{7B27D645-11DC-3C58-12C0-8C42113FD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850" y="577188"/>
            <a:ext cx="9753600"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14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C159DE2-C218-3FA2-8FA4-88C586E6C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450"/>
            <a:ext cx="12192000" cy="676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06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B048-CA3B-A14E-B0B3-CAACB45DF66C}"/>
              </a:ext>
            </a:extLst>
          </p:cNvPr>
          <p:cNvSpPr>
            <a:spLocks noGrp="1"/>
          </p:cNvSpPr>
          <p:nvPr>
            <p:ph type="title"/>
          </p:nvPr>
        </p:nvSpPr>
        <p:spPr/>
        <p:txBody>
          <a:bodyPr/>
          <a:lstStyle/>
          <a:p>
            <a:r>
              <a:t>What an operating system manages</a:t>
            </a:r>
          </a:p>
        </p:txBody>
      </p:sp>
      <p:sp>
        <p:nvSpPr>
          <p:cNvPr id="3" name="Content Placeholder 2">
            <a:extLst>
              <a:ext uri="{FF2B5EF4-FFF2-40B4-BE49-F238E27FC236}">
                <a16:creationId xmlns:a16="http://schemas.microsoft.com/office/drawing/2014/main" id="{9A9C0C4B-4004-09C1-8D65-8D612C3FDEBF}"/>
              </a:ext>
            </a:extLst>
          </p:cNvPr>
          <p:cNvSpPr>
            <a:spLocks noGrp="1"/>
          </p:cNvSpPr>
          <p:nvPr>
            <p:ph idx="1"/>
          </p:nvPr>
        </p:nvSpPr>
        <p:spPr>
          <a:xfrm>
            <a:off x="838200" y="1825625"/>
            <a:ext cx="10515600" cy="3703457"/>
          </a:xfrm>
        </p:spPr>
        <p:txBody>
          <a:bodyPr lIns="45720" rIns="45720"/>
          <a:lstStyle/>
          <a:p>
            <a:pPr>
              <a:spcAft>
                <a:spcPts val="400"/>
              </a:spcAft>
            </a:pPr>
            <a:r>
              <a:rPr sz="3100" dirty="0">
                <a:solidFill>
                  <a:srgbClr val="000000"/>
                </a:solidFill>
              </a:rPr>
              <a:t>Processes and threads</a:t>
            </a:r>
          </a:p>
          <a:p>
            <a:pPr>
              <a:spcAft>
                <a:spcPts val="400"/>
              </a:spcAft>
            </a:pPr>
            <a:r>
              <a:rPr sz="3100" dirty="0">
                <a:solidFill>
                  <a:srgbClr val="000000"/>
                </a:solidFill>
              </a:rPr>
              <a:t>Memory and virtual memory</a:t>
            </a:r>
          </a:p>
          <a:p>
            <a:pPr>
              <a:spcAft>
                <a:spcPts val="400"/>
              </a:spcAft>
            </a:pPr>
            <a:r>
              <a:rPr sz="3100" dirty="0">
                <a:solidFill>
                  <a:srgbClr val="000000"/>
                </a:solidFill>
              </a:rPr>
              <a:t>File systems and storage access</a:t>
            </a:r>
          </a:p>
          <a:p>
            <a:pPr>
              <a:spcAft>
                <a:spcPts val="400"/>
              </a:spcAft>
            </a:pPr>
            <a:r>
              <a:rPr sz="3100" dirty="0">
                <a:solidFill>
                  <a:srgbClr val="000000"/>
                </a:solidFill>
              </a:rPr>
              <a:t>Device drivers and hardware I/O</a:t>
            </a:r>
          </a:p>
          <a:p>
            <a:pPr>
              <a:spcAft>
                <a:spcPts val="400"/>
              </a:spcAft>
            </a:pPr>
            <a:r>
              <a:rPr sz="3100" dirty="0">
                <a:solidFill>
                  <a:srgbClr val="000000"/>
                </a:solidFill>
              </a:rPr>
              <a:t>Networking and services</a:t>
            </a:r>
          </a:p>
          <a:p>
            <a:pPr>
              <a:spcAft>
                <a:spcPts val="400"/>
              </a:spcAft>
            </a:pPr>
            <a:r>
              <a:rPr sz="3100" dirty="0">
                <a:solidFill>
                  <a:srgbClr val="000000"/>
                </a:solidFill>
              </a:rPr>
              <a:t>Security, users, and permissions</a:t>
            </a:r>
          </a:p>
        </p:txBody>
      </p:sp>
      <p:pic>
        <p:nvPicPr>
          <p:cNvPr id="1026" name="Picture 2">
            <a:extLst>
              <a:ext uri="{FF2B5EF4-FFF2-40B4-BE49-F238E27FC236}">
                <a16:creationId xmlns:a16="http://schemas.microsoft.com/office/drawing/2014/main" id="{523B010E-086D-8D66-BC5C-B3AC61591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1910" y="1755509"/>
            <a:ext cx="2462607" cy="36416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D4DDFF-F51D-E06F-BED0-53E5B22A9BDC}"/>
              </a:ext>
            </a:extLst>
          </p:cNvPr>
          <p:cNvSpPr txBox="1"/>
          <p:nvPr/>
        </p:nvSpPr>
        <p:spPr>
          <a:xfrm>
            <a:off x="7880734" y="6468306"/>
            <a:ext cx="3344985" cy="261610"/>
          </a:xfrm>
          <a:prstGeom prst="rect">
            <a:avLst/>
          </a:prstGeom>
          <a:noFill/>
        </p:spPr>
        <p:txBody>
          <a:bodyPr wrap="square">
            <a:spAutoFit/>
          </a:bodyPr>
          <a:lstStyle/>
          <a:p>
            <a:r>
              <a:rPr lang="en-US" sz="1100" dirty="0"/>
              <a:t>https://en.wikipedia.org/wiki/Operating_system</a:t>
            </a:r>
          </a:p>
        </p:txBody>
      </p:sp>
      <p:grpSp>
        <p:nvGrpSpPr>
          <p:cNvPr id="7" name="Group 6">
            <a:extLst>
              <a:ext uri="{FF2B5EF4-FFF2-40B4-BE49-F238E27FC236}">
                <a16:creationId xmlns:a16="http://schemas.microsoft.com/office/drawing/2014/main" id="{C57F92D0-FC5E-7690-6978-1B7928E38DEE}"/>
              </a:ext>
            </a:extLst>
          </p:cNvPr>
          <p:cNvGrpSpPr/>
          <p:nvPr/>
        </p:nvGrpSpPr>
        <p:grpSpPr>
          <a:xfrm>
            <a:off x="4284218" y="1822587"/>
            <a:ext cx="3006360" cy="2251440"/>
            <a:chOff x="4301212" y="2000717"/>
            <a:chExt cx="3006360" cy="225144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73E91FA-1618-3425-E528-2F7C69C63833}"/>
                    </a:ext>
                  </a:extLst>
                </p14:cNvPr>
                <p14:cNvContentPartPr/>
                <p14:nvPr/>
              </p14:nvContentPartPr>
              <p14:xfrm>
                <a:off x="4436932" y="2158757"/>
                <a:ext cx="2870640" cy="2093400"/>
              </p14:xfrm>
            </p:contentPart>
          </mc:Choice>
          <mc:Fallback xmlns="">
            <p:pic>
              <p:nvPicPr>
                <p:cNvPr id="4" name="Ink 3">
                  <a:extLst>
                    <a:ext uri="{FF2B5EF4-FFF2-40B4-BE49-F238E27FC236}">
                      <a16:creationId xmlns:a16="http://schemas.microsoft.com/office/drawing/2014/main" id="{773E91FA-1618-3425-E528-2F7C69C63833}"/>
                    </a:ext>
                  </a:extLst>
                </p:cNvPr>
                <p:cNvPicPr/>
                <p:nvPr/>
              </p:nvPicPr>
              <p:blipFill>
                <a:blip r:embed="rId4"/>
                <a:stretch>
                  <a:fillRect/>
                </a:stretch>
              </p:blipFill>
              <p:spPr>
                <a:xfrm>
                  <a:off x="4418932" y="2140757"/>
                  <a:ext cx="2906280" cy="212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05A7F8C-62A2-BFF5-356A-284922675BBF}"/>
                    </a:ext>
                  </a:extLst>
                </p14:cNvPr>
                <p14:cNvContentPartPr/>
                <p14:nvPr/>
              </p14:nvContentPartPr>
              <p14:xfrm>
                <a:off x="4301212" y="2000717"/>
                <a:ext cx="231840" cy="309960"/>
              </p14:xfrm>
            </p:contentPart>
          </mc:Choice>
          <mc:Fallback xmlns="">
            <p:pic>
              <p:nvPicPr>
                <p:cNvPr id="6" name="Ink 5">
                  <a:extLst>
                    <a:ext uri="{FF2B5EF4-FFF2-40B4-BE49-F238E27FC236}">
                      <a16:creationId xmlns:a16="http://schemas.microsoft.com/office/drawing/2014/main" id="{F05A7F8C-62A2-BFF5-356A-284922675BBF}"/>
                    </a:ext>
                  </a:extLst>
                </p:cNvPr>
                <p:cNvPicPr/>
                <p:nvPr/>
              </p:nvPicPr>
              <p:blipFill>
                <a:blip r:embed="rId6"/>
                <a:stretch>
                  <a:fillRect/>
                </a:stretch>
              </p:blipFill>
              <p:spPr>
                <a:xfrm>
                  <a:off x="4283212" y="1982717"/>
                  <a:ext cx="267480" cy="345600"/>
                </a:xfrm>
                <a:prstGeom prst="rect">
                  <a:avLst/>
                </a:prstGeom>
              </p:spPr>
            </p:pic>
          </mc:Fallback>
        </mc:AlternateContent>
      </p:grpSp>
      <p:grpSp>
        <p:nvGrpSpPr>
          <p:cNvPr id="10" name="Group 9">
            <a:extLst>
              <a:ext uri="{FF2B5EF4-FFF2-40B4-BE49-F238E27FC236}">
                <a16:creationId xmlns:a16="http://schemas.microsoft.com/office/drawing/2014/main" id="{C172E48D-2617-FDA6-63AC-2303890321BF}"/>
              </a:ext>
            </a:extLst>
          </p:cNvPr>
          <p:cNvGrpSpPr/>
          <p:nvPr/>
        </p:nvGrpSpPr>
        <p:grpSpPr>
          <a:xfrm>
            <a:off x="2165297" y="4070988"/>
            <a:ext cx="5061240" cy="1387440"/>
            <a:chOff x="2105572" y="4360157"/>
            <a:chExt cx="5061240" cy="13874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C018BE5-11FC-A0ED-5046-4DB22B425EFC}"/>
                    </a:ext>
                  </a:extLst>
                </p14:cNvPr>
                <p14:cNvContentPartPr/>
                <p14:nvPr/>
              </p14:nvContentPartPr>
              <p14:xfrm>
                <a:off x="2125012" y="4360157"/>
                <a:ext cx="5041800" cy="1167840"/>
              </p14:xfrm>
            </p:contentPart>
          </mc:Choice>
          <mc:Fallback xmlns="">
            <p:pic>
              <p:nvPicPr>
                <p:cNvPr id="8" name="Ink 7">
                  <a:extLst>
                    <a:ext uri="{FF2B5EF4-FFF2-40B4-BE49-F238E27FC236}">
                      <a16:creationId xmlns:a16="http://schemas.microsoft.com/office/drawing/2014/main" id="{1C018BE5-11FC-A0ED-5046-4DB22B425EFC}"/>
                    </a:ext>
                  </a:extLst>
                </p:cNvPr>
                <p:cNvPicPr/>
                <p:nvPr/>
              </p:nvPicPr>
              <p:blipFill>
                <a:blip r:embed="rId8"/>
                <a:stretch>
                  <a:fillRect/>
                </a:stretch>
              </p:blipFill>
              <p:spPr>
                <a:xfrm>
                  <a:off x="2107372" y="4342517"/>
                  <a:ext cx="5077440" cy="1203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EB84EFFD-BA92-F2A5-A02E-D32B49A62B6E}"/>
                    </a:ext>
                  </a:extLst>
                </p14:cNvPr>
                <p14:cNvContentPartPr/>
                <p14:nvPr/>
              </p14:nvContentPartPr>
              <p14:xfrm>
                <a:off x="2105572" y="5337917"/>
                <a:ext cx="220320" cy="409680"/>
              </p14:xfrm>
            </p:contentPart>
          </mc:Choice>
          <mc:Fallback xmlns="">
            <p:pic>
              <p:nvPicPr>
                <p:cNvPr id="9" name="Ink 8">
                  <a:extLst>
                    <a:ext uri="{FF2B5EF4-FFF2-40B4-BE49-F238E27FC236}">
                      <a16:creationId xmlns:a16="http://schemas.microsoft.com/office/drawing/2014/main" id="{EB84EFFD-BA92-F2A5-A02E-D32B49A62B6E}"/>
                    </a:ext>
                  </a:extLst>
                </p:cNvPr>
                <p:cNvPicPr/>
                <p:nvPr/>
              </p:nvPicPr>
              <p:blipFill>
                <a:blip r:embed="rId10"/>
                <a:stretch>
                  <a:fillRect/>
                </a:stretch>
              </p:blipFill>
              <p:spPr>
                <a:xfrm>
                  <a:off x="2087932" y="5319917"/>
                  <a:ext cx="255960" cy="445320"/>
                </a:xfrm>
                <a:prstGeom prst="rect">
                  <a:avLst/>
                </a:prstGeom>
              </p:spPr>
            </p:pic>
          </mc:Fallback>
        </mc:AlternateContent>
      </p:grpSp>
      <p:sp>
        <p:nvSpPr>
          <p:cNvPr id="1027" name="Rounded Rectangle 1026"/>
          <p:cNvSpPr/>
          <p:nvPr/>
        </p:nvSpPr>
        <p:spPr>
          <a:xfrm>
            <a:off x="838199" y="5774724"/>
            <a:ext cx="9246577" cy="475488"/>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600" b="0" dirty="0">
                <a:solidFill>
                  <a:srgbClr val="000000"/>
                </a:solidFill>
              </a:rPr>
              <a:t>Forensic focus: OS services generate artifacts such as logs, metadata, process state, network state, and file access traces.</a:t>
            </a:r>
          </a:p>
        </p:txBody>
      </p:sp>
    </p:spTree>
    <p:extLst>
      <p:ext uri="{BB962C8B-B14F-4D97-AF65-F5344CB8AC3E}">
        <p14:creationId xmlns:p14="http://schemas.microsoft.com/office/powerpoint/2010/main" val="184989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31C78D-78A1-49DC-B782-F890DF224CF4}"/>
              </a:ext>
            </a:extLst>
          </p:cNvPr>
          <p:cNvSpPr>
            <a:spLocks noGrp="1"/>
          </p:cNvSpPr>
          <p:nvPr>
            <p:ph type="title"/>
          </p:nvPr>
        </p:nvSpPr>
        <p:spPr>
          <a:xfrm>
            <a:off x="831850" y="1709738"/>
            <a:ext cx="10515600" cy="2852737"/>
          </a:xfrm>
        </p:spPr>
        <p:txBody>
          <a:bodyPr/>
          <a:lstStyle/>
          <a:p>
            <a:pPr algn="l"/>
            <a:r>
              <a:rPr sz="4400" dirty="0">
                <a:solidFill>
                  <a:srgbClr val="000000"/>
                </a:solidFill>
                <a:latin typeface="Calibri"/>
              </a:rPr>
              <a:t>File </a:t>
            </a:r>
            <a:r>
              <a:rPr lang="en-US" sz="4400" dirty="0">
                <a:solidFill>
                  <a:srgbClr val="000000"/>
                </a:solidFill>
                <a:latin typeface="Calibri"/>
              </a:rPr>
              <a:t>and File Systems</a:t>
            </a:r>
            <a:endParaRPr lang="en-US" dirty="0"/>
          </a:p>
        </p:txBody>
      </p:sp>
      <p:sp>
        <p:nvSpPr>
          <p:cNvPr id="7" name="Text Placeholder 6">
            <a:extLst>
              <a:ext uri="{FF2B5EF4-FFF2-40B4-BE49-F238E27FC236}">
                <a16:creationId xmlns:a16="http://schemas.microsoft.com/office/drawing/2014/main" id="{884E09AA-5D92-4777-86E9-8B970559F012}"/>
              </a:ext>
            </a:extLst>
          </p:cNvPr>
          <p:cNvSpPr>
            <a:spLocks noGrp="1"/>
          </p:cNvSpPr>
          <p:nvPr>
            <p:ph type="body" idx="1"/>
          </p:nvPr>
        </p:nvSpPr>
        <p:spPr/>
        <p:txBody>
          <a:bodyPr/>
          <a:lstStyle/>
          <a:p>
            <a:endParaRPr lang="en-US"/>
          </a:p>
        </p:txBody>
      </p:sp>
      <p:pic>
        <p:nvPicPr>
          <p:cNvPr id="1028" name="Picture 4" descr="What is File System in Windows Operating Systems?">
            <a:extLst>
              <a:ext uri="{FF2B5EF4-FFF2-40B4-BE49-F238E27FC236}">
                <a16:creationId xmlns:a16="http://schemas.microsoft.com/office/drawing/2014/main" id="{B9366814-3565-4937-98C4-5C1391E339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8224" y="768350"/>
            <a:ext cx="4937496" cy="2798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794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2853D5-A741-4B25-B776-D56570D99CC7}"/>
              </a:ext>
            </a:extLst>
          </p:cNvPr>
          <p:cNvSpPr>
            <a:spLocks noGrp="1"/>
          </p:cNvSpPr>
          <p:nvPr>
            <p:ph type="title"/>
          </p:nvPr>
        </p:nvSpPr>
        <p:spPr/>
        <p:txBody>
          <a:bodyPr/>
          <a:lstStyle/>
          <a:p>
            <a:pPr algn="l"/>
            <a:r>
              <a:rPr sz="4400" dirty="0">
                <a:solidFill>
                  <a:srgbClr val="000000"/>
                </a:solidFill>
                <a:latin typeface="Calibri"/>
              </a:rPr>
              <a:t>Files and file systems</a:t>
            </a:r>
          </a:p>
        </p:txBody>
      </p:sp>
      <p:sp>
        <p:nvSpPr>
          <p:cNvPr id="5" name="Content Placeholder 4">
            <a:extLst>
              <a:ext uri="{FF2B5EF4-FFF2-40B4-BE49-F238E27FC236}">
                <a16:creationId xmlns:a16="http://schemas.microsoft.com/office/drawing/2014/main" id="{D2506662-0E52-4D90-97D1-D5742A001103}"/>
              </a:ext>
            </a:extLst>
          </p:cNvPr>
          <p:cNvSpPr>
            <a:spLocks noGrp="1"/>
          </p:cNvSpPr>
          <p:nvPr>
            <p:ph idx="1"/>
          </p:nvPr>
        </p:nvSpPr>
        <p:spPr>
          <a:xfrm>
            <a:off x="838200" y="1825625"/>
            <a:ext cx="5679831" cy="4351338"/>
          </a:xfrm>
        </p:spPr>
        <p:txBody>
          <a:bodyPr>
            <a:normAutofit lnSpcReduction="10000"/>
          </a:bodyPr>
          <a:lstStyle/>
          <a:p>
            <a:r>
              <a:rPr sz="2400">
                <a:solidFill>
                  <a:srgbClr val="000000"/>
                </a:solidFill>
                <a:latin typeface="Calibri"/>
              </a:rPr>
              <a:t>A file is a named collection of bytes plus metadata.</a:t>
            </a:r>
          </a:p>
          <a:p>
            <a:r>
              <a:rPr sz="2400">
                <a:solidFill>
                  <a:srgbClr val="000000"/>
                </a:solidFill>
                <a:latin typeface="Calibri"/>
              </a:rPr>
              <a:t>Files are stored on non-volatile media such as disks, SSDs, optical media, and removable storage.</a:t>
            </a:r>
          </a:p>
          <a:p>
            <a:r>
              <a:rPr sz="2400">
                <a:solidFill>
                  <a:srgbClr val="000000"/>
                </a:solidFill>
                <a:latin typeface="Calibri"/>
              </a:rPr>
              <a:t>A file system defines how files are named, located, allocated, stored, deleted, and recovered.</a:t>
            </a:r>
          </a:p>
          <a:p>
            <a:r>
              <a:rPr sz="2400">
                <a:solidFill>
                  <a:srgbClr val="000000"/>
                </a:solidFill>
                <a:latin typeface="Calibri"/>
              </a:rPr>
              <a:t>Forensics depends on file-system metadata such as timestamps, paths, allocation status, and deleted-record structures.</a:t>
            </a:r>
          </a:p>
        </p:txBody>
      </p:sp>
      <p:pic>
        <p:nvPicPr>
          <p:cNvPr id="3074" name="Picture 2" descr="Is It Finally Time to Adopt Microsoft&amp;#39;s Resilient File System? | IT Pro">
            <a:extLst>
              <a:ext uri="{FF2B5EF4-FFF2-40B4-BE49-F238E27FC236}">
                <a16:creationId xmlns:a16="http://schemas.microsoft.com/office/drawing/2014/main" id="{32225EEF-AB75-4962-933A-A91958AA4A0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3480"/>
          <a:stretch/>
        </p:blipFill>
        <p:spPr bwMode="auto">
          <a:xfrm>
            <a:off x="7416879" y="1143103"/>
            <a:ext cx="3760840" cy="25534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Zoomie Kids Calin Office Classroom File Folder Sorter &amp;amp; Reviews | Wayfair">
            <a:extLst>
              <a:ext uri="{FF2B5EF4-FFF2-40B4-BE49-F238E27FC236}">
                <a16:creationId xmlns:a16="http://schemas.microsoft.com/office/drawing/2014/main" id="{085BDC11-4E93-45EF-9163-F735701A9F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37758" y="3784058"/>
            <a:ext cx="4319081" cy="28793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486E3E75-F513-4CCC-9807-6836FF2D4BA6}"/>
              </a:ext>
            </a:extLst>
          </p:cNvPr>
          <p:cNvCxnSpPr>
            <a:endCxn id="3074" idx="1"/>
          </p:cNvCxnSpPr>
          <p:nvPr/>
        </p:nvCxnSpPr>
        <p:spPr>
          <a:xfrm flipV="1">
            <a:off x="6235430" y="2419807"/>
            <a:ext cx="1181449" cy="2424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B39C33C-61D5-4C73-AECD-2B8D3BE7DEF6}"/>
              </a:ext>
            </a:extLst>
          </p:cNvPr>
          <p:cNvCxnSpPr>
            <a:endCxn id="3076" idx="1"/>
          </p:cNvCxnSpPr>
          <p:nvPr/>
        </p:nvCxnSpPr>
        <p:spPr>
          <a:xfrm>
            <a:off x="6237170" y="4829908"/>
            <a:ext cx="900588" cy="39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970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A8FA8CC-2F2A-1C26-2721-32A9D9409173}"/>
              </a:ext>
            </a:extLst>
          </p:cNvPr>
          <p:cNvPicPr>
            <a:picLocks noChangeAspect="1"/>
          </p:cNvPicPr>
          <p:nvPr/>
        </p:nvPicPr>
        <p:blipFill>
          <a:blip r:embed="rId2"/>
          <a:stretch>
            <a:fillRect/>
          </a:stretch>
        </p:blipFill>
        <p:spPr>
          <a:xfrm>
            <a:off x="1414324" y="1178560"/>
            <a:ext cx="8229600" cy="5486400"/>
          </a:xfrm>
          <a:prstGeom prst="rect">
            <a:avLst/>
          </a:prstGeom>
        </p:spPr>
      </p:pic>
      <p:sp>
        <p:nvSpPr>
          <p:cNvPr id="2" name="Title 1">
            <a:extLst>
              <a:ext uri="{FF2B5EF4-FFF2-40B4-BE49-F238E27FC236}">
                <a16:creationId xmlns:a16="http://schemas.microsoft.com/office/drawing/2014/main" id="{3CF52BF1-81E8-3BE3-0328-52F1393084CB}"/>
              </a:ext>
            </a:extLst>
          </p:cNvPr>
          <p:cNvSpPr>
            <a:spLocks noGrp="1"/>
          </p:cNvSpPr>
          <p:nvPr>
            <p:ph type="title"/>
          </p:nvPr>
        </p:nvSpPr>
        <p:spPr/>
        <p:txBody>
          <a:bodyPr/>
          <a:lstStyle/>
          <a:p>
            <a:r>
              <a:rPr lang="en-US" dirty="0"/>
              <a:t>How are files organized?</a:t>
            </a:r>
          </a:p>
        </p:txBody>
      </p:sp>
    </p:spTree>
    <p:extLst>
      <p:ext uri="{BB962C8B-B14F-4D97-AF65-F5344CB8AC3E}">
        <p14:creationId xmlns:p14="http://schemas.microsoft.com/office/powerpoint/2010/main" val="2789471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C11D-4B1E-4DF4-9A73-97F37058BC9E}"/>
              </a:ext>
            </a:extLst>
          </p:cNvPr>
          <p:cNvSpPr>
            <a:spLocks noGrp="1"/>
          </p:cNvSpPr>
          <p:nvPr>
            <p:ph type="title"/>
          </p:nvPr>
        </p:nvSpPr>
        <p:spPr/>
        <p:txBody>
          <a:bodyPr/>
          <a:lstStyle/>
          <a:p>
            <a:pPr algn="l"/>
            <a:r>
              <a:rPr sz="4400" dirty="0">
                <a:solidFill>
                  <a:srgbClr val="000000"/>
                </a:solidFill>
                <a:latin typeface="Calibri"/>
              </a:rPr>
              <a:t>File system</a:t>
            </a:r>
            <a:r>
              <a:rPr lang="en-US" sz="4400" dirty="0">
                <a:solidFill>
                  <a:srgbClr val="000000"/>
                </a:solidFill>
                <a:latin typeface="Calibri"/>
              </a:rPr>
              <a:t> types</a:t>
            </a:r>
            <a:endParaRPr lang="en-US" dirty="0"/>
          </a:p>
        </p:txBody>
      </p:sp>
      <p:sp>
        <p:nvSpPr>
          <p:cNvPr id="3" name="Content Placeholder 2">
            <a:extLst>
              <a:ext uri="{FF2B5EF4-FFF2-40B4-BE49-F238E27FC236}">
                <a16:creationId xmlns:a16="http://schemas.microsoft.com/office/drawing/2014/main" id="{7138FC76-F1E2-4FCD-BC9D-9155F062D660}"/>
              </a:ext>
            </a:extLst>
          </p:cNvPr>
          <p:cNvSpPr>
            <a:spLocks noGrp="1"/>
          </p:cNvSpPr>
          <p:nvPr>
            <p:ph idx="1"/>
          </p:nvPr>
        </p:nvSpPr>
        <p:spPr>
          <a:xfrm>
            <a:off x="838200" y="1825625"/>
            <a:ext cx="6703711" cy="4351338"/>
          </a:xfrm>
        </p:spPr>
        <p:txBody>
          <a:bodyPr>
            <a:normAutofit/>
          </a:bodyPr>
          <a:lstStyle/>
          <a:p>
            <a:r>
              <a:rPr sz="2100">
                <a:solidFill>
                  <a:srgbClr val="000000"/>
                </a:solidFill>
                <a:latin typeface="Calibri"/>
              </a:rPr>
              <a:t>Unix and Unix-like systems</a:t>
            </a:r>
          </a:p>
          <a:p>
            <a:pPr lvl="1"/>
            <a:r>
              <a:rPr sz="2100">
                <a:solidFill>
                  <a:srgbClr val="000000"/>
                </a:solidFill>
                <a:latin typeface="Calibri"/>
              </a:rPr>
              <a:t>Linux: ext2/3/4, XFS, Btrfs, and others</a:t>
            </a:r>
          </a:p>
          <a:p>
            <a:pPr lvl="1"/>
            <a:r>
              <a:rPr sz="2100">
                <a:solidFill>
                  <a:srgbClr val="000000"/>
                </a:solidFill>
                <a:latin typeface="Calibri"/>
              </a:rPr>
              <a:t>Solaris: UFS/ZFS</a:t>
            </a:r>
          </a:p>
          <a:p>
            <a:r>
              <a:rPr sz="2100">
                <a:solidFill>
                  <a:srgbClr val="000000"/>
                </a:solidFill>
                <a:latin typeface="Calibri"/>
              </a:rPr>
              <a:t>macOS</a:t>
            </a:r>
          </a:p>
          <a:p>
            <a:pPr lvl="1"/>
            <a:r>
              <a:rPr sz="2100">
                <a:solidFill>
                  <a:srgbClr val="000000"/>
                </a:solidFill>
                <a:latin typeface="Calibri"/>
              </a:rPr>
              <a:t>APFS is current; HFS+ is legacy.</a:t>
            </a:r>
          </a:p>
          <a:p>
            <a:r>
              <a:rPr sz="2100">
                <a:solidFill>
                  <a:srgbClr val="000000"/>
                </a:solidFill>
                <a:latin typeface="Calibri"/>
              </a:rPr>
              <a:t>Microsoft Windows</a:t>
            </a:r>
          </a:p>
          <a:p>
            <a:pPr lvl="1"/>
            <a:r>
              <a:rPr sz="2100">
                <a:solidFill>
                  <a:srgbClr val="000000"/>
                </a:solidFill>
                <a:latin typeface="Calibri"/>
              </a:rPr>
              <a:t>NTFS is the main Windows file system; FAT/exFAT are common on removable media.</a:t>
            </a:r>
          </a:p>
          <a:p>
            <a:r>
              <a:rPr sz="2100">
                <a:solidFill>
                  <a:srgbClr val="000000"/>
                </a:solidFill>
                <a:latin typeface="Calibri"/>
              </a:rPr>
              <a:t>Forensic impact: file-system type controls timestamps, metadata, allocation, deletion, and recovery behavior.</a:t>
            </a:r>
          </a:p>
        </p:txBody>
      </p:sp>
      <p:pic>
        <p:nvPicPr>
          <p:cNvPr id="5" name="Picture 4">
            <a:extLst>
              <a:ext uri="{FF2B5EF4-FFF2-40B4-BE49-F238E27FC236}">
                <a16:creationId xmlns:a16="http://schemas.microsoft.com/office/drawing/2014/main" id="{E7636623-B544-0B74-D003-7633B2FF3D7C}"/>
              </a:ext>
            </a:extLst>
          </p:cNvPr>
          <p:cNvPicPr>
            <a:picLocks noChangeAspect="1"/>
          </p:cNvPicPr>
          <p:nvPr/>
        </p:nvPicPr>
        <p:blipFill>
          <a:blip r:embed="rId2"/>
          <a:stretch>
            <a:fillRect/>
          </a:stretch>
        </p:blipFill>
        <p:spPr>
          <a:xfrm>
            <a:off x="7872861" y="3593730"/>
            <a:ext cx="2190449" cy="1000069"/>
          </a:xfrm>
          <a:prstGeom prst="rect">
            <a:avLst/>
          </a:prstGeom>
        </p:spPr>
      </p:pic>
      <p:pic>
        <p:nvPicPr>
          <p:cNvPr id="2050" name="Picture 2" descr="Solaris Logo and symbol, meaning, history, PNG">
            <a:extLst>
              <a:ext uri="{FF2B5EF4-FFF2-40B4-BE49-F238E27FC236}">
                <a16:creationId xmlns:a16="http://schemas.microsoft.com/office/drawing/2014/main" id="{BC3887AB-CE81-DFB7-FB7A-C521151C51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8859" y="2762149"/>
            <a:ext cx="1212895" cy="7580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1.bp.blogspot.com/-25u7W6zPeUQ/X45HcSFATDI/AAAA...">
            <a:extLst>
              <a:ext uri="{FF2B5EF4-FFF2-40B4-BE49-F238E27FC236}">
                <a16:creationId xmlns:a16="http://schemas.microsoft.com/office/drawing/2014/main" id="{98174F3F-3E58-3B41-F6B7-C05A6CDCBC9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8859" y="1858954"/>
            <a:ext cx="1565688" cy="5218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4340131-9613-A9C4-E5E7-4922698976D0}"/>
              </a:ext>
            </a:extLst>
          </p:cNvPr>
          <p:cNvSpPr txBox="1"/>
          <p:nvPr/>
        </p:nvSpPr>
        <p:spPr>
          <a:xfrm>
            <a:off x="7872861" y="2380850"/>
            <a:ext cx="2384241" cy="307777"/>
          </a:xfrm>
          <a:prstGeom prst="rect">
            <a:avLst/>
          </a:prstGeom>
          <a:noFill/>
        </p:spPr>
        <p:txBody>
          <a:bodyPr wrap="square">
            <a:spAutoFit/>
          </a:bodyPr>
          <a:lstStyle/>
          <a:p>
            <a:r>
              <a:rPr sz="1400" b="0">
                <a:solidFill>
                  <a:srgbClr val="000000"/>
                </a:solidFill>
                <a:latin typeface="Calibri"/>
              </a:rPr>
              <a:t>Extended file system family</a:t>
            </a:r>
          </a:p>
        </p:txBody>
      </p:sp>
      <p:cxnSp>
        <p:nvCxnSpPr>
          <p:cNvPr id="9" name="Straight Arrow Connector 8">
            <a:extLst>
              <a:ext uri="{FF2B5EF4-FFF2-40B4-BE49-F238E27FC236}">
                <a16:creationId xmlns:a16="http://schemas.microsoft.com/office/drawing/2014/main" id="{E277DEE4-22E0-4ABE-CB06-FE9F084304DD}"/>
              </a:ext>
            </a:extLst>
          </p:cNvPr>
          <p:cNvCxnSpPr/>
          <p:nvPr/>
        </p:nvCxnSpPr>
        <p:spPr>
          <a:xfrm flipV="1">
            <a:off x="5093435" y="2206651"/>
            <a:ext cx="2667629" cy="328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D9C8DA-7137-1401-B889-9D56E47A790A}"/>
              </a:ext>
            </a:extLst>
          </p:cNvPr>
          <p:cNvCxnSpPr/>
          <p:nvPr/>
        </p:nvCxnSpPr>
        <p:spPr>
          <a:xfrm>
            <a:off x="2780985" y="2917012"/>
            <a:ext cx="5017865" cy="30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41BA95F-0008-508F-82A5-BC85DA8B7CD3}"/>
              </a:ext>
            </a:extLst>
          </p:cNvPr>
          <p:cNvCxnSpPr>
            <a:endCxn id="3" idx="3"/>
          </p:cNvCxnSpPr>
          <p:nvPr/>
        </p:nvCxnSpPr>
        <p:spPr>
          <a:xfrm>
            <a:off x="2856555" y="3294863"/>
            <a:ext cx="4685356" cy="706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E8E53BE6-91EF-8619-EE07-4AAF8FB89FD3}"/>
              </a:ext>
            </a:extLst>
          </p:cNvPr>
          <p:cNvPicPr>
            <a:picLocks noChangeAspect="1"/>
          </p:cNvPicPr>
          <p:nvPr/>
        </p:nvPicPr>
        <p:blipFill>
          <a:blip r:embed="rId5"/>
          <a:stretch>
            <a:fillRect/>
          </a:stretch>
        </p:blipFill>
        <p:spPr>
          <a:xfrm>
            <a:off x="7872861" y="5130646"/>
            <a:ext cx="1550749" cy="1115711"/>
          </a:xfrm>
          <a:prstGeom prst="rect">
            <a:avLst/>
          </a:prstGeom>
        </p:spPr>
      </p:pic>
      <p:cxnSp>
        <p:nvCxnSpPr>
          <p:cNvPr id="17" name="Straight Arrow Connector 16">
            <a:extLst>
              <a:ext uri="{FF2B5EF4-FFF2-40B4-BE49-F238E27FC236}">
                <a16:creationId xmlns:a16="http://schemas.microsoft.com/office/drawing/2014/main" id="{2C4FDA71-F17D-B3D5-A610-455906CF5B23}"/>
              </a:ext>
            </a:extLst>
          </p:cNvPr>
          <p:cNvCxnSpPr>
            <a:endCxn id="15" idx="1"/>
          </p:cNvCxnSpPr>
          <p:nvPr/>
        </p:nvCxnSpPr>
        <p:spPr>
          <a:xfrm>
            <a:off x="4277276" y="4413302"/>
            <a:ext cx="3595585" cy="127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271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AEE1F5-B20E-446A-BC5C-E2C244FCDCDE}"/>
              </a:ext>
            </a:extLst>
          </p:cNvPr>
          <p:cNvPicPr>
            <a:picLocks noChangeAspect="1"/>
          </p:cNvPicPr>
          <p:nvPr/>
        </p:nvPicPr>
        <p:blipFill rotWithShape="1">
          <a:blip r:embed="rId3"/>
          <a:srcRect b="6439"/>
          <a:stretch/>
        </p:blipFill>
        <p:spPr>
          <a:xfrm>
            <a:off x="6636988" y="142630"/>
            <a:ext cx="4901113" cy="6416431"/>
          </a:xfrm>
          <a:prstGeom prst="rect">
            <a:avLst/>
          </a:prstGeom>
        </p:spPr>
      </p:pic>
      <p:pic>
        <p:nvPicPr>
          <p:cNvPr id="5" name="Picture 4">
            <a:extLst>
              <a:ext uri="{FF2B5EF4-FFF2-40B4-BE49-F238E27FC236}">
                <a16:creationId xmlns:a16="http://schemas.microsoft.com/office/drawing/2014/main" id="{6E8BC2A8-618E-4545-8366-359692B7BC39}"/>
              </a:ext>
            </a:extLst>
          </p:cNvPr>
          <p:cNvPicPr>
            <a:picLocks noChangeAspect="1"/>
          </p:cNvPicPr>
          <p:nvPr/>
        </p:nvPicPr>
        <p:blipFill>
          <a:blip r:embed="rId4"/>
          <a:stretch>
            <a:fillRect/>
          </a:stretch>
        </p:blipFill>
        <p:spPr>
          <a:xfrm>
            <a:off x="1010050" y="2143125"/>
            <a:ext cx="4286250" cy="2571750"/>
          </a:xfrm>
          <a:prstGeom prst="rect">
            <a:avLst/>
          </a:prstGeom>
        </p:spPr>
      </p:pic>
      <p:sp>
        <p:nvSpPr>
          <p:cNvPr id="6" name="Arrow: Right 5">
            <a:extLst>
              <a:ext uri="{FF2B5EF4-FFF2-40B4-BE49-F238E27FC236}">
                <a16:creationId xmlns:a16="http://schemas.microsoft.com/office/drawing/2014/main" id="{CEFCA664-8861-49EE-97F1-94D59CA66D1B}"/>
              </a:ext>
            </a:extLst>
          </p:cNvPr>
          <p:cNvSpPr/>
          <p:nvPr/>
        </p:nvSpPr>
        <p:spPr>
          <a:xfrm>
            <a:off x="5555013" y="3210128"/>
            <a:ext cx="946307"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85800" y="384048"/>
            <a:ext cx="5120640" cy="101803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2400" b="1" dirty="0">
                <a:solidFill>
                  <a:srgbClr val="000000"/>
                </a:solidFill>
                <a:latin typeface="Calibri"/>
              </a:rPr>
              <a:t>File allocation: a file may occupy non-contiguous blocks</a:t>
            </a:r>
          </a:p>
        </p:txBody>
      </p:sp>
      <p:sp>
        <p:nvSpPr>
          <p:cNvPr id="8" name="Rectangle 7"/>
          <p:cNvSpPr/>
          <p:nvPr/>
        </p:nvSpPr>
        <p:spPr>
          <a:xfrm>
            <a:off x="868680" y="5349240"/>
            <a:ext cx="5120640" cy="457200"/>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000000"/>
                </a:solidFill>
                <a:latin typeface="Calibri"/>
              </a:rPr>
              <a:t>The allocation table/map tells the system which blocks belong to the file.</a:t>
            </a:r>
          </a:p>
        </p:txBody>
      </p:sp>
    </p:spTree>
    <p:extLst>
      <p:ext uri="{BB962C8B-B14F-4D97-AF65-F5344CB8AC3E}">
        <p14:creationId xmlns:p14="http://schemas.microsoft.com/office/powerpoint/2010/main" val="449940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8BC2A8-618E-4545-8366-359692B7BC39}"/>
              </a:ext>
            </a:extLst>
          </p:cNvPr>
          <p:cNvPicPr>
            <a:picLocks noChangeAspect="1"/>
          </p:cNvPicPr>
          <p:nvPr/>
        </p:nvPicPr>
        <p:blipFill>
          <a:blip r:embed="rId3"/>
          <a:stretch>
            <a:fillRect/>
          </a:stretch>
        </p:blipFill>
        <p:spPr>
          <a:xfrm>
            <a:off x="5433557" y="2260354"/>
            <a:ext cx="5624230" cy="3374538"/>
          </a:xfrm>
          <a:prstGeom prst="rect">
            <a:avLst/>
          </a:prstGeom>
        </p:spPr>
      </p:pic>
      <p:sp>
        <p:nvSpPr>
          <p:cNvPr id="3" name="TextBox 2">
            <a:extLst>
              <a:ext uri="{FF2B5EF4-FFF2-40B4-BE49-F238E27FC236}">
                <a16:creationId xmlns:a16="http://schemas.microsoft.com/office/drawing/2014/main" id="{57C43E80-8623-C847-A90C-D8DA224DBE77}"/>
              </a:ext>
            </a:extLst>
          </p:cNvPr>
          <p:cNvSpPr txBox="1"/>
          <p:nvPr/>
        </p:nvSpPr>
        <p:spPr>
          <a:xfrm>
            <a:off x="1010050" y="2338509"/>
            <a:ext cx="3830001" cy="830997"/>
          </a:xfrm>
          <a:prstGeom prst="rect">
            <a:avLst/>
          </a:prstGeom>
          <a:noFill/>
        </p:spPr>
        <p:txBody>
          <a:bodyPr wrap="square">
            <a:spAutoFit/>
          </a:bodyPr>
          <a:lstStyle/>
          <a:p>
            <a:r>
              <a:t>Managing files vs. managing storage blocks</a:t>
            </a:r>
            <a:endParaRPr lang="en-US" sz="2800" dirty="0"/>
          </a:p>
        </p:txBody>
      </p:sp>
      <p:sp>
        <p:nvSpPr>
          <p:cNvPr id="15" name="Title 14">
            <a:extLst>
              <a:ext uri="{FF2B5EF4-FFF2-40B4-BE49-F238E27FC236}">
                <a16:creationId xmlns:a16="http://schemas.microsoft.com/office/drawing/2014/main" id="{015251E9-4A97-4948-2DFA-685463E81EDA}"/>
              </a:ext>
            </a:extLst>
          </p:cNvPr>
          <p:cNvSpPr>
            <a:spLocks noGrp="1"/>
          </p:cNvSpPr>
          <p:nvPr>
            <p:ph type="title"/>
          </p:nvPr>
        </p:nvSpPr>
        <p:spPr>
          <a:xfrm>
            <a:off x="838200" y="507115"/>
            <a:ext cx="10515600" cy="1325563"/>
          </a:xfrm>
        </p:spPr>
        <p:txBody>
          <a:bodyPr/>
          <a:lstStyle/>
          <a:p>
            <a:r>
              <a:rPr lang="en-GB" dirty="0"/>
              <a:t>Manage files vs. manage storage boxes</a:t>
            </a:r>
            <a:endParaRPr lang="en-US" dirty="0"/>
          </a:p>
        </p:txBody>
      </p:sp>
      <p:graphicFrame>
        <p:nvGraphicFramePr>
          <p:cNvPr id="16" name="Table 16">
            <a:extLst>
              <a:ext uri="{FF2B5EF4-FFF2-40B4-BE49-F238E27FC236}">
                <a16:creationId xmlns:a16="http://schemas.microsoft.com/office/drawing/2014/main" id="{DFD81F7D-B589-3BA8-AE3B-468B8C93FF68}"/>
              </a:ext>
            </a:extLst>
          </p:cNvPr>
          <p:cNvGraphicFramePr>
            <a:graphicFrameLocks noGrp="1"/>
          </p:cNvGraphicFramePr>
          <p:nvPr>
            <p:extLst>
              <p:ext uri="{D42A27DB-BD31-4B8C-83A1-F6EECF244321}">
                <p14:modId xmlns:p14="http://schemas.microsoft.com/office/powerpoint/2010/main" val="4103654446"/>
              </p:ext>
            </p:extLst>
          </p:nvPr>
        </p:nvGraphicFramePr>
        <p:xfrm>
          <a:off x="1010050" y="3675337"/>
          <a:ext cx="3743570" cy="1112520"/>
        </p:xfrm>
        <a:graphic>
          <a:graphicData uri="http://schemas.openxmlformats.org/drawingml/2006/table">
            <a:tbl>
              <a:tblPr firstRow="1" bandRow="1">
                <a:tableStyleId>{5940675A-B579-460E-94D1-54222C63F5DA}</a:tableStyleId>
              </a:tblPr>
              <a:tblGrid>
                <a:gridCol w="1871785">
                  <a:extLst>
                    <a:ext uri="{9D8B030D-6E8A-4147-A177-3AD203B41FA5}">
                      <a16:colId xmlns:a16="http://schemas.microsoft.com/office/drawing/2014/main" val="1399489213"/>
                    </a:ext>
                  </a:extLst>
                </a:gridCol>
                <a:gridCol w="1871785">
                  <a:extLst>
                    <a:ext uri="{9D8B030D-6E8A-4147-A177-3AD203B41FA5}">
                      <a16:colId xmlns:a16="http://schemas.microsoft.com/office/drawing/2014/main" val="1765312138"/>
                    </a:ext>
                  </a:extLst>
                </a:gridCol>
              </a:tblGrid>
              <a:tr h="370840">
                <a:tc>
                  <a:txBody>
                    <a:bodyPr/>
                    <a:lstStyle/>
                    <a:p>
                      <a:r>
                        <a:rPr lang="en-US" b="1" dirty="0"/>
                        <a:t>Name</a:t>
                      </a:r>
                    </a:p>
                  </a:txBody>
                  <a:tcPr/>
                </a:tc>
                <a:tc>
                  <a:txBody>
                    <a:bodyPr/>
                    <a:lstStyle/>
                    <a:p>
                      <a:r>
                        <a:rPr lang="en-US" sz="1800" b="1" dirty="0"/>
                        <a:t>Boxes ID</a:t>
                      </a:r>
                      <a:endParaRPr lang="en-US" b="1" dirty="0"/>
                    </a:p>
                  </a:txBody>
                  <a:tcPr/>
                </a:tc>
                <a:extLst>
                  <a:ext uri="{0D108BD9-81ED-4DB2-BD59-A6C34878D82A}">
                    <a16:rowId xmlns:a16="http://schemas.microsoft.com/office/drawing/2014/main" val="1425350776"/>
                  </a:ext>
                </a:extLst>
              </a:tr>
              <a:tr h="370840">
                <a:tc>
                  <a:txBody>
                    <a:bodyPr/>
                    <a:lstStyle/>
                    <a:p>
                      <a:r>
                        <a:rPr lang="en-US" dirty="0"/>
                        <a:t>Frank</a:t>
                      </a:r>
                    </a:p>
                  </a:txBody>
                  <a:tcPr/>
                </a:tc>
                <a:tc>
                  <a:txBody>
                    <a:bodyPr/>
                    <a:lstStyle/>
                    <a:p>
                      <a:r>
                        <a:rPr lang="en-US" dirty="0"/>
                        <a:t>1,2,3</a:t>
                      </a:r>
                    </a:p>
                  </a:txBody>
                  <a:tcPr/>
                </a:tc>
                <a:extLst>
                  <a:ext uri="{0D108BD9-81ED-4DB2-BD59-A6C34878D82A}">
                    <a16:rowId xmlns:a16="http://schemas.microsoft.com/office/drawing/2014/main" val="1345171180"/>
                  </a:ext>
                </a:extLst>
              </a:tr>
              <a:tr h="370840">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01699185"/>
                  </a:ext>
                </a:extLst>
              </a:tr>
            </a:tbl>
          </a:graphicData>
        </a:graphic>
      </p:graphicFrame>
    </p:spTree>
    <p:extLst>
      <p:ext uri="{BB962C8B-B14F-4D97-AF65-F5344CB8AC3E}">
        <p14:creationId xmlns:p14="http://schemas.microsoft.com/office/powerpoint/2010/main" val="73580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AEE1F5-B20E-446A-BC5C-E2C244FCDCDE}"/>
              </a:ext>
            </a:extLst>
          </p:cNvPr>
          <p:cNvPicPr>
            <a:picLocks noChangeAspect="1"/>
          </p:cNvPicPr>
          <p:nvPr/>
        </p:nvPicPr>
        <p:blipFill rotWithShape="1">
          <a:blip r:embed="rId3"/>
          <a:srcRect b="6439"/>
          <a:stretch/>
        </p:blipFill>
        <p:spPr>
          <a:xfrm>
            <a:off x="6636988" y="926494"/>
            <a:ext cx="4286250" cy="5611466"/>
          </a:xfrm>
          <a:prstGeom prst="rect">
            <a:avLst/>
          </a:prstGeom>
        </p:spPr>
      </p:pic>
      <p:pic>
        <p:nvPicPr>
          <p:cNvPr id="5" name="Picture 4">
            <a:extLst>
              <a:ext uri="{FF2B5EF4-FFF2-40B4-BE49-F238E27FC236}">
                <a16:creationId xmlns:a16="http://schemas.microsoft.com/office/drawing/2014/main" id="{6E8BC2A8-618E-4545-8366-359692B7BC39}"/>
              </a:ext>
            </a:extLst>
          </p:cNvPr>
          <p:cNvPicPr>
            <a:picLocks noChangeAspect="1"/>
          </p:cNvPicPr>
          <p:nvPr/>
        </p:nvPicPr>
        <p:blipFill>
          <a:blip r:embed="rId4"/>
          <a:stretch>
            <a:fillRect/>
          </a:stretch>
        </p:blipFill>
        <p:spPr>
          <a:xfrm>
            <a:off x="863409" y="989028"/>
            <a:ext cx="4286250" cy="2571750"/>
          </a:xfrm>
          <a:prstGeom prst="rect">
            <a:avLst/>
          </a:prstGeom>
        </p:spPr>
      </p:pic>
      <p:sp>
        <p:nvSpPr>
          <p:cNvPr id="6" name="Arrow: Right 5">
            <a:extLst>
              <a:ext uri="{FF2B5EF4-FFF2-40B4-BE49-F238E27FC236}">
                <a16:creationId xmlns:a16="http://schemas.microsoft.com/office/drawing/2014/main" id="{CEFCA664-8861-49EE-97F1-94D59CA66D1B}"/>
              </a:ext>
            </a:extLst>
          </p:cNvPr>
          <p:cNvSpPr/>
          <p:nvPr/>
        </p:nvSpPr>
        <p:spPr>
          <a:xfrm>
            <a:off x="5420170" y="2274903"/>
            <a:ext cx="946307"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FE9AD181-1F4B-2278-B20A-A41A4B357B5C}"/>
                  </a:ext>
                </a:extLst>
              </p14:cNvPr>
              <p14:cNvContentPartPr/>
              <p14:nvPr/>
            </p14:nvContentPartPr>
            <p14:xfrm>
              <a:off x="8539892" y="5691237"/>
              <a:ext cx="340200" cy="275400"/>
            </p14:xfrm>
          </p:contentPart>
        </mc:Choice>
        <mc:Fallback>
          <p:pic>
            <p:nvPicPr>
              <p:cNvPr id="7" name="Ink 6">
                <a:extLst>
                  <a:ext uri="{FF2B5EF4-FFF2-40B4-BE49-F238E27FC236}">
                    <a16:creationId xmlns:a16="http://schemas.microsoft.com/office/drawing/2014/main" id="{FE9AD181-1F4B-2278-B20A-A41A4B357B5C}"/>
                  </a:ext>
                </a:extLst>
              </p:cNvPr>
              <p:cNvPicPr/>
              <p:nvPr/>
            </p:nvPicPr>
            <p:blipFill>
              <a:blip r:embed="rId6"/>
              <a:stretch>
                <a:fillRect/>
              </a:stretch>
            </p:blipFill>
            <p:spPr>
              <a:xfrm>
                <a:off x="8521873" y="5673260"/>
                <a:ext cx="375878" cy="310993"/>
              </a:xfrm>
              <a:prstGeom prst="rect">
                <a:avLst/>
              </a:prstGeom>
            </p:spPr>
          </p:pic>
        </mc:Fallback>
      </mc:AlternateContent>
      <p:grpSp>
        <p:nvGrpSpPr>
          <p:cNvPr id="10" name="Group 9">
            <a:extLst>
              <a:ext uri="{FF2B5EF4-FFF2-40B4-BE49-F238E27FC236}">
                <a16:creationId xmlns:a16="http://schemas.microsoft.com/office/drawing/2014/main" id="{157AD105-8FEF-29B0-50AF-80B3372BF52F}"/>
              </a:ext>
            </a:extLst>
          </p:cNvPr>
          <p:cNvGrpSpPr/>
          <p:nvPr/>
        </p:nvGrpSpPr>
        <p:grpSpPr>
          <a:xfrm>
            <a:off x="8917172" y="3540759"/>
            <a:ext cx="696774" cy="2221397"/>
            <a:chOff x="9323572" y="3331997"/>
            <a:chExt cx="727200" cy="231840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15399FD-B424-1175-ABB2-AC5D12B90879}"/>
                    </a:ext>
                  </a:extLst>
                </p14:cNvPr>
                <p14:cNvContentPartPr/>
                <p14:nvPr/>
              </p14:nvContentPartPr>
              <p14:xfrm>
                <a:off x="9323572" y="3331997"/>
                <a:ext cx="727200" cy="2318400"/>
              </p14:xfrm>
            </p:contentPart>
          </mc:Choice>
          <mc:Fallback xmlns="">
            <p:pic>
              <p:nvPicPr>
                <p:cNvPr id="8" name="Ink 7">
                  <a:extLst>
                    <a:ext uri="{FF2B5EF4-FFF2-40B4-BE49-F238E27FC236}">
                      <a16:creationId xmlns:a16="http://schemas.microsoft.com/office/drawing/2014/main" id="{F15399FD-B424-1175-ABB2-AC5D12B90879}"/>
                    </a:ext>
                  </a:extLst>
                </p:cNvPr>
                <p:cNvPicPr/>
                <p:nvPr/>
              </p:nvPicPr>
              <p:blipFill>
                <a:blip r:embed="rId8"/>
                <a:stretch>
                  <a:fillRect/>
                </a:stretch>
              </p:blipFill>
              <p:spPr>
                <a:xfrm>
                  <a:off x="9305572" y="3313997"/>
                  <a:ext cx="762840" cy="235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681DBB6-3416-8668-419C-AA66F5EA529A}"/>
                    </a:ext>
                  </a:extLst>
                </p14:cNvPr>
                <p14:cNvContentPartPr/>
                <p14:nvPr/>
              </p14:nvContentPartPr>
              <p14:xfrm>
                <a:off x="9886252" y="3344597"/>
                <a:ext cx="129960" cy="72360"/>
              </p14:xfrm>
            </p:contentPart>
          </mc:Choice>
          <mc:Fallback xmlns="">
            <p:pic>
              <p:nvPicPr>
                <p:cNvPr id="9" name="Ink 8">
                  <a:extLst>
                    <a:ext uri="{FF2B5EF4-FFF2-40B4-BE49-F238E27FC236}">
                      <a16:creationId xmlns:a16="http://schemas.microsoft.com/office/drawing/2014/main" id="{7681DBB6-3416-8668-419C-AA66F5EA529A}"/>
                    </a:ext>
                  </a:extLst>
                </p:cNvPr>
                <p:cNvPicPr/>
                <p:nvPr/>
              </p:nvPicPr>
              <p:blipFill>
                <a:blip r:embed="rId10"/>
                <a:stretch>
                  <a:fillRect/>
                </a:stretch>
              </p:blipFill>
              <p:spPr>
                <a:xfrm>
                  <a:off x="9868252" y="3326957"/>
                  <a:ext cx="165600" cy="108000"/>
                </a:xfrm>
                <a:prstGeom prst="rect">
                  <a:avLst/>
                </a:prstGeom>
              </p:spPr>
            </p:pic>
          </mc:Fallback>
        </mc:AlternateContent>
      </p:grpSp>
      <p:grpSp>
        <p:nvGrpSpPr>
          <p:cNvPr id="13" name="Group 12">
            <a:extLst>
              <a:ext uri="{FF2B5EF4-FFF2-40B4-BE49-F238E27FC236}">
                <a16:creationId xmlns:a16="http://schemas.microsoft.com/office/drawing/2014/main" id="{EDDCF8AF-8FE3-7704-355C-F0A4BEC06B47}"/>
              </a:ext>
            </a:extLst>
          </p:cNvPr>
          <p:cNvGrpSpPr/>
          <p:nvPr/>
        </p:nvGrpSpPr>
        <p:grpSpPr>
          <a:xfrm>
            <a:off x="5423692" y="5580197"/>
            <a:ext cx="1840680" cy="194040"/>
            <a:chOff x="5423692" y="5580197"/>
            <a:chExt cx="1840680" cy="194040"/>
          </a:xfrm>
        </p:grpSpPr>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8770802D-21A2-A1EB-377D-3A4FBF963D4F}"/>
                    </a:ext>
                  </a:extLst>
                </p14:cNvPr>
                <p14:cNvContentPartPr/>
                <p14:nvPr/>
              </p14:nvContentPartPr>
              <p14:xfrm>
                <a:off x="5423692" y="5688557"/>
                <a:ext cx="1781280" cy="32400"/>
              </p14:xfrm>
            </p:contentPart>
          </mc:Choice>
          <mc:Fallback xmlns="">
            <p:pic>
              <p:nvPicPr>
                <p:cNvPr id="11" name="Ink 10">
                  <a:extLst>
                    <a:ext uri="{FF2B5EF4-FFF2-40B4-BE49-F238E27FC236}">
                      <a16:creationId xmlns:a16="http://schemas.microsoft.com/office/drawing/2014/main" id="{8770802D-21A2-A1EB-377D-3A4FBF963D4F}"/>
                    </a:ext>
                  </a:extLst>
                </p:cNvPr>
                <p:cNvPicPr/>
                <p:nvPr/>
              </p:nvPicPr>
              <p:blipFill>
                <a:blip r:embed="rId12"/>
                <a:stretch>
                  <a:fillRect/>
                </a:stretch>
              </p:blipFill>
              <p:spPr>
                <a:xfrm>
                  <a:off x="5406052" y="5670917"/>
                  <a:ext cx="18169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21097834-96AD-7868-3C83-18A72F653A71}"/>
                    </a:ext>
                  </a:extLst>
                </p14:cNvPr>
                <p14:cNvContentPartPr/>
                <p14:nvPr/>
              </p14:nvContentPartPr>
              <p14:xfrm>
                <a:off x="7179772" y="5580197"/>
                <a:ext cx="84600" cy="194040"/>
              </p14:xfrm>
            </p:contentPart>
          </mc:Choice>
          <mc:Fallback xmlns="">
            <p:pic>
              <p:nvPicPr>
                <p:cNvPr id="12" name="Ink 11">
                  <a:extLst>
                    <a:ext uri="{FF2B5EF4-FFF2-40B4-BE49-F238E27FC236}">
                      <a16:creationId xmlns:a16="http://schemas.microsoft.com/office/drawing/2014/main" id="{21097834-96AD-7868-3C83-18A72F653A71}"/>
                    </a:ext>
                  </a:extLst>
                </p:cNvPr>
                <p:cNvPicPr/>
                <p:nvPr/>
              </p:nvPicPr>
              <p:blipFill>
                <a:blip r:embed="rId14"/>
                <a:stretch>
                  <a:fillRect/>
                </a:stretch>
              </p:blipFill>
              <p:spPr>
                <a:xfrm>
                  <a:off x="7162132" y="5562197"/>
                  <a:ext cx="120240" cy="229680"/>
                </a:xfrm>
                <a:prstGeom prst="rect">
                  <a:avLst/>
                </a:prstGeom>
              </p:spPr>
            </p:pic>
          </mc:Fallback>
        </mc:AlternateContent>
      </p:grpSp>
      <p:graphicFrame>
        <p:nvGraphicFramePr>
          <p:cNvPr id="14" name="Table 16">
            <a:extLst>
              <a:ext uri="{FF2B5EF4-FFF2-40B4-BE49-F238E27FC236}">
                <a16:creationId xmlns:a16="http://schemas.microsoft.com/office/drawing/2014/main" id="{8BA32018-8CE9-3C30-A1AB-87E506452B43}"/>
              </a:ext>
            </a:extLst>
          </p:cNvPr>
          <p:cNvGraphicFramePr>
            <a:graphicFrameLocks noGrp="1"/>
          </p:cNvGraphicFramePr>
          <p:nvPr>
            <p:extLst>
              <p:ext uri="{D42A27DB-BD31-4B8C-83A1-F6EECF244321}">
                <p14:modId xmlns:p14="http://schemas.microsoft.com/office/powerpoint/2010/main" val="4132298924"/>
              </p:ext>
            </p:extLst>
          </p:nvPr>
        </p:nvGraphicFramePr>
        <p:xfrm>
          <a:off x="748862" y="4125461"/>
          <a:ext cx="4901113" cy="2026920"/>
        </p:xfrm>
        <a:graphic>
          <a:graphicData uri="http://schemas.openxmlformats.org/drawingml/2006/table">
            <a:tbl>
              <a:tblPr firstRow="1" bandRow="1">
                <a:tableStyleId>{5940675A-B579-460E-94D1-54222C63F5DA}</a:tableStyleId>
              </a:tblPr>
              <a:tblGrid>
                <a:gridCol w="1032828">
                  <a:extLst>
                    <a:ext uri="{9D8B030D-6E8A-4147-A177-3AD203B41FA5}">
                      <a16:colId xmlns:a16="http://schemas.microsoft.com/office/drawing/2014/main" val="2532832858"/>
                    </a:ext>
                  </a:extLst>
                </a:gridCol>
                <a:gridCol w="2009917">
                  <a:extLst>
                    <a:ext uri="{9D8B030D-6E8A-4147-A177-3AD203B41FA5}">
                      <a16:colId xmlns:a16="http://schemas.microsoft.com/office/drawing/2014/main" val="1399489213"/>
                    </a:ext>
                  </a:extLst>
                </a:gridCol>
                <a:gridCol w="1858368">
                  <a:extLst>
                    <a:ext uri="{9D8B030D-6E8A-4147-A177-3AD203B41FA5}">
                      <a16:colId xmlns:a16="http://schemas.microsoft.com/office/drawing/2014/main" val="1765312138"/>
                    </a:ext>
                  </a:extLst>
                </a:gridCol>
              </a:tblGrid>
              <a:tr h="370840">
                <a:tc>
                  <a:txBody>
                    <a:bodyPr/>
                    <a:lstStyle/>
                    <a:p>
                      <a:endParaRPr lang="en-US" b="1" dirty="0"/>
                    </a:p>
                  </a:txBody>
                  <a:tcPr/>
                </a:tc>
                <a:tc>
                  <a:txBody>
                    <a:bodyPr/>
                    <a:lstStyle/>
                    <a:p>
                      <a:r>
                        <a:rPr lang="en-US" b="1" dirty="0"/>
                        <a:t>Storage</a:t>
                      </a:r>
                    </a:p>
                  </a:txBody>
                  <a:tcPr/>
                </a:tc>
                <a:tc>
                  <a:txBody>
                    <a:bodyPr/>
                    <a:lstStyle/>
                    <a:p>
                      <a:r>
                        <a:rPr lang="en-US" sz="1800" b="1" dirty="0"/>
                        <a:t>File Storage</a:t>
                      </a:r>
                      <a:endParaRPr lang="en-US" b="1" dirty="0"/>
                    </a:p>
                  </a:txBody>
                  <a:tcPr/>
                </a:tc>
                <a:extLst>
                  <a:ext uri="{0D108BD9-81ED-4DB2-BD59-A6C34878D82A}">
                    <a16:rowId xmlns:a16="http://schemas.microsoft.com/office/drawing/2014/main" val="1425350776"/>
                  </a:ext>
                </a:extLst>
              </a:tr>
              <a:tr h="370840">
                <a:tc>
                  <a:txBody>
                    <a:bodyPr/>
                    <a:lstStyle/>
                    <a:p>
                      <a:r>
                        <a:rPr lang="en-US" dirty="0"/>
                        <a:t>Unit</a:t>
                      </a:r>
                    </a:p>
                  </a:txBody>
                  <a:tcPr/>
                </a:tc>
                <a:tc>
                  <a:txBody>
                    <a:bodyPr/>
                    <a:lstStyle/>
                    <a:p>
                      <a:r>
                        <a:rPr lang="en-US" dirty="0"/>
                        <a:t>Box</a:t>
                      </a:r>
                    </a:p>
                  </a:txBody>
                  <a:tcPr/>
                </a:tc>
                <a:tc>
                  <a:txBody>
                    <a:bodyPr/>
                    <a:lstStyle/>
                    <a:p>
                      <a:r>
                        <a:rPr lang="en-US" dirty="0"/>
                        <a:t>Sector</a:t>
                      </a:r>
                    </a:p>
                  </a:txBody>
                  <a:tcPr/>
                </a:tc>
                <a:extLst>
                  <a:ext uri="{0D108BD9-81ED-4DB2-BD59-A6C34878D82A}">
                    <a16:rowId xmlns:a16="http://schemas.microsoft.com/office/drawing/2014/main" val="1345171180"/>
                  </a:ext>
                </a:extLst>
              </a:tr>
              <a:tr h="370840">
                <a:tc>
                  <a:txBody>
                    <a:bodyPr/>
                    <a:lstStyle/>
                    <a:p>
                      <a:r>
                        <a:rPr lang="en-US" dirty="0"/>
                        <a:t>Usage</a:t>
                      </a:r>
                    </a:p>
                  </a:txBody>
                  <a:tcPr/>
                </a:tc>
                <a:tc>
                  <a:txBody>
                    <a:bodyPr/>
                    <a:lstStyle/>
                    <a:p>
                      <a:r>
                        <a:rPr lang="en-US" dirty="0"/>
                        <a:t>Person rents boxes</a:t>
                      </a:r>
                    </a:p>
                  </a:txBody>
                  <a:tcPr/>
                </a:tc>
                <a:tc>
                  <a:txBody>
                    <a:bodyPr/>
                    <a:lstStyle/>
                    <a:p>
                      <a:r>
                        <a:rPr lang="en-US" dirty="0"/>
                        <a:t>File uses sectors</a:t>
                      </a:r>
                    </a:p>
                  </a:txBody>
                  <a:tcPr/>
                </a:tc>
                <a:extLst>
                  <a:ext uri="{0D108BD9-81ED-4DB2-BD59-A6C34878D82A}">
                    <a16:rowId xmlns:a16="http://schemas.microsoft.com/office/drawing/2014/main" val="1001699185"/>
                  </a:ext>
                </a:extLst>
              </a:tr>
              <a:tr h="370840">
                <a:tc>
                  <a:txBody>
                    <a:bodyPr/>
                    <a:lstStyle/>
                    <a:p>
                      <a:r>
                        <a:rPr lang="en-US" dirty="0"/>
                        <a:t>Management system</a:t>
                      </a:r>
                    </a:p>
                  </a:txBody>
                  <a:tcPr/>
                </a:tc>
                <a:tc>
                  <a:txBody>
                    <a:bodyPr/>
                    <a:lstStyle/>
                    <a:p>
                      <a:r>
                        <a:rPr lang="en-US" dirty="0"/>
                        <a:t>Rental management system</a:t>
                      </a:r>
                    </a:p>
                  </a:txBody>
                  <a:tcPr/>
                </a:tc>
                <a:tc>
                  <a:txBody>
                    <a:bodyPr/>
                    <a:lstStyle/>
                    <a:p>
                      <a:r>
                        <a:rPr lang="en-US" dirty="0"/>
                        <a:t>File management system, (e.g., FAT)</a:t>
                      </a:r>
                    </a:p>
                  </a:txBody>
                  <a:tcPr/>
                </a:tc>
                <a:extLst>
                  <a:ext uri="{0D108BD9-81ED-4DB2-BD59-A6C34878D82A}">
                    <a16:rowId xmlns:a16="http://schemas.microsoft.com/office/drawing/2014/main" val="847966125"/>
                  </a:ext>
                </a:extLst>
              </a:tr>
            </a:tbl>
          </a:graphicData>
        </a:graphic>
      </p:graphicFrame>
      <p:sp>
        <p:nvSpPr>
          <p:cNvPr id="15" name="Rounded Rectangle 14"/>
          <p:cNvSpPr/>
          <p:nvPr/>
        </p:nvSpPr>
        <p:spPr>
          <a:xfrm>
            <a:off x="640080" y="320040"/>
            <a:ext cx="9601200" cy="502920"/>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800" b="0">
                <a:solidFill>
                  <a:srgbClr val="000000"/>
                </a:solidFill>
              </a:rPr>
              <a:t>Analogy: a rental system maps person → boxes; a file system maps file name → data blocks/sectors.</a:t>
            </a:r>
          </a:p>
        </p:txBody>
      </p:sp>
    </p:spTree>
    <p:extLst>
      <p:ext uri="{BB962C8B-B14F-4D97-AF65-F5344CB8AC3E}">
        <p14:creationId xmlns:p14="http://schemas.microsoft.com/office/powerpoint/2010/main" val="2249420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748DE-B87F-46E1-85CE-18BC28FB544A}"/>
              </a:ext>
            </a:extLst>
          </p:cNvPr>
          <p:cNvSpPr>
            <a:spLocks noGrp="1"/>
          </p:cNvSpPr>
          <p:nvPr>
            <p:ph type="title"/>
          </p:nvPr>
        </p:nvSpPr>
        <p:spPr/>
        <p:txBody>
          <a:bodyPr/>
          <a:lstStyle/>
          <a:p>
            <a:r>
              <a:rPr lang="en-US" dirty="0"/>
              <a:t>Virtual file system (VFS)</a:t>
            </a:r>
          </a:p>
        </p:txBody>
      </p:sp>
      <p:sp>
        <p:nvSpPr>
          <p:cNvPr id="5" name="Text Placeholder 4">
            <a:extLst>
              <a:ext uri="{FF2B5EF4-FFF2-40B4-BE49-F238E27FC236}">
                <a16:creationId xmlns:a16="http://schemas.microsoft.com/office/drawing/2014/main" id="{B1C45998-F27E-4AEE-9CD2-E97520A3CB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6884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up of happy smiling kids speaking together. Girls and boys with speech bubbles in different languages over world map Group of happy smiling kids speaking together. Girls and boys with speech bubbles in different languages over world map world languages stock illustrations">
            <a:extLst>
              <a:ext uri="{FF2B5EF4-FFF2-40B4-BE49-F238E27FC236}">
                <a16:creationId xmlns:a16="http://schemas.microsoft.com/office/drawing/2014/main" id="{956ABE37-D606-305E-8BCD-67D7DE678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017" y="618245"/>
            <a:ext cx="3727880" cy="25522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y Goodbye to Google Translate for Websites | Argo Translation">
            <a:extLst>
              <a:ext uri="{FF2B5EF4-FFF2-40B4-BE49-F238E27FC236}">
                <a16:creationId xmlns:a16="http://schemas.microsoft.com/office/drawing/2014/main" id="{227A31A7-B5A4-6CA7-4EFD-E959286C632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7172" b="12482"/>
          <a:stretch/>
        </p:blipFill>
        <p:spPr bwMode="auto">
          <a:xfrm>
            <a:off x="3760333" y="4655351"/>
            <a:ext cx="2335667" cy="9748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25B2D3A-8FA9-B66E-289A-E0C26D305EC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1426" y="469555"/>
            <a:ext cx="1654106" cy="2055145"/>
          </a:xfrm>
          <a:prstGeom prst="rect">
            <a:avLst/>
          </a:prstGeom>
          <a:noFill/>
          <a:extLst>
            <a:ext uri="{909E8E84-426E-40DD-AFC4-6F175D3DCCD1}">
              <a14:hiddenFill xmlns:a14="http://schemas.microsoft.com/office/drawing/2010/main">
                <a:solidFill>
                  <a:srgbClr val="FFFFFF"/>
                </a:solidFill>
              </a14:hiddenFill>
            </a:ext>
          </a:extLst>
        </p:spPr>
      </p:pic>
      <p:sp>
        <p:nvSpPr>
          <p:cNvPr id="7" name="Arrow: Right 6">
            <a:extLst>
              <a:ext uri="{FF2B5EF4-FFF2-40B4-BE49-F238E27FC236}">
                <a16:creationId xmlns:a16="http://schemas.microsoft.com/office/drawing/2014/main" id="{5452A8FB-2310-F182-F0C6-D40D60C8F29B}"/>
              </a:ext>
            </a:extLst>
          </p:cNvPr>
          <p:cNvSpPr/>
          <p:nvPr/>
        </p:nvSpPr>
        <p:spPr>
          <a:xfrm>
            <a:off x="4422914" y="1497128"/>
            <a:ext cx="1474306" cy="6202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Group of happy smiling kids speaking together. Girls and boys with speech bubbles in different languages over world map Group of happy smiling kids speaking together. Girls and boys with speech bubbles in different languages over world map world languages stock illustrations">
            <a:extLst>
              <a:ext uri="{FF2B5EF4-FFF2-40B4-BE49-F238E27FC236}">
                <a16:creationId xmlns:a16="http://schemas.microsoft.com/office/drawing/2014/main" id="{62CCF085-111E-B636-B5AD-C6555F9A8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1999" y="3936053"/>
            <a:ext cx="3727880" cy="25522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D5FC177F-6140-F24D-120A-3B64F41403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121" y="3936053"/>
            <a:ext cx="1654106" cy="2055145"/>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84F207F3-C4BD-A421-25E0-EA0D069B3B54}"/>
              </a:ext>
            </a:extLst>
          </p:cNvPr>
          <p:cNvSpPr/>
          <p:nvPr/>
        </p:nvSpPr>
        <p:spPr>
          <a:xfrm>
            <a:off x="2434320" y="4937553"/>
            <a:ext cx="997920" cy="410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2D1F9A40-92AE-AF79-7213-6FF0A0880E4B}"/>
              </a:ext>
            </a:extLst>
          </p:cNvPr>
          <p:cNvSpPr/>
          <p:nvPr/>
        </p:nvSpPr>
        <p:spPr>
          <a:xfrm>
            <a:off x="6653394" y="4937552"/>
            <a:ext cx="997920" cy="410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6BE25C3-9423-AC62-A02E-4B42E6BAC5D9}"/>
              </a:ext>
            </a:extLst>
          </p:cNvPr>
          <p:cNvCxnSpPr/>
          <p:nvPr/>
        </p:nvCxnSpPr>
        <p:spPr>
          <a:xfrm>
            <a:off x="272716" y="3429000"/>
            <a:ext cx="11317705" cy="0"/>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EF7000B3-8497-87AC-4D69-47F5E8288CE5}"/>
              </a:ext>
            </a:extLst>
          </p:cNvPr>
          <p:cNvSpPr txBox="1"/>
          <p:nvPr/>
        </p:nvSpPr>
        <p:spPr>
          <a:xfrm>
            <a:off x="3861069" y="527398"/>
            <a:ext cx="2665986" cy="461665"/>
          </a:xfrm>
          <a:prstGeom prst="rect">
            <a:avLst/>
          </a:prstGeom>
          <a:noFill/>
        </p:spPr>
        <p:txBody>
          <a:bodyPr wrap="none" rtlCol="0">
            <a:spAutoFit/>
          </a:bodyPr>
          <a:lstStyle/>
          <a:p>
            <a:r>
              <a:rPr lang="en-GB" sz="2400" b="1" dirty="0">
                <a:solidFill>
                  <a:srgbClr val="FF0000"/>
                </a:solidFill>
              </a:rPr>
              <a:t>Without</a:t>
            </a:r>
            <a:r>
              <a:rPr lang="en-GB" dirty="0"/>
              <a:t> an interpreter </a:t>
            </a:r>
            <a:endParaRPr lang="en-US" dirty="0"/>
          </a:p>
        </p:txBody>
      </p:sp>
      <p:sp>
        <p:nvSpPr>
          <p:cNvPr id="15" name="TextBox 14">
            <a:extLst>
              <a:ext uri="{FF2B5EF4-FFF2-40B4-BE49-F238E27FC236}">
                <a16:creationId xmlns:a16="http://schemas.microsoft.com/office/drawing/2014/main" id="{EFEBC9A0-EE29-BBFD-CC10-E3910876CD8B}"/>
              </a:ext>
            </a:extLst>
          </p:cNvPr>
          <p:cNvSpPr txBox="1"/>
          <p:nvPr/>
        </p:nvSpPr>
        <p:spPr>
          <a:xfrm>
            <a:off x="3861068" y="3857510"/>
            <a:ext cx="2228367" cy="461665"/>
          </a:xfrm>
          <a:prstGeom prst="rect">
            <a:avLst/>
          </a:prstGeom>
          <a:noFill/>
        </p:spPr>
        <p:txBody>
          <a:bodyPr wrap="none" rtlCol="0">
            <a:spAutoFit/>
          </a:bodyPr>
          <a:lstStyle/>
          <a:p>
            <a:r>
              <a:rPr lang="en-GB" sz="2400" b="1" dirty="0">
                <a:solidFill>
                  <a:srgbClr val="FF0000"/>
                </a:solidFill>
              </a:rPr>
              <a:t>With</a:t>
            </a:r>
            <a:r>
              <a:rPr lang="en-GB" dirty="0"/>
              <a:t> an interpreter </a:t>
            </a:r>
            <a:endParaRPr lang="en-US" dirty="0"/>
          </a:p>
        </p:txBody>
      </p:sp>
      <p:sp>
        <p:nvSpPr>
          <p:cNvPr id="16" name="TextBox 15">
            <a:extLst>
              <a:ext uri="{FF2B5EF4-FFF2-40B4-BE49-F238E27FC236}">
                <a16:creationId xmlns:a16="http://schemas.microsoft.com/office/drawing/2014/main" id="{D9AA97F0-878B-BA64-958C-18409C6F081F}"/>
              </a:ext>
            </a:extLst>
          </p:cNvPr>
          <p:cNvSpPr txBox="1"/>
          <p:nvPr/>
        </p:nvSpPr>
        <p:spPr>
          <a:xfrm>
            <a:off x="9256294" y="4019154"/>
            <a:ext cx="1478225" cy="400110"/>
          </a:xfrm>
          <a:prstGeom prst="rect">
            <a:avLst/>
          </a:prstGeom>
          <a:noFill/>
        </p:spPr>
        <p:txBody>
          <a:bodyPr wrap="none" rtlCol="0">
            <a:spAutoFit/>
          </a:bodyPr>
          <a:lstStyle/>
          <a:p>
            <a:r>
              <a:rPr lang="en-GB" sz="2000" b="1" dirty="0"/>
              <a:t>File Systems</a:t>
            </a:r>
            <a:endParaRPr lang="en-US" sz="2000" b="1" dirty="0"/>
          </a:p>
        </p:txBody>
      </p:sp>
      <p:cxnSp>
        <p:nvCxnSpPr>
          <p:cNvPr id="18" name="Straight Arrow Connector 17">
            <a:extLst>
              <a:ext uri="{FF2B5EF4-FFF2-40B4-BE49-F238E27FC236}">
                <a16:creationId xmlns:a16="http://schemas.microsoft.com/office/drawing/2014/main" id="{1950466B-5BAB-9C08-1BC1-9CC628E3FAD9}"/>
              </a:ext>
            </a:extLst>
          </p:cNvPr>
          <p:cNvCxnSpPr/>
          <p:nvPr/>
        </p:nvCxnSpPr>
        <p:spPr>
          <a:xfrm flipH="1">
            <a:off x="8373979" y="4482149"/>
            <a:ext cx="1596189" cy="587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A245B6C-2544-CD7C-6482-690A46730AEC}"/>
              </a:ext>
            </a:extLst>
          </p:cNvPr>
          <p:cNvCxnSpPr/>
          <p:nvPr/>
        </p:nvCxnSpPr>
        <p:spPr>
          <a:xfrm flipH="1">
            <a:off x="9135979" y="4502365"/>
            <a:ext cx="859427" cy="461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9F19028-E795-9639-1E3C-2F41CBA2C663}"/>
              </a:ext>
            </a:extLst>
          </p:cNvPr>
          <p:cNvCxnSpPr/>
          <p:nvPr/>
        </p:nvCxnSpPr>
        <p:spPr>
          <a:xfrm flipH="1">
            <a:off x="9875939" y="4502365"/>
            <a:ext cx="119467" cy="435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E6E6F30-6473-0DD6-05A4-B4F40194DEC0}"/>
              </a:ext>
            </a:extLst>
          </p:cNvPr>
          <p:cNvCxnSpPr/>
          <p:nvPr/>
        </p:nvCxnSpPr>
        <p:spPr>
          <a:xfrm>
            <a:off x="9970168" y="4482149"/>
            <a:ext cx="529390" cy="544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361BB2A-9D59-5143-3FF7-3865CAFE052C}"/>
              </a:ext>
            </a:extLst>
          </p:cNvPr>
          <p:cNvCxnSpPr/>
          <p:nvPr/>
        </p:nvCxnSpPr>
        <p:spPr>
          <a:xfrm>
            <a:off x="9970168" y="4482149"/>
            <a:ext cx="970548" cy="481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3ECC9A-9782-7567-D57D-B7C94859A315}"/>
              </a:ext>
            </a:extLst>
          </p:cNvPr>
          <p:cNvCxnSpPr/>
          <p:nvPr/>
        </p:nvCxnSpPr>
        <p:spPr>
          <a:xfrm>
            <a:off x="9935672" y="4439354"/>
            <a:ext cx="1571009" cy="629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08B7E3D-C5F3-BD24-F373-A9D6383E3EAE}"/>
              </a:ext>
            </a:extLst>
          </p:cNvPr>
          <p:cNvSpPr txBox="1"/>
          <p:nvPr/>
        </p:nvSpPr>
        <p:spPr>
          <a:xfrm>
            <a:off x="4015374" y="6113743"/>
            <a:ext cx="2087479" cy="400110"/>
          </a:xfrm>
          <a:prstGeom prst="rect">
            <a:avLst/>
          </a:prstGeom>
          <a:noFill/>
        </p:spPr>
        <p:txBody>
          <a:bodyPr wrap="square">
            <a:spAutoFit/>
          </a:bodyPr>
          <a:lstStyle/>
          <a:p>
            <a:r>
              <a:rPr lang="en-US" sz="2000" b="1" dirty="0"/>
              <a:t>Virtual file system</a:t>
            </a:r>
          </a:p>
        </p:txBody>
      </p:sp>
      <p:grpSp>
        <p:nvGrpSpPr>
          <p:cNvPr id="33" name="Group 32">
            <a:extLst>
              <a:ext uri="{FF2B5EF4-FFF2-40B4-BE49-F238E27FC236}">
                <a16:creationId xmlns:a16="http://schemas.microsoft.com/office/drawing/2014/main" id="{07960E88-6458-4617-49C2-228C4C1CE423}"/>
              </a:ext>
            </a:extLst>
          </p:cNvPr>
          <p:cNvGrpSpPr/>
          <p:nvPr/>
        </p:nvGrpSpPr>
        <p:grpSpPr>
          <a:xfrm>
            <a:off x="6043888" y="4154469"/>
            <a:ext cx="565920" cy="2144880"/>
            <a:chOff x="6043888" y="4154469"/>
            <a:chExt cx="565920" cy="2144880"/>
          </a:xfrm>
        </p:grpSpPr>
        <mc:AlternateContent xmlns:mc="http://schemas.openxmlformats.org/markup-compatibility/2006" xmlns:p14="http://schemas.microsoft.com/office/powerpoint/2010/main">
          <mc:Choice Requires="p14">
            <p:contentPart p14:bwMode="auto" r:id="rId5">
              <p14:nvContentPartPr>
                <p14:cNvPr id="31" name="Ink 30">
                  <a:extLst>
                    <a:ext uri="{FF2B5EF4-FFF2-40B4-BE49-F238E27FC236}">
                      <a16:creationId xmlns:a16="http://schemas.microsoft.com/office/drawing/2014/main" id="{36D991D5-F22D-03AA-C864-82761F2EA3A1}"/>
                    </a:ext>
                  </a:extLst>
                </p14:cNvPr>
                <p14:cNvContentPartPr/>
                <p14:nvPr/>
              </p14:nvContentPartPr>
              <p14:xfrm>
                <a:off x="6069448" y="4154469"/>
                <a:ext cx="540360" cy="2083680"/>
              </p14:xfrm>
            </p:contentPart>
          </mc:Choice>
          <mc:Fallback xmlns="">
            <p:pic>
              <p:nvPicPr>
                <p:cNvPr id="31" name="Ink 30">
                  <a:extLst>
                    <a:ext uri="{FF2B5EF4-FFF2-40B4-BE49-F238E27FC236}">
                      <a16:creationId xmlns:a16="http://schemas.microsoft.com/office/drawing/2014/main" id="{36D991D5-F22D-03AA-C864-82761F2EA3A1}"/>
                    </a:ext>
                  </a:extLst>
                </p:cNvPr>
                <p:cNvPicPr/>
                <p:nvPr/>
              </p:nvPicPr>
              <p:blipFill>
                <a:blip r:embed="rId6"/>
                <a:stretch>
                  <a:fillRect/>
                </a:stretch>
              </p:blipFill>
              <p:spPr>
                <a:xfrm>
                  <a:off x="6051448" y="4136829"/>
                  <a:ext cx="576000" cy="2119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2" name="Ink 31">
                  <a:extLst>
                    <a:ext uri="{FF2B5EF4-FFF2-40B4-BE49-F238E27FC236}">
                      <a16:creationId xmlns:a16="http://schemas.microsoft.com/office/drawing/2014/main" id="{DF7892F6-2A7B-6CF8-C67E-036CFE8A286B}"/>
                    </a:ext>
                  </a:extLst>
                </p14:cNvPr>
                <p14:cNvContentPartPr/>
                <p14:nvPr/>
              </p14:nvContentPartPr>
              <p14:xfrm>
                <a:off x="6043888" y="6031509"/>
                <a:ext cx="295560" cy="267840"/>
              </p14:xfrm>
            </p:contentPart>
          </mc:Choice>
          <mc:Fallback xmlns="">
            <p:pic>
              <p:nvPicPr>
                <p:cNvPr id="32" name="Ink 31">
                  <a:extLst>
                    <a:ext uri="{FF2B5EF4-FFF2-40B4-BE49-F238E27FC236}">
                      <a16:creationId xmlns:a16="http://schemas.microsoft.com/office/drawing/2014/main" id="{DF7892F6-2A7B-6CF8-C67E-036CFE8A286B}"/>
                    </a:ext>
                  </a:extLst>
                </p:cNvPr>
                <p:cNvPicPr/>
                <p:nvPr/>
              </p:nvPicPr>
              <p:blipFill>
                <a:blip r:embed="rId8"/>
                <a:stretch>
                  <a:fillRect/>
                </a:stretch>
              </p:blipFill>
              <p:spPr>
                <a:xfrm>
                  <a:off x="6025888" y="6013869"/>
                  <a:ext cx="331200" cy="303480"/>
                </a:xfrm>
                <a:prstGeom prst="rect">
                  <a:avLst/>
                </a:prstGeom>
              </p:spPr>
            </p:pic>
          </mc:Fallback>
        </mc:AlternateContent>
      </p:grpSp>
    </p:spTree>
    <p:extLst>
      <p:ext uri="{BB962C8B-B14F-4D97-AF65-F5344CB8AC3E}">
        <p14:creationId xmlns:p14="http://schemas.microsoft.com/office/powerpoint/2010/main" val="849688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D7295B-378C-4630-9C5F-6D42BC54DBE9}"/>
              </a:ext>
            </a:extLst>
          </p:cNvPr>
          <p:cNvSpPr>
            <a:spLocks noGrp="1"/>
          </p:cNvSpPr>
          <p:nvPr>
            <p:ph type="title"/>
          </p:nvPr>
        </p:nvSpPr>
        <p:spPr/>
        <p:txBody>
          <a:bodyPr/>
          <a:lstStyle/>
          <a:p>
            <a:r>
              <a:t>Linux implements a Virtual File System (VFS)</a:t>
            </a:r>
          </a:p>
        </p:txBody>
      </p:sp>
      <p:sp>
        <p:nvSpPr>
          <p:cNvPr id="5" name="Content Placeholder 4">
            <a:extLst>
              <a:ext uri="{FF2B5EF4-FFF2-40B4-BE49-F238E27FC236}">
                <a16:creationId xmlns:a16="http://schemas.microsoft.com/office/drawing/2014/main" id="{8DE5951C-3427-4B1F-BFA6-46E91D76D827}"/>
              </a:ext>
            </a:extLst>
          </p:cNvPr>
          <p:cNvSpPr>
            <a:spLocks noGrp="1"/>
          </p:cNvSpPr>
          <p:nvPr>
            <p:ph idx="1"/>
          </p:nvPr>
        </p:nvSpPr>
        <p:spPr>
          <a:xfrm>
            <a:off x="838200" y="1825624"/>
            <a:ext cx="5482928" cy="4293822"/>
          </a:xfrm>
        </p:spPr>
        <p:txBody>
          <a:bodyPr lIns="45720" rIns="45720">
            <a:normAutofit/>
          </a:bodyPr>
          <a:lstStyle/>
          <a:p>
            <a:pPr>
              <a:spcAft>
                <a:spcPts val="400"/>
              </a:spcAft>
            </a:pPr>
            <a:r>
              <a:rPr sz="2100">
                <a:solidFill>
                  <a:srgbClr val="000000"/>
                </a:solidFill>
              </a:rPr>
              <a:t>VFS provides a common interface above concrete file systems.</a:t>
            </a:r>
          </a:p>
          <a:p>
            <a:pPr lvl="1">
              <a:spcAft>
                <a:spcPts val="400"/>
              </a:spcAft>
            </a:pPr>
            <a:r>
              <a:rPr sz="1800">
                <a:solidFill>
                  <a:srgbClr val="000000"/>
                </a:solidFill>
              </a:rPr>
              <a:t>Examples: ext4, NTFS, ISO/CD-ROM, NFS/CIFS, USB storage</a:t>
            </a:r>
          </a:p>
          <a:p>
            <a:pPr>
              <a:spcAft>
                <a:spcPts val="400"/>
              </a:spcAft>
            </a:pPr>
            <a:r>
              <a:rPr sz="2100">
                <a:solidFill>
                  <a:srgbClr val="000000"/>
                </a:solidFill>
              </a:rPr>
              <a:t>Applications can use the same system calls across different file systems.</a:t>
            </a:r>
          </a:p>
          <a:p>
            <a:pPr>
              <a:spcAft>
                <a:spcPts val="400"/>
              </a:spcAft>
            </a:pPr>
            <a:r>
              <a:rPr sz="2100">
                <a:solidFill>
                  <a:srgbClr val="000000"/>
                </a:solidFill>
              </a:rPr>
              <a:t>Linux exposes many resources as file-like objects.</a:t>
            </a:r>
          </a:p>
          <a:p>
            <a:pPr lvl="1">
              <a:spcAft>
                <a:spcPts val="400"/>
              </a:spcAft>
            </a:pPr>
            <a:r>
              <a:rPr sz="1800">
                <a:solidFill>
                  <a:srgbClr val="000000"/>
                </a:solidFill>
              </a:rPr>
              <a:t>Examples: regular files, directories, disks, USB devices, /dev, /proc, /sys</a:t>
            </a:r>
          </a:p>
          <a:p>
            <a:pPr>
              <a:spcAft>
                <a:spcPts val="400"/>
              </a:spcAft>
            </a:pPr>
            <a:r>
              <a:rPr sz="2100">
                <a:solidFill>
                  <a:srgbClr val="000000"/>
                </a:solidFill>
              </a:rPr>
              <a:t>Inodes store file metadata and pointers to data blocks.</a:t>
            </a:r>
          </a:p>
        </p:txBody>
      </p:sp>
      <p:pic>
        <p:nvPicPr>
          <p:cNvPr id="1026" name="Picture 2" descr="Graphic of an abstraction layer over different file systems and storage devices">
            <a:extLst>
              <a:ext uri="{FF2B5EF4-FFF2-40B4-BE49-F238E27FC236}">
                <a16:creationId xmlns:a16="http://schemas.microsoft.com/office/drawing/2014/main" id="{97BABED6-88A6-4322-B0AD-D162CA6EE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799" y="1690688"/>
            <a:ext cx="5482929" cy="436964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DCFBE11-29B6-417D-8DCD-1C0E1D5326AC}"/>
              </a:ext>
            </a:extLst>
          </p:cNvPr>
          <p:cNvCxnSpPr>
            <a:cxnSpLocks/>
          </p:cNvCxnSpPr>
          <p:nvPr/>
        </p:nvCxnSpPr>
        <p:spPr>
          <a:xfrm>
            <a:off x="5416062" y="4790831"/>
            <a:ext cx="1336431" cy="234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A3949EA-E1B0-453F-943D-83D259055F3E}"/>
              </a:ext>
            </a:extLst>
          </p:cNvPr>
          <p:cNvCxnSpPr/>
          <p:nvPr/>
        </p:nvCxnSpPr>
        <p:spPr>
          <a:xfrm>
            <a:off x="5416062" y="2852615"/>
            <a:ext cx="984737" cy="468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4C7FBBD-DC29-48D0-9F98-6723CE278B4B}"/>
              </a:ext>
            </a:extLst>
          </p:cNvPr>
          <p:cNvCxnSpPr/>
          <p:nvPr/>
        </p:nvCxnSpPr>
        <p:spPr>
          <a:xfrm>
            <a:off x="5416062" y="2852615"/>
            <a:ext cx="1930400" cy="29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777603F-DDC5-45E7-9675-1CBA97289273}"/>
              </a:ext>
            </a:extLst>
          </p:cNvPr>
          <p:cNvCxnSpPr/>
          <p:nvPr/>
        </p:nvCxnSpPr>
        <p:spPr>
          <a:xfrm>
            <a:off x="5416062" y="2852615"/>
            <a:ext cx="3407507" cy="343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5B6908-A50C-41C9-A229-FCF42C20BD40}"/>
              </a:ext>
            </a:extLst>
          </p:cNvPr>
          <p:cNvCxnSpPr/>
          <p:nvPr/>
        </p:nvCxnSpPr>
        <p:spPr>
          <a:xfrm>
            <a:off x="5416062" y="2852615"/>
            <a:ext cx="4517292" cy="29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5CF596E-CE64-469F-958F-BDA47ACE1ACF}"/>
              </a:ext>
            </a:extLst>
          </p:cNvPr>
          <p:cNvSpPr txBox="1"/>
          <p:nvPr/>
        </p:nvSpPr>
        <p:spPr>
          <a:xfrm>
            <a:off x="6697785" y="6619836"/>
            <a:ext cx="5072184" cy="261610"/>
          </a:xfrm>
          <a:prstGeom prst="rect">
            <a:avLst/>
          </a:prstGeom>
          <a:noFill/>
        </p:spPr>
        <p:txBody>
          <a:bodyPr wrap="square">
            <a:spAutoFit/>
          </a:bodyPr>
          <a:lstStyle/>
          <a:p>
            <a:r>
              <a:rPr lang="en-US" sz="1050" dirty="0"/>
              <a:t>https://developer.ibm.com/technologies/linux/tutorials/l-virtual-filesystem-switch/</a:t>
            </a:r>
          </a:p>
        </p:txBody>
      </p:sp>
    </p:spTree>
    <p:extLst>
      <p:ext uri="{BB962C8B-B14F-4D97-AF65-F5344CB8AC3E}">
        <p14:creationId xmlns:p14="http://schemas.microsoft.com/office/powerpoint/2010/main" val="2623075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8036-76FC-A847-17DB-2C0572CAB278}"/>
              </a:ext>
            </a:extLst>
          </p:cNvPr>
          <p:cNvSpPr>
            <a:spLocks noGrp="1"/>
          </p:cNvSpPr>
          <p:nvPr>
            <p:ph type="title"/>
          </p:nvPr>
        </p:nvSpPr>
        <p:spPr/>
        <p:txBody>
          <a:bodyPr/>
          <a:lstStyle/>
          <a:p>
            <a:r>
              <a:t>Why Linux is useful for digital forensics</a:t>
            </a:r>
            <a:endParaRPr lang="en-US" dirty="0"/>
          </a:p>
        </p:txBody>
      </p:sp>
      <p:sp>
        <p:nvSpPr>
          <p:cNvPr id="3" name="Content Placeholder 2">
            <a:extLst>
              <a:ext uri="{FF2B5EF4-FFF2-40B4-BE49-F238E27FC236}">
                <a16:creationId xmlns:a16="http://schemas.microsoft.com/office/drawing/2014/main" id="{792DCC4C-F977-8DFC-4F08-FB8D69A8628B}"/>
              </a:ext>
            </a:extLst>
          </p:cNvPr>
          <p:cNvSpPr>
            <a:spLocks noGrp="1"/>
          </p:cNvSpPr>
          <p:nvPr>
            <p:ph idx="1"/>
          </p:nvPr>
        </p:nvSpPr>
        <p:spPr/>
        <p:txBody>
          <a:bodyPr lIns="45720" rIns="45720"/>
          <a:lstStyle/>
          <a:p>
            <a:pPr>
              <a:spcAft>
                <a:spcPts val="400"/>
              </a:spcAft>
            </a:pPr>
            <a:r>
              <a:rPr sz="2600">
                <a:solidFill>
                  <a:srgbClr val="000000"/>
                </a:solidFill>
              </a:rPr>
              <a:t>Strengths</a:t>
            </a:r>
          </a:p>
          <a:p>
            <a:pPr lvl="1">
              <a:spcAft>
                <a:spcPts val="400"/>
              </a:spcAft>
            </a:pPr>
            <a:r>
              <a:rPr sz="2300">
                <a:solidFill>
                  <a:srgbClr val="000000"/>
                </a:solidFill>
              </a:rPr>
              <a:t>Supports many file systems through VFS and forensic tools</a:t>
            </a:r>
          </a:p>
          <a:p>
            <a:pPr lvl="1">
              <a:spcAft>
                <a:spcPts val="400"/>
              </a:spcAft>
            </a:pPr>
            <a:r>
              <a:rPr sz="2300">
                <a:solidFill>
                  <a:srgbClr val="000000"/>
                </a:solidFill>
              </a:rPr>
              <a:t>Powerful command-line workflows for repeatable analysis</a:t>
            </a:r>
          </a:p>
          <a:p>
            <a:pPr lvl="1">
              <a:spcAft>
                <a:spcPts val="400"/>
              </a:spcAft>
            </a:pPr>
            <a:r>
              <a:rPr sz="2300">
                <a:solidFill>
                  <a:srgbClr val="000000"/>
                </a:solidFill>
              </a:rPr>
              <a:t>Free/open-source tools; source code can be inspected and validated</a:t>
            </a:r>
          </a:p>
          <a:p>
            <a:pPr lvl="1">
              <a:spcAft>
                <a:spcPts val="400"/>
              </a:spcAft>
            </a:pPr>
            <a:r>
              <a:rPr sz="2300">
                <a:solidFill>
                  <a:srgbClr val="000000"/>
                </a:solidFill>
              </a:rPr>
              <a:t>Flexible scripting for large-scale evidence processing</a:t>
            </a:r>
          </a:p>
          <a:p>
            <a:pPr>
              <a:spcAft>
                <a:spcPts val="400"/>
              </a:spcAft>
            </a:pPr>
            <a:r>
              <a:rPr sz="2600">
                <a:solidFill>
                  <a:srgbClr val="000000"/>
                </a:solidFill>
              </a:rPr>
              <a:t>Limitations</a:t>
            </a:r>
          </a:p>
          <a:p>
            <a:pPr lvl="1">
              <a:spcAft>
                <a:spcPts val="400"/>
              </a:spcAft>
            </a:pPr>
            <a:r>
              <a:rPr sz="2300">
                <a:solidFill>
                  <a:srgbClr val="000000"/>
                </a:solidFill>
              </a:rPr>
              <a:t>Steep learning curve and command-line precision required</a:t>
            </a:r>
          </a:p>
          <a:p>
            <a:pPr lvl="1">
              <a:spcAft>
                <a:spcPts val="400"/>
              </a:spcAft>
            </a:pPr>
            <a:r>
              <a:rPr sz="2300">
                <a:solidFill>
                  <a:srgbClr val="000000"/>
                </a:solidFill>
              </a:rPr>
              <a:t>Tool trustworthiness must be documented and validated</a:t>
            </a:r>
          </a:p>
          <a:p>
            <a:pPr lvl="1">
              <a:spcAft>
                <a:spcPts val="400"/>
              </a:spcAft>
            </a:pPr>
            <a:r>
              <a:rPr sz="2300">
                <a:solidFill>
                  <a:srgbClr val="000000"/>
                </a:solidFill>
              </a:rPr>
              <a:t>Commands can alter evidence if run on the original media</a:t>
            </a:r>
          </a:p>
        </p:txBody>
      </p:sp>
    </p:spTree>
    <p:extLst>
      <p:ext uri="{BB962C8B-B14F-4D97-AF65-F5344CB8AC3E}">
        <p14:creationId xmlns:p14="http://schemas.microsoft.com/office/powerpoint/2010/main" val="3725692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2D5774-5837-4C41-A0B8-979FDAEC4639}"/>
              </a:ext>
            </a:extLst>
          </p:cNvPr>
          <p:cNvSpPr>
            <a:spLocks noGrp="1"/>
          </p:cNvSpPr>
          <p:nvPr>
            <p:ph type="title"/>
          </p:nvPr>
        </p:nvSpPr>
        <p:spPr/>
        <p:txBody>
          <a:bodyPr/>
          <a:lstStyle/>
          <a:p>
            <a:r>
              <a:t>Open a Linux terminal</a:t>
            </a:r>
            <a:endParaRPr lang="en-US" dirty="0"/>
          </a:p>
        </p:txBody>
      </p:sp>
      <p:pic>
        <p:nvPicPr>
          <p:cNvPr id="6" name="Picture 5">
            <a:extLst>
              <a:ext uri="{FF2B5EF4-FFF2-40B4-BE49-F238E27FC236}">
                <a16:creationId xmlns:a16="http://schemas.microsoft.com/office/drawing/2014/main" id="{2BC507A4-8C0E-48D0-8A5A-8BFCA8B3D3C9}"/>
              </a:ext>
            </a:extLst>
          </p:cNvPr>
          <p:cNvPicPr>
            <a:picLocks noChangeAspect="1"/>
          </p:cNvPicPr>
          <p:nvPr/>
        </p:nvPicPr>
        <p:blipFill>
          <a:blip r:embed="rId2"/>
          <a:stretch>
            <a:fillRect/>
          </a:stretch>
        </p:blipFill>
        <p:spPr>
          <a:xfrm>
            <a:off x="838200" y="1861251"/>
            <a:ext cx="6168773" cy="4228264"/>
          </a:xfrm>
          <a:prstGeom prst="rect">
            <a:avLst/>
          </a:prstGeom>
        </p:spPr>
      </p:pic>
      <p:sp>
        <p:nvSpPr>
          <p:cNvPr id="3" name="TextBox 2">
            <a:extLst>
              <a:ext uri="{FF2B5EF4-FFF2-40B4-BE49-F238E27FC236}">
                <a16:creationId xmlns:a16="http://schemas.microsoft.com/office/drawing/2014/main" id="{53522F7C-2383-3FA5-0474-CEAF7D22E12B}"/>
              </a:ext>
            </a:extLst>
          </p:cNvPr>
          <p:cNvSpPr txBox="1"/>
          <p:nvPr/>
        </p:nvSpPr>
        <p:spPr>
          <a:xfrm>
            <a:off x="3640134" y="6428630"/>
            <a:ext cx="6326826" cy="369332"/>
          </a:xfrm>
          <a:prstGeom prst="rect">
            <a:avLst/>
          </a:prstGeom>
          <a:noFill/>
        </p:spPr>
        <p:txBody>
          <a:bodyPr wrap="square">
            <a:spAutoFit/>
          </a:bodyPr>
          <a:lstStyle/>
          <a:p>
            <a:r>
              <a:rPr sz="1800" dirty="0"/>
              <a:t>Windows comparison: Command Prompt / PowerShell</a:t>
            </a:r>
            <a:endParaRPr lang="en-US" dirty="0">
              <a:latin typeface="OCRB" panose="020B0609020202020204" pitchFamily="49" charset="0"/>
            </a:endParaRPr>
          </a:p>
        </p:txBody>
      </p:sp>
      <p:pic>
        <p:nvPicPr>
          <p:cNvPr id="5" name="Picture 4">
            <a:extLst>
              <a:ext uri="{FF2B5EF4-FFF2-40B4-BE49-F238E27FC236}">
                <a16:creationId xmlns:a16="http://schemas.microsoft.com/office/drawing/2014/main" id="{0EB3DCE7-4CC3-E046-733E-4532CF477A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730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48ACCFB-5720-477D-959E-B699A772B5CF}"/>
              </a:ext>
            </a:extLst>
          </p:cNvPr>
          <p:cNvSpPr>
            <a:spLocks noGrp="1"/>
          </p:cNvSpPr>
          <p:nvPr>
            <p:ph type="title"/>
          </p:nvPr>
        </p:nvSpPr>
        <p:spPr>
          <a:xfrm>
            <a:off x="1028700" y="1967266"/>
            <a:ext cx="2628900" cy="2547257"/>
          </a:xfrm>
          <a:noFill/>
        </p:spPr>
        <p:txBody>
          <a:bodyPr anchor="ctr">
            <a:normAutofit/>
          </a:bodyPr>
          <a:lstStyle/>
          <a:p>
            <a:pPr algn="ctr"/>
            <a:r>
              <a:rPr sz="3300">
                <a:solidFill>
                  <a:srgbClr val="FFFFFF"/>
                </a:solidFill>
              </a:rPr>
              <a:t>Viewing inode numbers</a:t>
            </a:r>
            <a:endParaRPr lang="en-US" sz="3600">
              <a:solidFill>
                <a:srgbClr val="FFFFFF"/>
              </a:solidFill>
            </a:endParaRPr>
          </a:p>
        </p:txBody>
      </p:sp>
      <p:pic>
        <p:nvPicPr>
          <p:cNvPr id="8" name="Picture 7">
            <a:extLst>
              <a:ext uri="{FF2B5EF4-FFF2-40B4-BE49-F238E27FC236}">
                <a16:creationId xmlns:a16="http://schemas.microsoft.com/office/drawing/2014/main" id="{D426D9F4-577D-4B6F-BA44-9FC955D33A5E}"/>
              </a:ext>
            </a:extLst>
          </p:cNvPr>
          <p:cNvPicPr>
            <a:picLocks noChangeAspect="1"/>
          </p:cNvPicPr>
          <p:nvPr/>
        </p:nvPicPr>
        <p:blipFill>
          <a:blip r:embed="rId2"/>
          <a:stretch>
            <a:fillRect/>
          </a:stretch>
        </p:blipFill>
        <p:spPr>
          <a:xfrm>
            <a:off x="4527805" y="643466"/>
            <a:ext cx="6905984" cy="5887352"/>
          </a:xfrm>
          <a:prstGeom prst="rect">
            <a:avLst/>
          </a:prstGeom>
        </p:spPr>
      </p:pic>
      <p:sp>
        <p:nvSpPr>
          <p:cNvPr id="11" name="TextBox 10">
            <a:extLst>
              <a:ext uri="{FF2B5EF4-FFF2-40B4-BE49-F238E27FC236}">
                <a16:creationId xmlns:a16="http://schemas.microsoft.com/office/drawing/2014/main" id="{87E9E270-98BD-42FE-9F09-FD1F6045A2EC}"/>
              </a:ext>
            </a:extLst>
          </p:cNvPr>
          <p:cNvSpPr txBox="1"/>
          <p:nvPr/>
        </p:nvSpPr>
        <p:spPr>
          <a:xfrm>
            <a:off x="8799812" y="1695794"/>
            <a:ext cx="2469973" cy="1569660"/>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sz="1700"/>
              <a:t>ls -i: print inode number</a:t>
            </a:r>
            <a:br/>
            <a:r>
              <a:rPr sz="1700"/>
              <a:t>ls -a: include hidden entries</a:t>
            </a:r>
            <a:br/>
            <a:r>
              <a:rPr sz="1700"/>
              <a:t>Forensics: hidden files and inode numbers help correlate names, metadata, and disk structures.</a:t>
            </a:r>
          </a:p>
        </p:txBody>
      </p:sp>
      <p:sp>
        <p:nvSpPr>
          <p:cNvPr id="2" name="TextBox 1">
            <a:extLst>
              <a:ext uri="{FF2B5EF4-FFF2-40B4-BE49-F238E27FC236}">
                <a16:creationId xmlns:a16="http://schemas.microsoft.com/office/drawing/2014/main" id="{148F80D7-D124-86A1-C110-9DCEB236E5FE}"/>
              </a:ext>
            </a:extLst>
          </p:cNvPr>
          <p:cNvSpPr txBox="1"/>
          <p:nvPr/>
        </p:nvSpPr>
        <p:spPr>
          <a:xfrm>
            <a:off x="635906" y="5481386"/>
            <a:ext cx="3662135" cy="553998"/>
          </a:xfrm>
          <a:prstGeom prst="rect">
            <a:avLst/>
          </a:prstGeom>
          <a:noFill/>
        </p:spPr>
        <p:txBody>
          <a:bodyPr wrap="square">
            <a:spAutoFit/>
          </a:bodyPr>
          <a:lstStyle/>
          <a:p>
            <a:r>
              <a:rPr sz="1500" dirty="0"/>
              <a:t>Windows comparison: </a:t>
            </a:r>
            <a:r>
              <a:rPr sz="1500" dirty="0" err="1"/>
              <a:t>dir</a:t>
            </a:r>
            <a:r>
              <a:rPr sz="1500" dirty="0"/>
              <a:t> /a shows hidden files; file IDs require other tools.</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48A4602C-A27B-03EF-1E66-BF6F725EFF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3149"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542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66BD-A20C-4FE3-B3D0-DE3471CC96DA}"/>
              </a:ext>
            </a:extLst>
          </p:cNvPr>
          <p:cNvSpPr>
            <a:spLocks noGrp="1"/>
          </p:cNvSpPr>
          <p:nvPr>
            <p:ph type="title"/>
          </p:nvPr>
        </p:nvSpPr>
        <p:spPr/>
        <p:txBody>
          <a:bodyPr/>
          <a:lstStyle/>
          <a:p>
            <a:r>
              <a:t>What is an inode?</a:t>
            </a:r>
            <a:endParaRPr lang="en-US" dirty="0"/>
          </a:p>
        </p:txBody>
      </p:sp>
      <p:sp>
        <p:nvSpPr>
          <p:cNvPr id="3" name="Content Placeholder 2">
            <a:extLst>
              <a:ext uri="{FF2B5EF4-FFF2-40B4-BE49-F238E27FC236}">
                <a16:creationId xmlns:a16="http://schemas.microsoft.com/office/drawing/2014/main" id="{52F78973-1ADD-4770-A5C6-3ED22137CD7C}"/>
              </a:ext>
            </a:extLst>
          </p:cNvPr>
          <p:cNvSpPr>
            <a:spLocks noGrp="1"/>
          </p:cNvSpPr>
          <p:nvPr>
            <p:ph idx="1"/>
          </p:nvPr>
        </p:nvSpPr>
        <p:spPr>
          <a:xfrm>
            <a:off x="838200" y="1825625"/>
            <a:ext cx="5132754" cy="4351338"/>
          </a:xfrm>
        </p:spPr>
        <p:txBody>
          <a:bodyPr lIns="45720" rIns="45720">
            <a:normAutofit lnSpcReduction="10000"/>
          </a:bodyPr>
          <a:lstStyle/>
          <a:p>
            <a:pPr>
              <a:spcAft>
                <a:spcPts val="400"/>
              </a:spcAft>
            </a:pPr>
            <a:r>
              <a:rPr sz="2400">
                <a:solidFill>
                  <a:srgbClr val="000000"/>
                </a:solidFill>
              </a:rPr>
              <a:t>An inode is a file-system data structure, not the file name itself.</a:t>
            </a:r>
          </a:p>
          <a:p>
            <a:pPr lvl="1">
              <a:spcAft>
                <a:spcPts val="400"/>
              </a:spcAft>
            </a:pPr>
            <a:r>
              <a:rPr sz="2100">
                <a:solidFill>
                  <a:srgbClr val="000000"/>
                </a:solidFill>
              </a:rPr>
              <a:t>It has a unique inode number within the file system.</a:t>
            </a:r>
          </a:p>
          <a:p>
            <a:pPr>
              <a:spcAft>
                <a:spcPts val="400"/>
              </a:spcAft>
            </a:pPr>
            <a:r>
              <a:rPr sz="2400">
                <a:solidFill>
                  <a:srgbClr val="000000"/>
                </a:solidFill>
              </a:rPr>
              <a:t>It stores metadata: owner, permissions, size, timestamps, and block pointers.</a:t>
            </a:r>
          </a:p>
          <a:p>
            <a:pPr>
              <a:spcAft>
                <a:spcPts val="400"/>
              </a:spcAft>
            </a:pPr>
            <a:r>
              <a:rPr sz="2400">
                <a:solidFill>
                  <a:srgbClr val="000000"/>
                </a:solidFill>
              </a:rPr>
              <a:t>A directory maps file names to inode numbers.</a:t>
            </a:r>
          </a:p>
          <a:p>
            <a:pPr>
              <a:spcAft>
                <a:spcPts val="400"/>
              </a:spcAft>
            </a:pPr>
            <a:r>
              <a:rPr sz="2400">
                <a:solidFill>
                  <a:srgbClr val="000000"/>
                </a:solidFill>
              </a:rPr>
              <a:t>Forensics: inode metadata helps reconstruct file activity even when names change.</a:t>
            </a:r>
          </a:p>
        </p:txBody>
      </p:sp>
      <p:pic>
        <p:nvPicPr>
          <p:cNvPr id="2050" name="Picture 2">
            <a:extLst>
              <a:ext uri="{FF2B5EF4-FFF2-40B4-BE49-F238E27FC236}">
                <a16:creationId xmlns:a16="http://schemas.microsoft.com/office/drawing/2014/main" id="{B65BF09A-60A9-45E0-A526-3C859DF2D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555" y="0"/>
            <a:ext cx="4251966" cy="34878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5720A7-2A9A-4F8F-8634-DCA2F2DE3064}"/>
              </a:ext>
            </a:extLst>
          </p:cNvPr>
          <p:cNvSpPr txBox="1"/>
          <p:nvPr/>
        </p:nvSpPr>
        <p:spPr>
          <a:xfrm>
            <a:off x="8174892" y="6596390"/>
            <a:ext cx="3423141" cy="261610"/>
          </a:xfrm>
          <a:prstGeom prst="rect">
            <a:avLst/>
          </a:prstGeom>
          <a:noFill/>
        </p:spPr>
        <p:txBody>
          <a:bodyPr wrap="square">
            <a:spAutoFit/>
          </a:bodyPr>
          <a:lstStyle/>
          <a:p>
            <a:r>
              <a:rPr lang="en-US" sz="1050"/>
              <a:t>https://www.slashroot.in/inode-and-its-structure-linux</a:t>
            </a:r>
            <a:endParaRPr lang="en-US" sz="1050" dirty="0"/>
          </a:p>
        </p:txBody>
      </p:sp>
      <p:cxnSp>
        <p:nvCxnSpPr>
          <p:cNvPr id="7" name="Straight Arrow Connector 6">
            <a:extLst>
              <a:ext uri="{FF2B5EF4-FFF2-40B4-BE49-F238E27FC236}">
                <a16:creationId xmlns:a16="http://schemas.microsoft.com/office/drawing/2014/main" id="{EC307391-1545-4E1F-8009-63028612972F}"/>
              </a:ext>
            </a:extLst>
          </p:cNvPr>
          <p:cNvCxnSpPr>
            <a:cxnSpLocks/>
          </p:cNvCxnSpPr>
          <p:nvPr/>
        </p:nvCxnSpPr>
        <p:spPr>
          <a:xfrm flipV="1">
            <a:off x="4338536" y="1268427"/>
            <a:ext cx="4430326" cy="72574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4247ABBB-72B0-41C5-8F01-D118479E0DB4}"/>
              </a:ext>
            </a:extLst>
          </p:cNvPr>
          <p:cNvPicPr>
            <a:picLocks noChangeAspect="1"/>
          </p:cNvPicPr>
          <p:nvPr/>
        </p:nvPicPr>
        <p:blipFill>
          <a:blip r:embed="rId4"/>
          <a:stretch>
            <a:fillRect/>
          </a:stretch>
        </p:blipFill>
        <p:spPr>
          <a:xfrm>
            <a:off x="7330830" y="3363841"/>
            <a:ext cx="1522168" cy="3363354"/>
          </a:xfrm>
          <a:prstGeom prst="rect">
            <a:avLst/>
          </a:prstGeom>
        </p:spPr>
      </p:pic>
      <p:cxnSp>
        <p:nvCxnSpPr>
          <p:cNvPr id="11" name="Straight Arrow Connector 10">
            <a:extLst>
              <a:ext uri="{FF2B5EF4-FFF2-40B4-BE49-F238E27FC236}">
                <a16:creationId xmlns:a16="http://schemas.microsoft.com/office/drawing/2014/main" id="{562E99B7-4DD8-4194-9313-6D742A2FC80C}"/>
              </a:ext>
            </a:extLst>
          </p:cNvPr>
          <p:cNvCxnSpPr>
            <a:cxnSpLocks/>
          </p:cNvCxnSpPr>
          <p:nvPr/>
        </p:nvCxnSpPr>
        <p:spPr>
          <a:xfrm>
            <a:off x="5806831" y="2841068"/>
            <a:ext cx="1570892" cy="15500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C60479DE-353E-43E3-85FD-C447AFEDAE00}"/>
              </a:ext>
            </a:extLst>
          </p:cNvPr>
          <p:cNvSpPr txBox="1"/>
          <p:nvPr/>
        </p:nvSpPr>
        <p:spPr>
          <a:xfrm>
            <a:off x="8895330" y="3531569"/>
            <a:ext cx="2501839" cy="369332"/>
          </a:xfrm>
          <a:prstGeom prst="rect">
            <a:avLst/>
          </a:prstGeom>
          <a:noFill/>
        </p:spPr>
        <p:txBody>
          <a:bodyPr wrap="square">
            <a:spAutoFit/>
          </a:bodyPr>
          <a:lstStyle/>
          <a:p>
            <a:r>
              <a:rPr lang="en-US" dirty="0">
                <a:solidFill>
                  <a:schemeClr val="accent6"/>
                </a:solidFill>
              </a:rPr>
              <a:t>permission information</a:t>
            </a:r>
          </a:p>
        </p:txBody>
      </p:sp>
      <p:sp>
        <p:nvSpPr>
          <p:cNvPr id="19" name="TextBox 18">
            <a:extLst>
              <a:ext uri="{FF2B5EF4-FFF2-40B4-BE49-F238E27FC236}">
                <a16:creationId xmlns:a16="http://schemas.microsoft.com/office/drawing/2014/main" id="{8B17EBD2-ED41-4B1F-A6A2-41C777213C37}"/>
              </a:ext>
            </a:extLst>
          </p:cNvPr>
          <p:cNvSpPr txBox="1"/>
          <p:nvPr/>
        </p:nvSpPr>
        <p:spPr>
          <a:xfrm>
            <a:off x="9022982" y="5314816"/>
            <a:ext cx="2125785" cy="369332"/>
          </a:xfrm>
          <a:prstGeom prst="rect">
            <a:avLst/>
          </a:prstGeom>
          <a:noFill/>
        </p:spPr>
        <p:txBody>
          <a:bodyPr wrap="square">
            <a:spAutoFit/>
          </a:bodyPr>
          <a:lstStyle/>
          <a:p>
            <a:r>
              <a:rPr lang="en-US" dirty="0">
                <a:solidFill>
                  <a:schemeClr val="accent6"/>
                </a:solidFill>
              </a:rPr>
              <a:t>block</a:t>
            </a:r>
            <a:r>
              <a:rPr lang="en-US" dirty="0"/>
              <a:t> </a:t>
            </a:r>
            <a:r>
              <a:rPr lang="en-US" dirty="0">
                <a:solidFill>
                  <a:schemeClr val="accent6"/>
                </a:solidFill>
              </a:rPr>
              <a:t>pointers</a:t>
            </a:r>
          </a:p>
        </p:txBody>
      </p:sp>
      <p:sp>
        <p:nvSpPr>
          <p:cNvPr id="18" name="Right Brace 17">
            <a:extLst>
              <a:ext uri="{FF2B5EF4-FFF2-40B4-BE49-F238E27FC236}">
                <a16:creationId xmlns:a16="http://schemas.microsoft.com/office/drawing/2014/main" id="{EA74387A-0410-44B2-B340-2B2D226ED72D}"/>
              </a:ext>
            </a:extLst>
          </p:cNvPr>
          <p:cNvSpPr/>
          <p:nvPr/>
        </p:nvSpPr>
        <p:spPr>
          <a:xfrm>
            <a:off x="8768862" y="4650154"/>
            <a:ext cx="187569" cy="17037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5EB9B4FA-121E-45FD-915B-8AC50E35ED76}"/>
              </a:ext>
            </a:extLst>
          </p:cNvPr>
          <p:cNvCxnSpPr>
            <a:cxnSpLocks/>
            <a:endCxn id="17" idx="1"/>
          </p:cNvCxnSpPr>
          <p:nvPr/>
        </p:nvCxnSpPr>
        <p:spPr>
          <a:xfrm>
            <a:off x="8661798" y="3716235"/>
            <a:ext cx="2335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437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6CBCC3-0B20-4F74-9E49-25F3BAAF2D33}"/>
              </a:ext>
            </a:extLst>
          </p:cNvPr>
          <p:cNvPicPr>
            <a:picLocks noChangeAspect="1"/>
          </p:cNvPicPr>
          <p:nvPr/>
        </p:nvPicPr>
        <p:blipFill>
          <a:blip r:embed="rId2"/>
          <a:stretch>
            <a:fillRect/>
          </a:stretch>
        </p:blipFill>
        <p:spPr>
          <a:xfrm>
            <a:off x="1778896" y="18754"/>
            <a:ext cx="8634208" cy="6820491"/>
          </a:xfrm>
          <a:prstGeom prst="rect">
            <a:avLst/>
          </a:prstGeom>
        </p:spPr>
      </p:pic>
    </p:spTree>
    <p:extLst>
      <p:ext uri="{BB962C8B-B14F-4D97-AF65-F5344CB8AC3E}">
        <p14:creationId xmlns:p14="http://schemas.microsoft.com/office/powerpoint/2010/main" val="3068364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A890-57B6-4DFA-929A-AE449FC9BABA}"/>
              </a:ext>
            </a:extLst>
          </p:cNvPr>
          <p:cNvSpPr>
            <a:spLocks noGrp="1"/>
          </p:cNvSpPr>
          <p:nvPr>
            <p:ph type="title"/>
          </p:nvPr>
        </p:nvSpPr>
        <p:spPr/>
        <p:txBody>
          <a:bodyPr/>
          <a:lstStyle/>
          <a:p>
            <a:r>
              <a:t>Check inode usage with df -i</a:t>
            </a:r>
            <a:endParaRPr lang="en-US" dirty="0"/>
          </a:p>
        </p:txBody>
      </p:sp>
      <p:pic>
        <p:nvPicPr>
          <p:cNvPr id="4" name="Picture 3">
            <a:extLst>
              <a:ext uri="{FF2B5EF4-FFF2-40B4-BE49-F238E27FC236}">
                <a16:creationId xmlns:a16="http://schemas.microsoft.com/office/drawing/2014/main" id="{00552C3E-CC0A-47E4-B981-B93BE117E855}"/>
              </a:ext>
            </a:extLst>
          </p:cNvPr>
          <p:cNvPicPr>
            <a:picLocks noChangeAspect="1"/>
          </p:cNvPicPr>
          <p:nvPr/>
        </p:nvPicPr>
        <p:blipFill>
          <a:blip r:embed="rId3"/>
          <a:stretch>
            <a:fillRect/>
          </a:stretch>
        </p:blipFill>
        <p:spPr>
          <a:xfrm>
            <a:off x="952843" y="1852911"/>
            <a:ext cx="9018008" cy="3729910"/>
          </a:xfrm>
          <a:prstGeom prst="rect">
            <a:avLst/>
          </a:prstGeom>
        </p:spPr>
      </p:pic>
      <p:sp>
        <p:nvSpPr>
          <p:cNvPr id="6" name="TextBox 5">
            <a:extLst>
              <a:ext uri="{FF2B5EF4-FFF2-40B4-BE49-F238E27FC236}">
                <a16:creationId xmlns:a16="http://schemas.microsoft.com/office/drawing/2014/main" id="{E697AA09-D0C7-4AD3-AF69-A073945B6CFC}"/>
              </a:ext>
            </a:extLst>
          </p:cNvPr>
          <p:cNvSpPr txBox="1"/>
          <p:nvPr/>
        </p:nvSpPr>
        <p:spPr>
          <a:xfrm>
            <a:off x="4165600" y="2593703"/>
            <a:ext cx="3860800" cy="369332"/>
          </a:xfrm>
          <a:prstGeom prst="rect">
            <a:avLst/>
          </a:prstGeom>
          <a:solidFill>
            <a:schemeClr val="accent4">
              <a:lumMod val="20000"/>
              <a:lumOff val="80000"/>
            </a:schemeClr>
          </a:solidFill>
        </p:spPr>
        <p:txBody>
          <a:bodyPr wrap="square">
            <a:spAutoFit/>
          </a:bodyPr>
          <a:lstStyle/>
          <a:p>
            <a:r>
              <a:rPr lang="en-US" i="1" dirty="0">
                <a:solidFill>
                  <a:srgbClr val="FF0000"/>
                </a:solidFill>
              </a:rPr>
              <a:t>-</a:t>
            </a:r>
            <a:r>
              <a:rPr lang="en-US" i="1" dirty="0" err="1">
                <a:solidFill>
                  <a:srgbClr val="FF0000"/>
                </a:solidFill>
              </a:rPr>
              <a:t>i</a:t>
            </a:r>
            <a:r>
              <a:rPr lang="en-US" i="1" dirty="0">
                <a:solidFill>
                  <a:srgbClr val="FF0000"/>
                </a:solidFill>
              </a:rPr>
              <a:t>, --</a:t>
            </a:r>
            <a:r>
              <a:rPr lang="en-US" i="1" dirty="0" err="1">
                <a:solidFill>
                  <a:srgbClr val="FF0000"/>
                </a:solidFill>
              </a:rPr>
              <a:t>inodes</a:t>
            </a:r>
            <a:r>
              <a:rPr lang="en-US" i="1" dirty="0">
                <a:solidFill>
                  <a:srgbClr val="FF0000"/>
                </a:solidFill>
              </a:rPr>
              <a:t>          </a:t>
            </a:r>
            <a:r>
              <a:rPr lang="en-US" dirty="0"/>
              <a:t>list </a:t>
            </a:r>
            <a:r>
              <a:rPr lang="en-US" dirty="0" err="1"/>
              <a:t>inode</a:t>
            </a:r>
            <a:r>
              <a:rPr lang="en-US" dirty="0"/>
              <a:t> information</a:t>
            </a:r>
          </a:p>
        </p:txBody>
      </p:sp>
      <p:pic>
        <p:nvPicPr>
          <p:cNvPr id="3" name="Picture 2">
            <a:extLst>
              <a:ext uri="{FF2B5EF4-FFF2-40B4-BE49-F238E27FC236}">
                <a16:creationId xmlns:a16="http://schemas.microsoft.com/office/drawing/2014/main" id="{6FFCF155-FE25-A77A-2DEA-B752757E36C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09E9F7-2163-AD13-4029-40A365CA183E}"/>
              </a:ext>
            </a:extLst>
          </p:cNvPr>
          <p:cNvSpPr txBox="1"/>
          <p:nvPr/>
        </p:nvSpPr>
        <p:spPr>
          <a:xfrm>
            <a:off x="3457371" y="6446859"/>
            <a:ext cx="6536635" cy="369332"/>
          </a:xfrm>
          <a:prstGeom prst="rect">
            <a:avLst/>
          </a:prstGeom>
          <a:noFill/>
        </p:spPr>
        <p:txBody>
          <a:bodyPr wrap="square">
            <a:spAutoFit/>
          </a:bodyPr>
          <a:lstStyle/>
          <a:p>
            <a:r>
              <a:rPr lang="en-GB" dirty="0">
                <a:latin typeface="OCRB" panose="020B0609020202020204" pitchFamily="49" charset="0"/>
              </a:rPr>
              <a:t>wmic </a:t>
            </a:r>
            <a:r>
              <a:rPr lang="en-GB" dirty="0" err="1">
                <a:latin typeface="OCRB" panose="020B0609020202020204" pitchFamily="49" charset="0"/>
              </a:rPr>
              <a:t>logicaldisk</a:t>
            </a:r>
            <a:r>
              <a:rPr lang="en-GB" dirty="0">
                <a:latin typeface="OCRB" panose="020B0609020202020204" pitchFamily="49" charset="0"/>
              </a:rPr>
              <a:t> get size, </a:t>
            </a:r>
            <a:r>
              <a:rPr lang="en-GB" dirty="0" err="1">
                <a:latin typeface="OCRB" panose="020B0609020202020204" pitchFamily="49" charset="0"/>
              </a:rPr>
              <a:t>freespace</a:t>
            </a:r>
            <a:r>
              <a:rPr lang="en-GB" dirty="0">
                <a:latin typeface="OCRB" panose="020B0609020202020204" pitchFamily="49" charset="0"/>
              </a:rPr>
              <a:t>, caption</a:t>
            </a:r>
          </a:p>
        </p:txBody>
      </p:sp>
    </p:spTree>
    <p:extLst>
      <p:ext uri="{BB962C8B-B14F-4D97-AF65-F5344CB8AC3E}">
        <p14:creationId xmlns:p14="http://schemas.microsoft.com/office/powerpoint/2010/main" val="855798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142943-7D23-400D-9B1A-4677A16CB443}"/>
              </a:ext>
            </a:extLst>
          </p:cNvPr>
          <p:cNvPicPr>
            <a:picLocks noChangeAspect="1"/>
          </p:cNvPicPr>
          <p:nvPr/>
        </p:nvPicPr>
        <p:blipFill>
          <a:blip r:embed="rId2"/>
          <a:stretch>
            <a:fillRect/>
          </a:stretch>
        </p:blipFill>
        <p:spPr>
          <a:xfrm>
            <a:off x="1306081" y="1909032"/>
            <a:ext cx="8659294" cy="3343904"/>
          </a:xfrm>
          <a:prstGeom prst="rect">
            <a:avLst/>
          </a:prstGeom>
        </p:spPr>
      </p:pic>
      <p:sp>
        <p:nvSpPr>
          <p:cNvPr id="5" name="TextBox 4">
            <a:extLst>
              <a:ext uri="{FF2B5EF4-FFF2-40B4-BE49-F238E27FC236}">
                <a16:creationId xmlns:a16="http://schemas.microsoft.com/office/drawing/2014/main" id="{CFE08556-FFBB-4950-9906-6CE885483EC7}"/>
              </a:ext>
            </a:extLst>
          </p:cNvPr>
          <p:cNvSpPr txBox="1"/>
          <p:nvPr/>
        </p:nvSpPr>
        <p:spPr>
          <a:xfrm>
            <a:off x="1306081" y="1527243"/>
            <a:ext cx="2980624" cy="369332"/>
          </a:xfrm>
          <a:prstGeom prst="rect">
            <a:avLst/>
          </a:prstGeom>
          <a:solidFill>
            <a:schemeClr val="accent4"/>
          </a:solidFill>
        </p:spPr>
        <p:txBody>
          <a:bodyPr wrap="none" rtlCol="0">
            <a:spAutoFit/>
          </a:bodyPr>
          <a:lstStyle/>
          <a:p>
            <a:r>
              <a:t>Check disk space with df -h</a:t>
            </a:r>
            <a:endParaRPr lang="en-US" dirty="0"/>
          </a:p>
        </p:txBody>
      </p:sp>
    </p:spTree>
    <p:extLst>
      <p:ext uri="{BB962C8B-B14F-4D97-AF65-F5344CB8AC3E}">
        <p14:creationId xmlns:p14="http://schemas.microsoft.com/office/powerpoint/2010/main" val="565360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31C78D-78A1-49DC-B782-F890DF224CF4}"/>
              </a:ext>
            </a:extLst>
          </p:cNvPr>
          <p:cNvSpPr>
            <a:spLocks noGrp="1"/>
          </p:cNvSpPr>
          <p:nvPr>
            <p:ph type="title"/>
          </p:nvPr>
        </p:nvSpPr>
        <p:spPr>
          <a:xfrm>
            <a:off x="831850" y="1709738"/>
            <a:ext cx="10515600" cy="2852737"/>
          </a:xfrm>
        </p:spPr>
        <p:txBody>
          <a:bodyPr/>
          <a:lstStyle/>
          <a:p>
            <a:r>
              <a:rPr lang="en-GB"/>
              <a:t>File Structure</a:t>
            </a:r>
            <a:endParaRPr lang="en-US" dirty="0"/>
          </a:p>
        </p:txBody>
      </p:sp>
      <p:sp>
        <p:nvSpPr>
          <p:cNvPr id="7" name="Text Placeholder 6">
            <a:extLst>
              <a:ext uri="{FF2B5EF4-FFF2-40B4-BE49-F238E27FC236}">
                <a16:creationId xmlns:a16="http://schemas.microsoft.com/office/drawing/2014/main" id="{884E09AA-5D92-4777-86E9-8B970559F0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1828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lesystem">
            <a:extLst>
              <a:ext uri="{FF2B5EF4-FFF2-40B4-BE49-F238E27FC236}">
                <a16:creationId xmlns:a16="http://schemas.microsoft.com/office/drawing/2014/main" id="{3E0AD755-377C-4748-9A20-1D28D9968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06" y="87465"/>
            <a:ext cx="11725702" cy="646379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3DD1908-2313-4F74-9581-9C6073554178}"/>
              </a:ext>
            </a:extLst>
          </p:cNvPr>
          <p:cNvSpPr/>
          <p:nvPr/>
        </p:nvSpPr>
        <p:spPr>
          <a:xfrm>
            <a:off x="3695531" y="6642556"/>
            <a:ext cx="5969914" cy="215444"/>
          </a:xfrm>
          <a:prstGeom prst="rect">
            <a:avLst/>
          </a:prstGeom>
        </p:spPr>
        <p:txBody>
          <a:bodyPr wrap="square">
            <a:spAutoFit/>
          </a:bodyPr>
          <a:lstStyle/>
          <a:p>
            <a:r>
              <a:rPr lang="en-US" sz="800" dirty="0"/>
              <a:t>https://www.linux.com/sites/lcom/files/styles/rendered_file/public/standard-unix-filesystem-hierarchy.png?itok=CVqmyk6P</a:t>
            </a:r>
          </a:p>
        </p:txBody>
      </p:sp>
      <p:sp>
        <p:nvSpPr>
          <p:cNvPr id="2" name="Rectangle 1">
            <a:extLst>
              <a:ext uri="{FF2B5EF4-FFF2-40B4-BE49-F238E27FC236}">
                <a16:creationId xmlns:a16="http://schemas.microsoft.com/office/drawing/2014/main" id="{183B9DEE-BA9B-462E-84AF-DD4AE01F02A6}"/>
              </a:ext>
            </a:extLst>
          </p:cNvPr>
          <p:cNvSpPr/>
          <p:nvPr/>
        </p:nvSpPr>
        <p:spPr>
          <a:xfrm>
            <a:off x="10082247" y="1622065"/>
            <a:ext cx="1463040" cy="548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D5F9D30-C3EC-48AB-8C68-BE8683ED90AA}"/>
              </a:ext>
            </a:extLst>
          </p:cNvPr>
          <p:cNvSpPr/>
          <p:nvPr/>
        </p:nvSpPr>
        <p:spPr>
          <a:xfrm>
            <a:off x="10139234" y="4899328"/>
            <a:ext cx="1463040" cy="548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5150DD-9A96-4E5A-86B3-DE1C5EA64D11}"/>
              </a:ext>
            </a:extLst>
          </p:cNvPr>
          <p:cNvSpPr txBox="1"/>
          <p:nvPr/>
        </p:nvSpPr>
        <p:spPr>
          <a:xfrm>
            <a:off x="2023899" y="6282144"/>
            <a:ext cx="9082908" cy="276999"/>
          </a:xfrm>
          <a:prstGeom prst="rect">
            <a:avLst/>
          </a:prstGeom>
          <a:noFill/>
        </p:spPr>
        <p:txBody>
          <a:bodyPr wrap="square">
            <a:spAutoFit/>
          </a:bodyPr>
          <a:lstStyle/>
          <a:p>
            <a:r>
              <a:rPr lang="en-GB" sz="1200" dirty="0"/>
              <a:t>Unix has no direct equivalent of the Windows registry. The same information is scattered through the filesystem, largely in /etc, /proc and /sys.</a:t>
            </a:r>
            <a:endParaRPr lang="en-US" sz="1200" dirty="0"/>
          </a:p>
        </p:txBody>
      </p:sp>
    </p:spTree>
    <p:extLst>
      <p:ext uri="{BB962C8B-B14F-4D97-AF65-F5344CB8AC3E}">
        <p14:creationId xmlns:p14="http://schemas.microsoft.com/office/powerpoint/2010/main" val="1689162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57440CF-B990-4288-9B6B-5E7C6758964E}"/>
              </a:ext>
            </a:extLst>
          </p:cNvPr>
          <p:cNvPicPr>
            <a:picLocks noChangeAspect="1"/>
          </p:cNvPicPr>
          <p:nvPr/>
        </p:nvPicPr>
        <p:blipFill rotWithShape="1">
          <a:blip r:embed="rId2"/>
          <a:srcRect t="7941" b="3493"/>
          <a:stretch/>
        </p:blipFill>
        <p:spPr>
          <a:xfrm>
            <a:off x="690900" y="454899"/>
            <a:ext cx="10576540" cy="5948201"/>
          </a:xfrm>
          <a:prstGeom prst="rect">
            <a:avLst/>
          </a:prstGeom>
        </p:spPr>
      </p:pic>
    </p:spTree>
    <p:extLst>
      <p:ext uri="{BB962C8B-B14F-4D97-AF65-F5344CB8AC3E}">
        <p14:creationId xmlns:p14="http://schemas.microsoft.com/office/powerpoint/2010/main" val="2399777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F3735-5D07-4AA6-9E59-C9E7401A531E}"/>
              </a:ext>
            </a:extLst>
          </p:cNvPr>
          <p:cNvSpPr>
            <a:spLocks noGrp="1"/>
          </p:cNvSpPr>
          <p:nvPr>
            <p:ph type="title"/>
          </p:nvPr>
        </p:nvSpPr>
        <p:spPr/>
        <p:txBody>
          <a:bodyPr/>
          <a:lstStyle/>
          <a:p>
            <a:r>
              <a:t>List the Linux file system from root /</a:t>
            </a:r>
            <a:endParaRPr lang="en-US" i="1" dirty="0">
              <a:solidFill>
                <a:srgbClr val="7030A0"/>
              </a:solidFill>
            </a:endParaRPr>
          </a:p>
        </p:txBody>
      </p:sp>
      <p:pic>
        <p:nvPicPr>
          <p:cNvPr id="9" name="Picture 8">
            <a:extLst>
              <a:ext uri="{FF2B5EF4-FFF2-40B4-BE49-F238E27FC236}">
                <a16:creationId xmlns:a16="http://schemas.microsoft.com/office/drawing/2014/main" id="{87F047EB-062B-4EC2-B491-F60F45689EC4}"/>
              </a:ext>
            </a:extLst>
          </p:cNvPr>
          <p:cNvPicPr>
            <a:picLocks noChangeAspect="1"/>
          </p:cNvPicPr>
          <p:nvPr/>
        </p:nvPicPr>
        <p:blipFill>
          <a:blip r:embed="rId3"/>
          <a:stretch>
            <a:fillRect/>
          </a:stretch>
        </p:blipFill>
        <p:spPr>
          <a:xfrm>
            <a:off x="838200" y="2053696"/>
            <a:ext cx="9993923" cy="2608583"/>
          </a:xfrm>
          <a:prstGeom prst="rect">
            <a:avLst/>
          </a:prstGeom>
        </p:spPr>
      </p:pic>
      <p:pic>
        <p:nvPicPr>
          <p:cNvPr id="11" name="Picture 10">
            <a:extLst>
              <a:ext uri="{FF2B5EF4-FFF2-40B4-BE49-F238E27FC236}">
                <a16:creationId xmlns:a16="http://schemas.microsoft.com/office/drawing/2014/main" id="{2112431A-9E08-41F2-9066-2C399D1C2FE9}"/>
              </a:ext>
            </a:extLst>
          </p:cNvPr>
          <p:cNvPicPr>
            <a:picLocks noChangeAspect="1"/>
          </p:cNvPicPr>
          <p:nvPr/>
        </p:nvPicPr>
        <p:blipFill>
          <a:blip r:embed="rId4"/>
          <a:stretch>
            <a:fillRect/>
          </a:stretch>
        </p:blipFill>
        <p:spPr>
          <a:xfrm>
            <a:off x="838200" y="5173635"/>
            <a:ext cx="5072555" cy="914549"/>
          </a:xfrm>
          <a:prstGeom prst="rect">
            <a:avLst/>
          </a:prstGeom>
        </p:spPr>
      </p:pic>
      <p:sp>
        <p:nvSpPr>
          <p:cNvPr id="12" name="TextBox 11">
            <a:extLst>
              <a:ext uri="{FF2B5EF4-FFF2-40B4-BE49-F238E27FC236}">
                <a16:creationId xmlns:a16="http://schemas.microsoft.com/office/drawing/2014/main" id="{45AA655E-145B-4FA8-83D9-59229527F4AA}"/>
              </a:ext>
            </a:extLst>
          </p:cNvPr>
          <p:cNvSpPr txBox="1"/>
          <p:nvPr/>
        </p:nvSpPr>
        <p:spPr>
          <a:xfrm>
            <a:off x="838200" y="4804304"/>
            <a:ext cx="2809240" cy="369332"/>
          </a:xfrm>
          <a:prstGeom prst="rect">
            <a:avLst/>
          </a:prstGeom>
          <a:solidFill>
            <a:schemeClr val="accent4"/>
          </a:solidFill>
        </p:spPr>
        <p:txBody>
          <a:bodyPr wrap="square" rtlCol="0">
            <a:spAutoFit/>
          </a:bodyPr>
          <a:lstStyle/>
          <a:p>
            <a:r>
              <a:rPr sz="1800" dirty="0"/>
              <a:t>Clear the terminal screen</a:t>
            </a:r>
            <a:endParaRPr lang="en-US" dirty="0"/>
          </a:p>
        </p:txBody>
      </p:sp>
      <p:sp>
        <p:nvSpPr>
          <p:cNvPr id="13" name="TextBox 12">
            <a:extLst>
              <a:ext uri="{FF2B5EF4-FFF2-40B4-BE49-F238E27FC236}">
                <a16:creationId xmlns:a16="http://schemas.microsoft.com/office/drawing/2014/main" id="{58044E78-D134-4A4A-BC87-2980D631A5FC}"/>
              </a:ext>
            </a:extLst>
          </p:cNvPr>
          <p:cNvSpPr txBox="1"/>
          <p:nvPr/>
        </p:nvSpPr>
        <p:spPr>
          <a:xfrm>
            <a:off x="838200" y="1684363"/>
            <a:ext cx="7604760" cy="369332"/>
          </a:xfrm>
          <a:prstGeom prst="rect">
            <a:avLst/>
          </a:prstGeom>
          <a:solidFill>
            <a:schemeClr val="accent4"/>
          </a:solidFill>
        </p:spPr>
        <p:txBody>
          <a:bodyPr wrap="square" rtlCol="0">
            <a:spAutoFit/>
          </a:bodyPr>
          <a:lstStyle/>
          <a:p>
            <a:r>
              <a:rPr sz="1800" dirty="0"/>
              <a:t>Use </a:t>
            </a:r>
            <a:r>
              <a:rPr sz="1800" dirty="0" err="1"/>
              <a:t>pwd</a:t>
            </a:r>
            <a:r>
              <a:rPr sz="1800" dirty="0"/>
              <a:t> first: many commands depend on the current working directory.</a:t>
            </a:r>
            <a:endParaRPr lang="en-US" dirty="0"/>
          </a:p>
        </p:txBody>
      </p:sp>
      <p:pic>
        <p:nvPicPr>
          <p:cNvPr id="2050" name="Picture 2">
            <a:extLst>
              <a:ext uri="{FF2B5EF4-FFF2-40B4-BE49-F238E27FC236}">
                <a16:creationId xmlns:a16="http://schemas.microsoft.com/office/drawing/2014/main" id="{192118E3-1B41-EBAB-580F-0274C8884F3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34185" y="6332367"/>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93D448D-41A7-E11F-F288-0B52E01150C4}"/>
              </a:ext>
            </a:extLst>
          </p:cNvPr>
          <p:cNvSpPr txBox="1"/>
          <p:nvPr/>
        </p:nvSpPr>
        <p:spPr>
          <a:xfrm>
            <a:off x="8729869" y="6313949"/>
            <a:ext cx="2623931" cy="369332"/>
          </a:xfrm>
          <a:prstGeom prst="rect">
            <a:avLst/>
          </a:prstGeom>
          <a:noFill/>
        </p:spPr>
        <p:txBody>
          <a:bodyPr wrap="square">
            <a:spAutoFit/>
          </a:bodyPr>
          <a:lstStyle/>
          <a:p>
            <a:r>
              <a:rPr sz="1600"/>
              <a:t>Windows comparison: cd, cls</a:t>
            </a:r>
            <a:endParaRPr lang="en-US" dirty="0">
              <a:latin typeface="OCRB" panose="020B0609020202020204" pitchFamily="49" charset="0"/>
            </a:endParaRPr>
          </a:p>
        </p:txBody>
      </p:sp>
    </p:spTree>
    <p:extLst>
      <p:ext uri="{BB962C8B-B14F-4D97-AF65-F5344CB8AC3E}">
        <p14:creationId xmlns:p14="http://schemas.microsoft.com/office/powerpoint/2010/main" val="3213363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F8AEB8-4624-416A-9BA5-4FE710C26B16}"/>
              </a:ext>
            </a:extLst>
          </p:cNvPr>
          <p:cNvPicPr>
            <a:picLocks noChangeAspect="1"/>
          </p:cNvPicPr>
          <p:nvPr/>
        </p:nvPicPr>
        <p:blipFill>
          <a:blip r:embed="rId2"/>
          <a:stretch>
            <a:fillRect/>
          </a:stretch>
        </p:blipFill>
        <p:spPr>
          <a:xfrm>
            <a:off x="880364" y="1846187"/>
            <a:ext cx="10295084" cy="3552664"/>
          </a:xfrm>
          <a:prstGeom prst="rect">
            <a:avLst/>
          </a:prstGeom>
        </p:spPr>
      </p:pic>
      <p:sp>
        <p:nvSpPr>
          <p:cNvPr id="5" name="TextBox 4">
            <a:extLst>
              <a:ext uri="{FF2B5EF4-FFF2-40B4-BE49-F238E27FC236}">
                <a16:creationId xmlns:a16="http://schemas.microsoft.com/office/drawing/2014/main" id="{A4873511-F5D4-40D9-9ACD-D7A57A80B023}"/>
              </a:ext>
            </a:extLst>
          </p:cNvPr>
          <p:cNvSpPr txBox="1"/>
          <p:nvPr/>
        </p:nvSpPr>
        <p:spPr>
          <a:xfrm>
            <a:off x="880364" y="1459149"/>
            <a:ext cx="3057825" cy="369332"/>
          </a:xfrm>
          <a:prstGeom prst="rect">
            <a:avLst/>
          </a:prstGeom>
          <a:solidFill>
            <a:schemeClr val="accent4"/>
          </a:solidFill>
        </p:spPr>
        <p:txBody>
          <a:bodyPr wrap="none" rtlCol="0">
            <a:spAutoFit/>
          </a:bodyPr>
          <a:lstStyle/>
          <a:p>
            <a:r>
              <a:rPr lang="en-GB" dirty="0"/>
              <a:t>Show details of a file/directory</a:t>
            </a:r>
            <a:endParaRPr lang="en-US" dirty="0"/>
          </a:p>
        </p:txBody>
      </p:sp>
      <p:sp>
        <p:nvSpPr>
          <p:cNvPr id="6" name="Rounded Rectangle 5"/>
          <p:cNvSpPr/>
          <p:nvPr/>
        </p:nvSpPr>
        <p:spPr>
          <a:xfrm>
            <a:off x="880364" y="5527040"/>
            <a:ext cx="8046720" cy="457200"/>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dirty="0">
                <a:solidFill>
                  <a:srgbClr val="000000"/>
                </a:solidFill>
              </a:rPr>
              <a:t>ls -l shows permissions, link count, owner/group, size, timestamp, and name.</a:t>
            </a:r>
          </a:p>
        </p:txBody>
      </p:sp>
    </p:spTree>
    <p:extLst>
      <p:ext uri="{BB962C8B-B14F-4D97-AF65-F5344CB8AC3E}">
        <p14:creationId xmlns:p14="http://schemas.microsoft.com/office/powerpoint/2010/main" val="2128572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2149-A8A6-405F-A4D2-20AD826B0EC7}"/>
              </a:ext>
            </a:extLst>
          </p:cNvPr>
          <p:cNvSpPr>
            <a:spLocks noGrp="1"/>
          </p:cNvSpPr>
          <p:nvPr>
            <p:ph type="title"/>
          </p:nvPr>
        </p:nvSpPr>
        <p:spPr/>
        <p:txBody>
          <a:bodyPr/>
          <a:lstStyle/>
          <a:p>
            <a:r>
              <a:t>Show the Linux file system from root with tree</a:t>
            </a:r>
            <a:endParaRPr lang="en-US" i="1" dirty="0">
              <a:solidFill>
                <a:srgbClr val="7030A0"/>
              </a:solidFill>
            </a:endParaRPr>
          </a:p>
        </p:txBody>
      </p:sp>
      <p:pic>
        <p:nvPicPr>
          <p:cNvPr id="4" name="Picture 3">
            <a:extLst>
              <a:ext uri="{FF2B5EF4-FFF2-40B4-BE49-F238E27FC236}">
                <a16:creationId xmlns:a16="http://schemas.microsoft.com/office/drawing/2014/main" id="{B8DE6145-3CB8-4774-959D-5459D1B981AE}"/>
              </a:ext>
            </a:extLst>
          </p:cNvPr>
          <p:cNvPicPr>
            <a:picLocks noChangeAspect="1"/>
          </p:cNvPicPr>
          <p:nvPr/>
        </p:nvPicPr>
        <p:blipFill>
          <a:blip r:embed="rId2"/>
          <a:stretch>
            <a:fillRect/>
          </a:stretch>
        </p:blipFill>
        <p:spPr>
          <a:xfrm>
            <a:off x="838200" y="1690688"/>
            <a:ext cx="6774767" cy="4198984"/>
          </a:xfrm>
          <a:prstGeom prst="rect">
            <a:avLst/>
          </a:prstGeom>
        </p:spPr>
      </p:pic>
      <p:sp>
        <p:nvSpPr>
          <p:cNvPr id="5" name="TextBox 4">
            <a:extLst>
              <a:ext uri="{FF2B5EF4-FFF2-40B4-BE49-F238E27FC236}">
                <a16:creationId xmlns:a16="http://schemas.microsoft.com/office/drawing/2014/main" id="{16551341-F4CD-434D-B699-D48DA8E762F7}"/>
              </a:ext>
            </a:extLst>
          </p:cNvPr>
          <p:cNvSpPr txBox="1"/>
          <p:nvPr/>
        </p:nvSpPr>
        <p:spPr>
          <a:xfrm>
            <a:off x="7612967" y="2092921"/>
            <a:ext cx="2851833" cy="923330"/>
          </a:xfrm>
          <a:prstGeom prst="rect">
            <a:avLst/>
          </a:prstGeom>
          <a:solidFill>
            <a:schemeClr val="accent4">
              <a:lumMod val="20000"/>
              <a:lumOff val="80000"/>
            </a:schemeClr>
          </a:solidFill>
        </p:spPr>
        <p:txBody>
          <a:bodyPr wrap="square" rtlCol="0">
            <a:spAutoFit/>
          </a:bodyPr>
          <a:lstStyle/>
          <a:p>
            <a:r>
              <a:rPr sz="1800"/>
              <a:t>Use tree --help to inspect available options.</a:t>
            </a:r>
            <a:br/>
            <a:r>
              <a:rPr sz="1800"/>
              <a:t>-L controls depth.</a:t>
            </a:r>
          </a:p>
        </p:txBody>
      </p:sp>
    </p:spTree>
    <p:extLst>
      <p:ext uri="{BB962C8B-B14F-4D97-AF65-F5344CB8AC3E}">
        <p14:creationId xmlns:p14="http://schemas.microsoft.com/office/powerpoint/2010/main" val="3533845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66536-78F7-43B6-9E92-08FC8B66881D}"/>
              </a:ext>
            </a:extLst>
          </p:cNvPr>
          <p:cNvSpPr>
            <a:spLocks noGrp="1"/>
          </p:cNvSpPr>
          <p:nvPr>
            <p:ph type="title"/>
          </p:nvPr>
        </p:nvSpPr>
        <p:spPr/>
        <p:txBody>
          <a:bodyPr/>
          <a:lstStyle/>
          <a:p>
            <a:r>
              <a:t>Show the current working directory with tree</a:t>
            </a:r>
            <a:endParaRPr lang="en-US" i="1" dirty="0">
              <a:solidFill>
                <a:srgbClr val="7030A0"/>
              </a:solidFill>
            </a:endParaRPr>
          </a:p>
        </p:txBody>
      </p:sp>
      <p:pic>
        <p:nvPicPr>
          <p:cNvPr id="4" name="Picture 3">
            <a:extLst>
              <a:ext uri="{FF2B5EF4-FFF2-40B4-BE49-F238E27FC236}">
                <a16:creationId xmlns:a16="http://schemas.microsoft.com/office/drawing/2014/main" id="{7DE13BE4-50DC-42BD-89BA-B3BDF22E2D16}"/>
              </a:ext>
            </a:extLst>
          </p:cNvPr>
          <p:cNvPicPr>
            <a:picLocks noChangeAspect="1"/>
          </p:cNvPicPr>
          <p:nvPr/>
        </p:nvPicPr>
        <p:blipFill>
          <a:blip r:embed="rId2"/>
          <a:stretch>
            <a:fillRect/>
          </a:stretch>
        </p:blipFill>
        <p:spPr>
          <a:xfrm>
            <a:off x="956407" y="1690688"/>
            <a:ext cx="3353091" cy="4663844"/>
          </a:xfrm>
          <a:prstGeom prst="rect">
            <a:avLst/>
          </a:prstGeom>
        </p:spPr>
      </p:pic>
      <p:pic>
        <p:nvPicPr>
          <p:cNvPr id="6" name="Picture 5">
            <a:extLst>
              <a:ext uri="{FF2B5EF4-FFF2-40B4-BE49-F238E27FC236}">
                <a16:creationId xmlns:a16="http://schemas.microsoft.com/office/drawing/2014/main" id="{4D6B606E-A002-43A4-BA6E-C0D01FC88E0B}"/>
              </a:ext>
            </a:extLst>
          </p:cNvPr>
          <p:cNvPicPr>
            <a:picLocks noChangeAspect="1"/>
          </p:cNvPicPr>
          <p:nvPr/>
        </p:nvPicPr>
        <p:blipFill>
          <a:blip r:embed="rId3"/>
          <a:stretch>
            <a:fillRect/>
          </a:stretch>
        </p:blipFill>
        <p:spPr>
          <a:xfrm>
            <a:off x="5837456" y="2391508"/>
            <a:ext cx="4279771" cy="3963024"/>
          </a:xfrm>
          <a:prstGeom prst="rect">
            <a:avLst/>
          </a:prstGeom>
        </p:spPr>
      </p:pic>
    </p:spTree>
    <p:extLst>
      <p:ext uri="{BB962C8B-B14F-4D97-AF65-F5344CB8AC3E}">
        <p14:creationId xmlns:p14="http://schemas.microsoft.com/office/powerpoint/2010/main" val="982174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86C5E-F559-434C-8569-D7985BB6B5C0}"/>
              </a:ext>
            </a:extLst>
          </p:cNvPr>
          <p:cNvSpPr>
            <a:spLocks noGrp="1"/>
          </p:cNvSpPr>
          <p:nvPr>
            <p:ph type="title"/>
          </p:nvPr>
        </p:nvSpPr>
        <p:spPr/>
        <p:txBody>
          <a:bodyPr/>
          <a:lstStyle/>
          <a:p>
            <a:r>
              <a:t>Linux commands are executable files</a:t>
            </a:r>
            <a:endParaRPr lang="en-US" dirty="0">
              <a:solidFill>
                <a:srgbClr val="FF0000"/>
              </a:solidFill>
            </a:endParaRPr>
          </a:p>
        </p:txBody>
      </p:sp>
      <p:pic>
        <p:nvPicPr>
          <p:cNvPr id="4" name="Picture 3">
            <a:extLst>
              <a:ext uri="{FF2B5EF4-FFF2-40B4-BE49-F238E27FC236}">
                <a16:creationId xmlns:a16="http://schemas.microsoft.com/office/drawing/2014/main" id="{78DEB2C5-89F6-4E83-B749-C45C95085A75}"/>
              </a:ext>
            </a:extLst>
          </p:cNvPr>
          <p:cNvPicPr>
            <a:picLocks noChangeAspect="1"/>
          </p:cNvPicPr>
          <p:nvPr/>
        </p:nvPicPr>
        <p:blipFill>
          <a:blip r:embed="rId2"/>
          <a:stretch>
            <a:fillRect/>
          </a:stretch>
        </p:blipFill>
        <p:spPr>
          <a:xfrm>
            <a:off x="838199" y="2156349"/>
            <a:ext cx="6499401" cy="1598527"/>
          </a:xfrm>
          <a:prstGeom prst="rect">
            <a:avLst/>
          </a:prstGeom>
        </p:spPr>
      </p:pic>
      <p:sp>
        <p:nvSpPr>
          <p:cNvPr id="5" name="TextBox 4">
            <a:extLst>
              <a:ext uri="{FF2B5EF4-FFF2-40B4-BE49-F238E27FC236}">
                <a16:creationId xmlns:a16="http://schemas.microsoft.com/office/drawing/2014/main" id="{9EA05D13-BD3B-4BAD-A54B-F0420A99B37F}"/>
              </a:ext>
            </a:extLst>
          </p:cNvPr>
          <p:cNvSpPr txBox="1"/>
          <p:nvPr/>
        </p:nvSpPr>
        <p:spPr>
          <a:xfrm>
            <a:off x="767860" y="4220537"/>
            <a:ext cx="10380278" cy="461665"/>
          </a:xfrm>
          <a:prstGeom prst="rect">
            <a:avLst/>
          </a:prstGeom>
          <a:noFill/>
        </p:spPr>
        <p:txBody>
          <a:bodyPr wrap="none" rtlCol="0">
            <a:spAutoFit/>
          </a:bodyPr>
          <a:lstStyle/>
          <a:p>
            <a:r>
              <a:rPr sz="2400"/>
              <a:t>The shell can run ls from any directory because /bin or /usr/bin is listed in $PATH.</a:t>
            </a:r>
            <a:endParaRPr lang="en-US" sz="2400" dirty="0"/>
          </a:p>
        </p:txBody>
      </p:sp>
      <p:sp>
        <p:nvSpPr>
          <p:cNvPr id="3" name="TextBox 2">
            <a:extLst>
              <a:ext uri="{FF2B5EF4-FFF2-40B4-BE49-F238E27FC236}">
                <a16:creationId xmlns:a16="http://schemas.microsoft.com/office/drawing/2014/main" id="{7C47416C-9894-754F-19BE-B6295AFCE305}"/>
              </a:ext>
            </a:extLst>
          </p:cNvPr>
          <p:cNvSpPr txBox="1"/>
          <p:nvPr/>
        </p:nvSpPr>
        <p:spPr>
          <a:xfrm>
            <a:off x="838199" y="1787017"/>
            <a:ext cx="3405291" cy="369332"/>
          </a:xfrm>
          <a:prstGeom prst="rect">
            <a:avLst/>
          </a:prstGeom>
          <a:solidFill>
            <a:schemeClr val="accent4"/>
          </a:solidFill>
        </p:spPr>
        <p:txBody>
          <a:bodyPr wrap="none" rtlCol="0">
            <a:spAutoFit/>
          </a:bodyPr>
          <a:lstStyle/>
          <a:p>
            <a:r>
              <a:rPr sz="1800"/>
              <a:t>Display the ls executable under /bin</a:t>
            </a:r>
            <a:endParaRPr lang="en-US" dirty="0">
              <a:latin typeface="OCRB" panose="020B0609020202020204" pitchFamily="49" charset="0"/>
            </a:endParaRPr>
          </a:p>
        </p:txBody>
      </p:sp>
    </p:spTree>
    <p:extLst>
      <p:ext uri="{BB962C8B-B14F-4D97-AF65-F5344CB8AC3E}">
        <p14:creationId xmlns:p14="http://schemas.microsoft.com/office/powerpoint/2010/main" val="1673180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221579-6CF5-449F-B054-03A194D4F7B6}"/>
              </a:ext>
            </a:extLst>
          </p:cNvPr>
          <p:cNvSpPr>
            <a:spLocks noGrp="1"/>
          </p:cNvSpPr>
          <p:nvPr>
            <p:ph type="title"/>
          </p:nvPr>
        </p:nvSpPr>
        <p:spPr/>
        <p:txBody>
          <a:bodyPr/>
          <a:lstStyle/>
          <a:p>
            <a:r>
              <a:rPr lang="en-GB" dirty="0"/>
              <a:t>Path and Path variable </a:t>
            </a:r>
            <a:endParaRPr lang="en-US" dirty="0"/>
          </a:p>
        </p:txBody>
      </p:sp>
      <p:sp>
        <p:nvSpPr>
          <p:cNvPr id="4" name="Text Placeholder 3">
            <a:extLst>
              <a:ext uri="{FF2B5EF4-FFF2-40B4-BE49-F238E27FC236}">
                <a16:creationId xmlns:a16="http://schemas.microsoft.com/office/drawing/2014/main" id="{7EC1785D-911F-4C9D-BA71-488C434D758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9337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AD3DFD-1DC7-B017-3572-0B51E6108F91}"/>
              </a:ext>
            </a:extLst>
          </p:cNvPr>
          <p:cNvSpPr>
            <a:spLocks noGrp="1"/>
          </p:cNvSpPr>
          <p:nvPr>
            <p:ph type="title"/>
          </p:nvPr>
        </p:nvSpPr>
        <p:spPr/>
        <p:txBody>
          <a:bodyPr/>
          <a:lstStyle/>
          <a:p>
            <a:r>
              <a:t>What is a path in a file system?</a:t>
            </a:r>
            <a:endParaRPr lang="en-US" dirty="0"/>
          </a:p>
        </p:txBody>
      </p:sp>
      <p:sp>
        <p:nvSpPr>
          <p:cNvPr id="5" name="Content Placeholder 4">
            <a:extLst>
              <a:ext uri="{FF2B5EF4-FFF2-40B4-BE49-F238E27FC236}">
                <a16:creationId xmlns:a16="http://schemas.microsoft.com/office/drawing/2014/main" id="{F922496E-75FA-0D00-751B-8512F88BAD9D}"/>
              </a:ext>
            </a:extLst>
          </p:cNvPr>
          <p:cNvSpPr>
            <a:spLocks noGrp="1"/>
          </p:cNvSpPr>
          <p:nvPr>
            <p:ph idx="1"/>
          </p:nvPr>
        </p:nvSpPr>
        <p:spPr/>
        <p:txBody>
          <a:bodyPr lIns="45720" rIns="45720"/>
          <a:lstStyle/>
          <a:p>
            <a:pPr>
              <a:spcAft>
                <a:spcPts val="400"/>
              </a:spcAft>
            </a:pPr>
            <a:r>
              <a:rPr sz="2700">
                <a:solidFill>
                  <a:srgbClr val="000000"/>
                </a:solidFill>
              </a:rPr>
              <a:t>A path identifies the location of a file or directory.</a:t>
            </a:r>
          </a:p>
          <a:p>
            <a:pPr>
              <a:spcAft>
                <a:spcPts val="400"/>
              </a:spcAft>
            </a:pPr>
            <a:r>
              <a:rPr sz="2700">
                <a:solidFill>
                  <a:srgbClr val="000000"/>
                </a:solidFill>
              </a:rPr>
              <a:t>It describes the sequence of directories from a starting point to the target.</a:t>
            </a:r>
          </a:p>
          <a:p>
            <a:pPr>
              <a:spcAft>
                <a:spcPts val="400"/>
              </a:spcAft>
            </a:pPr>
            <a:r>
              <a:rPr sz="2700">
                <a:solidFill>
                  <a:srgbClr val="000000"/>
                </a:solidFill>
              </a:rPr>
              <a:t>Absolute paths start at root /.</a:t>
            </a:r>
          </a:p>
          <a:p>
            <a:pPr>
              <a:spcAft>
                <a:spcPts val="400"/>
              </a:spcAft>
            </a:pPr>
            <a:r>
              <a:rPr sz="2700">
                <a:solidFill>
                  <a:srgbClr val="000000"/>
                </a:solidFill>
              </a:rPr>
              <a:t>Relative paths start from the current working directory.</a:t>
            </a:r>
          </a:p>
          <a:p>
            <a:pPr>
              <a:spcAft>
                <a:spcPts val="400"/>
              </a:spcAft>
            </a:pPr>
            <a:r>
              <a:rPr sz="2700">
                <a:solidFill>
                  <a:srgbClr val="000000"/>
                </a:solidFill>
              </a:rPr>
              <a:t>Forensics: record exact paths so another analyst can reproduce your steps.</a:t>
            </a:r>
          </a:p>
        </p:txBody>
      </p:sp>
      <p:pic>
        <p:nvPicPr>
          <p:cNvPr id="6" name="Picture 5">
            <a:extLst>
              <a:ext uri="{FF2B5EF4-FFF2-40B4-BE49-F238E27FC236}">
                <a16:creationId xmlns:a16="http://schemas.microsoft.com/office/drawing/2014/main" id="{F855ED4F-8BFA-8227-B6B4-76144EC44D24}"/>
              </a:ext>
            </a:extLst>
          </p:cNvPr>
          <p:cNvPicPr>
            <a:picLocks noChangeAspect="1"/>
          </p:cNvPicPr>
          <p:nvPr/>
        </p:nvPicPr>
        <p:blipFill>
          <a:blip r:embed="rId2"/>
          <a:stretch>
            <a:fillRect/>
          </a:stretch>
        </p:blipFill>
        <p:spPr>
          <a:xfrm>
            <a:off x="9448800" y="-79375"/>
            <a:ext cx="1905000" cy="1905000"/>
          </a:xfrm>
          <a:prstGeom prst="rect">
            <a:avLst/>
          </a:prstGeom>
        </p:spPr>
      </p:pic>
    </p:spTree>
    <p:extLst>
      <p:ext uri="{BB962C8B-B14F-4D97-AF65-F5344CB8AC3E}">
        <p14:creationId xmlns:p14="http://schemas.microsoft.com/office/powerpoint/2010/main" val="3196959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2C95-538B-4A08-B4E6-4CB98BB80680}"/>
              </a:ext>
            </a:extLst>
          </p:cNvPr>
          <p:cNvSpPr>
            <a:spLocks noGrp="1"/>
          </p:cNvSpPr>
          <p:nvPr>
            <p:ph type="title"/>
          </p:nvPr>
        </p:nvSpPr>
        <p:spPr/>
        <p:txBody>
          <a:bodyPr/>
          <a:lstStyle/>
          <a:p>
            <a:r>
              <a:t>Absolute and relative paths</a:t>
            </a:r>
          </a:p>
        </p:txBody>
      </p:sp>
      <p:sp>
        <p:nvSpPr>
          <p:cNvPr id="4" name="Content Placeholder 3">
            <a:extLst>
              <a:ext uri="{FF2B5EF4-FFF2-40B4-BE49-F238E27FC236}">
                <a16:creationId xmlns:a16="http://schemas.microsoft.com/office/drawing/2014/main" id="{035D489E-10E1-4BC8-9FA1-376264A39956}"/>
              </a:ext>
            </a:extLst>
          </p:cNvPr>
          <p:cNvSpPr>
            <a:spLocks noGrp="1"/>
          </p:cNvSpPr>
          <p:nvPr>
            <p:ph idx="1"/>
          </p:nvPr>
        </p:nvSpPr>
        <p:spPr>
          <a:xfrm>
            <a:off x="838200" y="4954953"/>
            <a:ext cx="10515600" cy="1222009"/>
          </a:xfrm>
        </p:spPr>
        <p:txBody>
          <a:bodyPr lIns="45720" rIns="45720">
            <a:normAutofit/>
          </a:bodyPr>
          <a:lstStyle/>
          <a:p>
            <a:pPr>
              <a:spcAft>
                <a:spcPts val="400"/>
              </a:spcAft>
            </a:pPr>
            <a:r>
              <a:rPr sz="2700">
                <a:solidFill>
                  <a:srgbClr val="000000"/>
                </a:solidFill>
              </a:rPr>
              <a:t>Absolute path to file.txt: /home/user-1/folder-1/file.txt</a:t>
            </a:r>
          </a:p>
          <a:p>
            <a:pPr>
              <a:spcAft>
                <a:spcPts val="400"/>
              </a:spcAft>
            </a:pPr>
            <a:r>
              <a:rPr sz="2700">
                <a:solidFill>
                  <a:srgbClr val="000000"/>
                </a:solidFill>
              </a:rPr>
              <a:t>Relative path from folder-2 to file.txt: ../folder-1/file.txt</a:t>
            </a:r>
          </a:p>
        </p:txBody>
      </p:sp>
      <p:pic>
        <p:nvPicPr>
          <p:cNvPr id="3" name="Picture 2">
            <a:extLst>
              <a:ext uri="{FF2B5EF4-FFF2-40B4-BE49-F238E27FC236}">
                <a16:creationId xmlns:a16="http://schemas.microsoft.com/office/drawing/2014/main" id="{9663A687-8D1B-4875-BFDA-8ADD27650C20}"/>
              </a:ext>
            </a:extLst>
          </p:cNvPr>
          <p:cNvPicPr>
            <a:picLocks noChangeAspect="1"/>
          </p:cNvPicPr>
          <p:nvPr/>
        </p:nvPicPr>
        <p:blipFill rotWithShape="1">
          <a:blip r:embed="rId2"/>
          <a:srcRect t="3796"/>
          <a:stretch/>
        </p:blipFill>
        <p:spPr>
          <a:xfrm>
            <a:off x="838200" y="1547446"/>
            <a:ext cx="8017192" cy="3407508"/>
          </a:xfrm>
          <a:prstGeom prst="rect">
            <a:avLst/>
          </a:prstGeom>
        </p:spPr>
      </p:pic>
    </p:spTree>
    <p:extLst>
      <p:ext uri="{BB962C8B-B14F-4D97-AF65-F5344CB8AC3E}">
        <p14:creationId xmlns:p14="http://schemas.microsoft.com/office/powerpoint/2010/main" val="783190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208B58-0E66-44D6-BA81-6687A0D72552}"/>
              </a:ext>
            </a:extLst>
          </p:cNvPr>
          <p:cNvSpPr>
            <a:spLocks noGrp="1"/>
          </p:cNvSpPr>
          <p:nvPr>
            <p:ph type="title"/>
          </p:nvPr>
        </p:nvSpPr>
        <p:spPr>
          <a:xfrm>
            <a:off x="838200" y="365125"/>
            <a:ext cx="10515600" cy="1325563"/>
          </a:xfrm>
        </p:spPr>
        <p:txBody>
          <a:bodyPr/>
          <a:lstStyle/>
          <a:p>
            <a:r>
              <a:t>Move to the parent directory with a relative path</a:t>
            </a:r>
          </a:p>
        </p:txBody>
      </p:sp>
      <p:sp>
        <p:nvSpPr>
          <p:cNvPr id="2" name="Slide Number Placeholder 1"/>
          <p:cNvSpPr>
            <a:spLocks noGrp="1"/>
          </p:cNvSpPr>
          <p:nvPr>
            <p:ph type="sldNum" sz="quarter" idx="12"/>
          </p:nvPr>
        </p:nvSpPr>
        <p:spPr>
          <a:xfrm>
            <a:off x="8610600" y="6356350"/>
            <a:ext cx="2743200" cy="365125"/>
          </a:xfrm>
        </p:spPr>
        <p:txBody>
          <a:bodyPr/>
          <a:lstStyle/>
          <a:p>
            <a:fld id="{00000000-1234-1234-1234-123412341234}" type="slidenum">
              <a:rPr lang="en" smtClean="0"/>
              <a:pPr/>
              <a:t>34</a:t>
            </a:fld>
            <a:endParaRPr lang="en"/>
          </a:p>
        </p:txBody>
      </p:sp>
      <p:pic>
        <p:nvPicPr>
          <p:cNvPr id="6" name="Picture 5">
            <a:extLst>
              <a:ext uri="{FF2B5EF4-FFF2-40B4-BE49-F238E27FC236}">
                <a16:creationId xmlns:a16="http://schemas.microsoft.com/office/drawing/2014/main" id="{E56ACD9C-686E-43F4-A55E-E9A1ED1633C5}"/>
              </a:ext>
            </a:extLst>
          </p:cNvPr>
          <p:cNvPicPr>
            <a:picLocks noChangeAspect="1"/>
          </p:cNvPicPr>
          <p:nvPr/>
        </p:nvPicPr>
        <p:blipFill>
          <a:blip r:embed="rId2"/>
          <a:stretch>
            <a:fillRect/>
          </a:stretch>
        </p:blipFill>
        <p:spPr>
          <a:xfrm>
            <a:off x="838200" y="2142294"/>
            <a:ext cx="5850491" cy="2573412"/>
          </a:xfrm>
          <a:prstGeom prst="rect">
            <a:avLst/>
          </a:prstGeom>
        </p:spPr>
      </p:pic>
      <p:sp>
        <p:nvSpPr>
          <p:cNvPr id="3" name="TextBox 2">
            <a:extLst>
              <a:ext uri="{FF2B5EF4-FFF2-40B4-BE49-F238E27FC236}">
                <a16:creationId xmlns:a16="http://schemas.microsoft.com/office/drawing/2014/main" id="{E4127C82-4C59-A95C-0491-6A063437BBAE}"/>
              </a:ext>
            </a:extLst>
          </p:cNvPr>
          <p:cNvSpPr txBox="1"/>
          <p:nvPr/>
        </p:nvSpPr>
        <p:spPr>
          <a:xfrm>
            <a:off x="3931699" y="6365038"/>
            <a:ext cx="984430" cy="369332"/>
          </a:xfrm>
          <a:prstGeom prst="rect">
            <a:avLst/>
          </a:prstGeom>
          <a:noFill/>
        </p:spPr>
        <p:txBody>
          <a:bodyPr wrap="square">
            <a:spAutoFit/>
          </a:bodyPr>
          <a:lstStyle/>
          <a:p>
            <a:r>
              <a:rPr lang="en-GB" b="0" i="0" dirty="0">
                <a:solidFill>
                  <a:srgbClr val="374151"/>
                </a:solidFill>
                <a:effectLst/>
                <a:latin typeface="Söhne"/>
              </a:rPr>
              <a:t>cd ..</a:t>
            </a:r>
            <a:endParaRPr lang="en-US" dirty="0"/>
          </a:p>
        </p:txBody>
      </p:sp>
      <p:pic>
        <p:nvPicPr>
          <p:cNvPr id="4" name="Picture 3">
            <a:extLst>
              <a:ext uri="{FF2B5EF4-FFF2-40B4-BE49-F238E27FC236}">
                <a16:creationId xmlns:a16="http://schemas.microsoft.com/office/drawing/2014/main" id="{0269F884-3A74-F60F-89B8-DBA4706F3A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9463" y="6335019"/>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691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D4E1-9F76-4A05-9759-D484EE0B4F54}"/>
              </a:ext>
            </a:extLst>
          </p:cNvPr>
          <p:cNvSpPr>
            <a:spLocks noGrp="1"/>
          </p:cNvSpPr>
          <p:nvPr>
            <p:ph type="title"/>
          </p:nvPr>
        </p:nvSpPr>
        <p:spPr/>
        <p:txBody>
          <a:bodyPr/>
          <a:lstStyle/>
          <a:p>
            <a:r>
              <a:t>The PATH variable ($PATH)</a:t>
            </a:r>
            <a:endParaRPr lang="en-US" dirty="0">
              <a:latin typeface="OCRB" panose="020B0609020202020204" pitchFamily="49" charset="0"/>
            </a:endParaRPr>
          </a:p>
        </p:txBody>
      </p:sp>
      <p:sp>
        <p:nvSpPr>
          <p:cNvPr id="8" name="Content Placeholder 7">
            <a:extLst>
              <a:ext uri="{FF2B5EF4-FFF2-40B4-BE49-F238E27FC236}">
                <a16:creationId xmlns:a16="http://schemas.microsoft.com/office/drawing/2014/main" id="{AA7D7F13-03FC-4EC4-9428-27D5E276621C}"/>
              </a:ext>
            </a:extLst>
          </p:cNvPr>
          <p:cNvSpPr>
            <a:spLocks noGrp="1"/>
          </p:cNvSpPr>
          <p:nvPr>
            <p:ph idx="1"/>
          </p:nvPr>
        </p:nvSpPr>
        <p:spPr>
          <a:xfrm>
            <a:off x="777240" y="3063240"/>
            <a:ext cx="9601200" cy="1234440"/>
          </a:xfrm>
        </p:spPr>
        <p:txBody>
          <a:bodyPr lIns="45720" rIns="45720"/>
          <a:lstStyle/>
          <a:p>
            <a:pPr>
              <a:spcAft>
                <a:spcPts val="200"/>
              </a:spcAft>
            </a:pPr>
            <a:r>
              <a:rPr sz="2000" dirty="0">
                <a:solidFill>
                  <a:srgbClr val="000000"/>
                </a:solidFill>
              </a:rPr>
              <a:t>The shell searches $PATH from left to right.</a:t>
            </a:r>
          </a:p>
          <a:p>
            <a:pPr>
              <a:spcAft>
                <a:spcPts val="200"/>
              </a:spcAft>
            </a:pPr>
            <a:r>
              <a:rPr sz="2000" dirty="0">
                <a:solidFill>
                  <a:srgbClr val="000000"/>
                </a:solidFill>
              </a:rPr>
              <a:t>Current directory is not searched unless . </a:t>
            </a:r>
            <a:r>
              <a:rPr lang="en-US" sz="2000" dirty="0">
                <a:solidFill>
                  <a:srgbClr val="000000"/>
                </a:solidFill>
              </a:rPr>
              <a:t>l</a:t>
            </a:r>
            <a:r>
              <a:rPr sz="2000" dirty="0">
                <a:solidFill>
                  <a:srgbClr val="000000"/>
                </a:solidFill>
              </a:rPr>
              <a:t>s in $PATH.</a:t>
            </a:r>
          </a:p>
          <a:p>
            <a:pPr>
              <a:spcAft>
                <a:spcPts val="200"/>
              </a:spcAft>
            </a:pPr>
            <a:r>
              <a:rPr sz="2000" dirty="0">
                <a:solidFill>
                  <a:srgbClr val="000000"/>
                </a:solidFill>
              </a:rPr>
              <a:t>No match → command not found.</a:t>
            </a:r>
          </a:p>
        </p:txBody>
      </p:sp>
      <p:pic>
        <p:nvPicPr>
          <p:cNvPr id="6" name="Picture 5">
            <a:extLst>
              <a:ext uri="{FF2B5EF4-FFF2-40B4-BE49-F238E27FC236}">
                <a16:creationId xmlns:a16="http://schemas.microsoft.com/office/drawing/2014/main" id="{AA014166-9547-414F-8ED8-9B3752D61FEB}"/>
              </a:ext>
            </a:extLst>
          </p:cNvPr>
          <p:cNvPicPr>
            <a:picLocks noChangeAspect="1"/>
          </p:cNvPicPr>
          <p:nvPr/>
        </p:nvPicPr>
        <p:blipFill>
          <a:blip r:embed="rId3"/>
          <a:stretch>
            <a:fillRect/>
          </a:stretch>
        </p:blipFill>
        <p:spPr>
          <a:xfrm>
            <a:off x="838200" y="1962386"/>
            <a:ext cx="9848800" cy="1466614"/>
          </a:xfrm>
          <a:prstGeom prst="rect">
            <a:avLst/>
          </a:prstGeom>
        </p:spPr>
      </p:pic>
      <p:pic>
        <p:nvPicPr>
          <p:cNvPr id="10" name="Picture 9">
            <a:extLst>
              <a:ext uri="{FF2B5EF4-FFF2-40B4-BE49-F238E27FC236}">
                <a16:creationId xmlns:a16="http://schemas.microsoft.com/office/drawing/2014/main" id="{C843563E-1189-4CFB-85C3-054524EFEA34}"/>
              </a:ext>
            </a:extLst>
          </p:cNvPr>
          <p:cNvPicPr>
            <a:picLocks noChangeAspect="1"/>
          </p:cNvPicPr>
          <p:nvPr/>
        </p:nvPicPr>
        <p:blipFill>
          <a:blip r:embed="rId4"/>
          <a:stretch>
            <a:fillRect/>
          </a:stretch>
        </p:blipFill>
        <p:spPr>
          <a:xfrm>
            <a:off x="5293360" y="4670552"/>
            <a:ext cx="5211086" cy="978408"/>
          </a:xfrm>
          <a:prstGeom prst="rect">
            <a:avLst/>
          </a:prstGeom>
        </p:spPr>
      </p:pic>
      <p:sp>
        <p:nvSpPr>
          <p:cNvPr id="3" name="TextBox 2">
            <a:extLst>
              <a:ext uri="{FF2B5EF4-FFF2-40B4-BE49-F238E27FC236}">
                <a16:creationId xmlns:a16="http://schemas.microsoft.com/office/drawing/2014/main" id="{0A011F48-1133-A55F-5DE8-1109CBBAF585}"/>
              </a:ext>
            </a:extLst>
          </p:cNvPr>
          <p:cNvSpPr txBox="1"/>
          <p:nvPr/>
        </p:nvSpPr>
        <p:spPr>
          <a:xfrm>
            <a:off x="3586480" y="6517640"/>
            <a:ext cx="2926080" cy="292608"/>
          </a:xfrm>
          <a:prstGeom prst="rect">
            <a:avLst/>
          </a:prstGeom>
          <a:noFill/>
        </p:spPr>
        <p:txBody>
          <a:bodyPr wrap="square">
            <a:spAutoFit/>
          </a:bodyPr>
          <a:lstStyle/>
          <a:p>
            <a:r>
              <a:rPr sz="1400" dirty="0"/>
              <a:t>Windows comparison: PATH</a:t>
            </a:r>
            <a:endParaRPr lang="en-US" dirty="0"/>
          </a:p>
        </p:txBody>
      </p:sp>
      <p:pic>
        <p:nvPicPr>
          <p:cNvPr id="4" name="Picture 3">
            <a:extLst>
              <a:ext uri="{FF2B5EF4-FFF2-40B4-BE49-F238E27FC236}">
                <a16:creationId xmlns:a16="http://schemas.microsoft.com/office/drawing/2014/main" id="{4BEECE65-CAA2-1203-6FD1-0A50F8769D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le 10"/>
          <p:cNvSpPr/>
          <p:nvPr/>
        </p:nvSpPr>
        <p:spPr>
          <a:xfrm>
            <a:off x="777240" y="4754880"/>
            <a:ext cx="4384040" cy="805070"/>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tIns="36576" bIns="36576" rtlCol="0" anchor="ctr"/>
          <a:lstStyle/>
          <a:p>
            <a:pPr algn="l"/>
            <a:r>
              <a:rPr dirty="0">
                <a:solidFill>
                  <a:srgbClr val="000000"/>
                </a:solidFill>
              </a:rPr>
              <a:t>Shell searches $PATH left-to-right.</a:t>
            </a:r>
            <a:br>
              <a:rPr sz="2800" dirty="0"/>
            </a:br>
            <a:r>
              <a:rPr dirty="0">
                <a:solidFill>
                  <a:srgbClr val="000000"/>
                </a:solidFill>
              </a:rPr>
              <a:t>Use ./script.sh for current directory.</a:t>
            </a:r>
          </a:p>
        </p:txBody>
      </p:sp>
    </p:spTree>
    <p:extLst>
      <p:ext uri="{BB962C8B-B14F-4D97-AF65-F5344CB8AC3E}">
        <p14:creationId xmlns:p14="http://schemas.microsoft.com/office/powerpoint/2010/main" val="3901806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0637-05A9-4D8D-A6A4-BA896E684C61}"/>
              </a:ext>
            </a:extLst>
          </p:cNvPr>
          <p:cNvSpPr>
            <a:spLocks noGrp="1"/>
          </p:cNvSpPr>
          <p:nvPr>
            <p:ph type="title"/>
          </p:nvPr>
        </p:nvSpPr>
        <p:spPr/>
        <p:txBody>
          <a:bodyPr/>
          <a:lstStyle/>
          <a:p>
            <a:r>
              <a:t>Temporarily add a directory to $PATH</a:t>
            </a:r>
          </a:p>
        </p:txBody>
      </p:sp>
      <p:pic>
        <p:nvPicPr>
          <p:cNvPr id="5" name="Picture 4">
            <a:extLst>
              <a:ext uri="{FF2B5EF4-FFF2-40B4-BE49-F238E27FC236}">
                <a16:creationId xmlns:a16="http://schemas.microsoft.com/office/drawing/2014/main" id="{547AFC04-0255-46C3-ABC8-5EB3283450B5}"/>
              </a:ext>
            </a:extLst>
          </p:cNvPr>
          <p:cNvPicPr>
            <a:picLocks noChangeAspect="1"/>
          </p:cNvPicPr>
          <p:nvPr/>
        </p:nvPicPr>
        <p:blipFill>
          <a:blip r:embed="rId3"/>
          <a:stretch>
            <a:fillRect/>
          </a:stretch>
        </p:blipFill>
        <p:spPr>
          <a:xfrm>
            <a:off x="838199" y="1973454"/>
            <a:ext cx="9667267" cy="2024614"/>
          </a:xfrm>
          <a:prstGeom prst="rect">
            <a:avLst/>
          </a:prstGeom>
        </p:spPr>
      </p:pic>
      <p:sp>
        <p:nvSpPr>
          <p:cNvPr id="4" name="TextBox 3">
            <a:extLst>
              <a:ext uri="{FF2B5EF4-FFF2-40B4-BE49-F238E27FC236}">
                <a16:creationId xmlns:a16="http://schemas.microsoft.com/office/drawing/2014/main" id="{02E0C88B-935B-3B52-B632-D8AC9246C444}"/>
              </a:ext>
            </a:extLst>
          </p:cNvPr>
          <p:cNvSpPr txBox="1"/>
          <p:nvPr/>
        </p:nvSpPr>
        <p:spPr>
          <a:xfrm>
            <a:off x="1820848" y="5589723"/>
            <a:ext cx="9883472" cy="369332"/>
          </a:xfrm>
          <a:prstGeom prst="rect">
            <a:avLst/>
          </a:prstGeom>
          <a:noFill/>
        </p:spPr>
        <p:txBody>
          <a:bodyPr wrap="square">
            <a:spAutoFit/>
          </a:bodyPr>
          <a:lstStyle/>
          <a:p>
            <a:r>
              <a:rPr sz="1400"/>
              <a:t>Windows persistent PATH example: setx path "%path%;C:\Program Files\Java\jdk1.8.0_202\bin" -m</a:t>
            </a:r>
            <a:endParaRPr lang="en-US" dirty="0">
              <a:latin typeface="OCRB" panose="020B0609020202020204" pitchFamily="49" charset="0"/>
            </a:endParaRPr>
          </a:p>
        </p:txBody>
      </p:sp>
      <p:pic>
        <p:nvPicPr>
          <p:cNvPr id="1026" name="Picture 2">
            <a:extLst>
              <a:ext uri="{FF2B5EF4-FFF2-40B4-BE49-F238E27FC236}">
                <a16:creationId xmlns:a16="http://schemas.microsoft.com/office/drawing/2014/main" id="{3E8E8C7A-1A7C-73DC-A9D9-E86DC948A7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199" y="5512327"/>
            <a:ext cx="524123" cy="524123"/>
          </a:xfrm>
          <a:prstGeom prst="rect">
            <a:avLst/>
          </a:prstGeom>
          <a:noFill/>
          <a:extLst>
            <a:ext uri="{909E8E84-426E-40DD-AFC4-6F175D3DCCD1}">
              <a14:hiddenFill xmlns:a14="http://schemas.microsoft.com/office/drawing/2010/main">
                <a:solidFill>
                  <a:srgbClr val="FFFFFF"/>
                </a:solidFill>
              </a14:hiddenFill>
            </a:ext>
          </a:extLst>
        </p:spPr>
      </p:pic>
      <p:sp>
        <p:nvSpPr>
          <p:cNvPr id="1027" name="Rounded Rectangle 1026"/>
          <p:cNvSpPr/>
          <p:nvPr/>
        </p:nvSpPr>
        <p:spPr>
          <a:xfrm>
            <a:off x="822960" y="4251960"/>
            <a:ext cx="8686800" cy="512064"/>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a:solidFill>
                  <a:srgbClr val="000000"/>
                </a:solidFill>
              </a:rPr>
              <a:t>export changes the current shell session. To make it persistent, add the export line to a shell startup file.</a:t>
            </a:r>
          </a:p>
        </p:txBody>
      </p:sp>
    </p:spTree>
    <p:extLst>
      <p:ext uri="{BB962C8B-B14F-4D97-AF65-F5344CB8AC3E}">
        <p14:creationId xmlns:p14="http://schemas.microsoft.com/office/powerpoint/2010/main" val="1544977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5A1B-917A-4F18-A320-841B9C86490B}"/>
              </a:ext>
            </a:extLst>
          </p:cNvPr>
          <p:cNvSpPr>
            <a:spLocks noGrp="1"/>
          </p:cNvSpPr>
          <p:nvPr>
            <p:ph type="title"/>
          </p:nvPr>
        </p:nvSpPr>
        <p:spPr/>
        <p:txBody>
          <a:bodyPr/>
          <a:lstStyle/>
          <a:p>
            <a:r>
              <a:t>Persist PATH changes in ~/.zshrc</a:t>
            </a:r>
          </a:p>
        </p:txBody>
      </p:sp>
      <p:pic>
        <p:nvPicPr>
          <p:cNvPr id="4" name="Picture 3">
            <a:extLst>
              <a:ext uri="{FF2B5EF4-FFF2-40B4-BE49-F238E27FC236}">
                <a16:creationId xmlns:a16="http://schemas.microsoft.com/office/drawing/2014/main" id="{127D9BD7-579A-4628-AE3F-40735B7D8974}"/>
              </a:ext>
            </a:extLst>
          </p:cNvPr>
          <p:cNvPicPr>
            <a:picLocks noChangeAspect="1"/>
          </p:cNvPicPr>
          <p:nvPr/>
        </p:nvPicPr>
        <p:blipFill>
          <a:blip r:embed="rId2"/>
          <a:stretch>
            <a:fillRect/>
          </a:stretch>
        </p:blipFill>
        <p:spPr>
          <a:xfrm>
            <a:off x="923620" y="1895105"/>
            <a:ext cx="7601830" cy="3717755"/>
          </a:xfrm>
          <a:prstGeom prst="rect">
            <a:avLst/>
          </a:prstGeom>
        </p:spPr>
      </p:pic>
      <p:sp>
        <p:nvSpPr>
          <p:cNvPr id="5" name="TextBox 4">
            <a:extLst>
              <a:ext uri="{FF2B5EF4-FFF2-40B4-BE49-F238E27FC236}">
                <a16:creationId xmlns:a16="http://schemas.microsoft.com/office/drawing/2014/main" id="{1512E97D-DAD4-40CE-8AAA-AEF3A06F2446}"/>
              </a:ext>
            </a:extLst>
          </p:cNvPr>
          <p:cNvSpPr txBox="1"/>
          <p:nvPr/>
        </p:nvSpPr>
        <p:spPr>
          <a:xfrm>
            <a:off x="1088417" y="6008530"/>
            <a:ext cx="8360383" cy="338554"/>
          </a:xfrm>
          <a:prstGeom prst="rect">
            <a:avLst/>
          </a:prstGeom>
          <a:noFill/>
        </p:spPr>
        <p:txBody>
          <a:bodyPr wrap="square" rtlCol="0">
            <a:spAutoFit/>
          </a:bodyPr>
          <a:lstStyle/>
          <a:p>
            <a:r>
              <a:rPr sz="1600" dirty="0"/>
              <a:t>Add export PATH=/new/path:$PATH to ~/.</a:t>
            </a:r>
            <a:r>
              <a:rPr sz="1600" dirty="0" err="1"/>
              <a:t>zshrc</a:t>
            </a:r>
            <a:r>
              <a:rPr sz="1600" dirty="0"/>
              <a:t>, then open a new terminal or run source ~/.</a:t>
            </a:r>
            <a:r>
              <a:rPr sz="1600" dirty="0" err="1"/>
              <a:t>zshrc</a:t>
            </a:r>
            <a:r>
              <a:rPr sz="1600" dirty="0"/>
              <a:t>.</a:t>
            </a:r>
            <a:endParaRPr lang="en-US" dirty="0"/>
          </a:p>
        </p:txBody>
      </p:sp>
    </p:spTree>
    <p:extLst>
      <p:ext uri="{BB962C8B-B14F-4D97-AF65-F5344CB8AC3E}">
        <p14:creationId xmlns:p14="http://schemas.microsoft.com/office/powerpoint/2010/main" val="3247576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Create folders and files</a:t>
            </a:r>
            <a:endParaRPr lang="en-US" dirty="0"/>
          </a:p>
        </p:txBody>
      </p:sp>
      <p:sp>
        <p:nvSpPr>
          <p:cNvPr id="4" name="Text Placeholder 3">
            <a:extLst>
              <a:ext uri="{FF2B5EF4-FFF2-40B4-BE49-F238E27FC236}">
                <a16:creationId xmlns:a16="http://schemas.microsoft.com/office/drawing/2014/main" id="{AD07F4E7-000B-D27D-1B1D-69CCCFC23F08}"/>
              </a:ext>
            </a:extLst>
          </p:cNvPr>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38</a:t>
            </a:fld>
            <a:endParaRPr lang="en"/>
          </a:p>
        </p:txBody>
      </p:sp>
    </p:spTree>
    <p:extLst>
      <p:ext uri="{BB962C8B-B14F-4D97-AF65-F5344CB8AC3E}">
        <p14:creationId xmlns:p14="http://schemas.microsoft.com/office/powerpoint/2010/main" val="1635951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404E3-1F73-4DBA-8193-52C68114A257}"/>
              </a:ext>
            </a:extLst>
          </p:cNvPr>
          <p:cNvSpPr>
            <a:spLocks noGrp="1"/>
          </p:cNvSpPr>
          <p:nvPr>
            <p:ph type="title"/>
          </p:nvPr>
        </p:nvSpPr>
        <p:spPr/>
        <p:txBody>
          <a:bodyPr/>
          <a:lstStyle/>
          <a:p>
            <a:r>
              <a:t>Create directories with mkdir</a:t>
            </a:r>
            <a:endParaRPr lang="en-US" dirty="0"/>
          </a:p>
        </p:txBody>
      </p:sp>
      <p:pic>
        <p:nvPicPr>
          <p:cNvPr id="5" name="Picture 4">
            <a:extLst>
              <a:ext uri="{FF2B5EF4-FFF2-40B4-BE49-F238E27FC236}">
                <a16:creationId xmlns:a16="http://schemas.microsoft.com/office/drawing/2014/main" id="{C6CD59BC-2C00-4D24-9EB8-583C6503F7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9" y="1958124"/>
            <a:ext cx="1172533" cy="1172533"/>
          </a:xfrm>
          <a:prstGeom prst="rect">
            <a:avLst/>
          </a:prstGeom>
        </p:spPr>
      </p:pic>
      <p:pic>
        <p:nvPicPr>
          <p:cNvPr id="6" name="Picture 5">
            <a:extLst>
              <a:ext uri="{FF2B5EF4-FFF2-40B4-BE49-F238E27FC236}">
                <a16:creationId xmlns:a16="http://schemas.microsoft.com/office/drawing/2014/main" id="{5D9047A3-B53D-4B03-A619-26EA584D09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9" y="3359974"/>
            <a:ext cx="1172533" cy="1172533"/>
          </a:xfrm>
          <a:prstGeom prst="rect">
            <a:avLst/>
          </a:prstGeom>
        </p:spPr>
      </p:pic>
      <p:sp>
        <p:nvSpPr>
          <p:cNvPr id="7" name="TextBox 6">
            <a:extLst>
              <a:ext uri="{FF2B5EF4-FFF2-40B4-BE49-F238E27FC236}">
                <a16:creationId xmlns:a16="http://schemas.microsoft.com/office/drawing/2014/main" id="{EF2844DE-3C98-4200-94E3-4144E52CF055}"/>
              </a:ext>
            </a:extLst>
          </p:cNvPr>
          <p:cNvSpPr txBox="1"/>
          <p:nvPr/>
        </p:nvSpPr>
        <p:spPr>
          <a:xfrm>
            <a:off x="9023138" y="3814598"/>
            <a:ext cx="1627412" cy="369332"/>
          </a:xfrm>
          <a:prstGeom prst="rect">
            <a:avLst/>
          </a:prstGeom>
          <a:noFill/>
        </p:spPr>
        <p:txBody>
          <a:bodyPr wrap="square" rtlCol="0">
            <a:spAutoFit/>
          </a:bodyPr>
          <a:lstStyle/>
          <a:p>
            <a:r>
              <a:rPr lang="en-US" dirty="0"/>
              <a:t>\</a:t>
            </a:r>
            <a:r>
              <a:rPr lang="en-US" dirty="0" err="1"/>
              <a:t>myfolder</a:t>
            </a:r>
            <a:endParaRPr lang="en-US" dirty="0"/>
          </a:p>
        </p:txBody>
      </p:sp>
      <p:pic>
        <p:nvPicPr>
          <p:cNvPr id="8" name="Picture 7">
            <a:extLst>
              <a:ext uri="{FF2B5EF4-FFF2-40B4-BE49-F238E27FC236}">
                <a16:creationId xmlns:a16="http://schemas.microsoft.com/office/drawing/2014/main" id="{9419C713-16B9-48BC-8E07-9AD20E5F09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3138" y="4820396"/>
            <a:ext cx="1172533" cy="1172533"/>
          </a:xfrm>
          <a:prstGeom prst="rect">
            <a:avLst/>
          </a:prstGeom>
        </p:spPr>
      </p:pic>
      <p:sp>
        <p:nvSpPr>
          <p:cNvPr id="9" name="TextBox 8">
            <a:extLst>
              <a:ext uri="{FF2B5EF4-FFF2-40B4-BE49-F238E27FC236}">
                <a16:creationId xmlns:a16="http://schemas.microsoft.com/office/drawing/2014/main" id="{EEAF8C0C-F014-4CEC-87C6-698EE00C131B}"/>
              </a:ext>
            </a:extLst>
          </p:cNvPr>
          <p:cNvSpPr txBox="1"/>
          <p:nvPr/>
        </p:nvSpPr>
        <p:spPr>
          <a:xfrm>
            <a:off x="9023138" y="5263132"/>
            <a:ext cx="2137571" cy="369332"/>
          </a:xfrm>
          <a:prstGeom prst="rect">
            <a:avLst/>
          </a:prstGeom>
          <a:noFill/>
        </p:spPr>
        <p:txBody>
          <a:bodyPr wrap="square" rtlCol="0">
            <a:spAutoFit/>
          </a:bodyPr>
          <a:lstStyle/>
          <a:p>
            <a:r>
              <a:rPr lang="en-US" dirty="0"/>
              <a:t>\</a:t>
            </a:r>
            <a:r>
              <a:rPr lang="en-US" dirty="0" err="1"/>
              <a:t>mysubfolder</a:t>
            </a:r>
            <a:endParaRPr lang="en-US" dirty="0"/>
          </a:p>
        </p:txBody>
      </p:sp>
      <p:cxnSp>
        <p:nvCxnSpPr>
          <p:cNvPr id="10" name="Straight Arrow Connector 9">
            <a:extLst>
              <a:ext uri="{FF2B5EF4-FFF2-40B4-BE49-F238E27FC236}">
                <a16:creationId xmlns:a16="http://schemas.microsoft.com/office/drawing/2014/main" id="{B941E172-42FC-4D64-814D-A00AFEFE7C4B}"/>
              </a:ext>
            </a:extLst>
          </p:cNvPr>
          <p:cNvCxnSpPr>
            <a:stCxn id="5" idx="2"/>
            <a:endCxn id="6" idx="0"/>
          </p:cNvCxnSpPr>
          <p:nvPr/>
        </p:nvCxnSpPr>
        <p:spPr>
          <a:xfrm>
            <a:off x="9609406" y="3130657"/>
            <a:ext cx="0" cy="229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6B83369-5D73-4810-B2E4-DA9F65309A04}"/>
              </a:ext>
            </a:extLst>
          </p:cNvPr>
          <p:cNvCxnSpPr>
            <a:stCxn id="6" idx="2"/>
            <a:endCxn id="8" idx="0"/>
          </p:cNvCxnSpPr>
          <p:nvPr/>
        </p:nvCxnSpPr>
        <p:spPr>
          <a:xfrm flipH="1">
            <a:off x="9609405" y="4532507"/>
            <a:ext cx="1" cy="287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030EBA0-2481-4514-A32F-9A9F10024018}"/>
              </a:ext>
            </a:extLst>
          </p:cNvPr>
          <p:cNvSpPr txBox="1"/>
          <p:nvPr/>
        </p:nvSpPr>
        <p:spPr>
          <a:xfrm>
            <a:off x="9221240" y="2591563"/>
            <a:ext cx="1117251" cy="369332"/>
          </a:xfrm>
          <a:prstGeom prst="rect">
            <a:avLst/>
          </a:prstGeom>
          <a:noFill/>
        </p:spPr>
        <p:txBody>
          <a:bodyPr wrap="square" rtlCol="0">
            <a:spAutoFit/>
          </a:bodyPr>
          <a:lstStyle/>
          <a:p>
            <a:r>
              <a:rPr lang="en-US" dirty="0"/>
              <a:t>home</a:t>
            </a:r>
          </a:p>
        </p:txBody>
      </p:sp>
      <p:pic>
        <p:nvPicPr>
          <p:cNvPr id="13" name="Picture 12">
            <a:extLst>
              <a:ext uri="{FF2B5EF4-FFF2-40B4-BE49-F238E27FC236}">
                <a16:creationId xmlns:a16="http://schemas.microsoft.com/office/drawing/2014/main" id="{36D591DD-0DBD-46F2-AD96-23458469085D}"/>
              </a:ext>
            </a:extLst>
          </p:cNvPr>
          <p:cNvPicPr>
            <a:picLocks noChangeAspect="1"/>
          </p:cNvPicPr>
          <p:nvPr/>
        </p:nvPicPr>
        <p:blipFill>
          <a:blip r:embed="rId3"/>
          <a:stretch>
            <a:fillRect/>
          </a:stretch>
        </p:blipFill>
        <p:spPr>
          <a:xfrm>
            <a:off x="901463" y="2946304"/>
            <a:ext cx="6949142" cy="1839479"/>
          </a:xfrm>
          <a:prstGeom prst="rect">
            <a:avLst/>
          </a:prstGeom>
        </p:spPr>
      </p:pic>
      <p:cxnSp>
        <p:nvCxnSpPr>
          <p:cNvPr id="14" name="Straight Arrow Connector 13">
            <a:extLst>
              <a:ext uri="{FF2B5EF4-FFF2-40B4-BE49-F238E27FC236}">
                <a16:creationId xmlns:a16="http://schemas.microsoft.com/office/drawing/2014/main" id="{4149A012-E655-49FA-BFED-CD3E646648D3}"/>
              </a:ext>
            </a:extLst>
          </p:cNvPr>
          <p:cNvCxnSpPr>
            <a:endCxn id="6" idx="1"/>
          </p:cNvCxnSpPr>
          <p:nvPr/>
        </p:nvCxnSpPr>
        <p:spPr>
          <a:xfrm flipV="1">
            <a:off x="5685688" y="3946241"/>
            <a:ext cx="3337451" cy="48022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 name="TextBox 1">
            <a:extLst>
              <a:ext uri="{FF2B5EF4-FFF2-40B4-BE49-F238E27FC236}">
                <a16:creationId xmlns:a16="http://schemas.microsoft.com/office/drawing/2014/main" id="{09403D06-C4B6-7449-C018-4066312E81FE}"/>
              </a:ext>
            </a:extLst>
          </p:cNvPr>
          <p:cNvSpPr txBox="1"/>
          <p:nvPr/>
        </p:nvSpPr>
        <p:spPr>
          <a:xfrm>
            <a:off x="3558073" y="6458649"/>
            <a:ext cx="984430" cy="369332"/>
          </a:xfrm>
          <a:prstGeom prst="rect">
            <a:avLst/>
          </a:prstGeom>
          <a:noFill/>
        </p:spPr>
        <p:txBody>
          <a:bodyPr wrap="square">
            <a:spAutoFit/>
          </a:bodyPr>
          <a:lstStyle/>
          <a:p>
            <a:r>
              <a:rPr lang="en-GB" b="0" i="0" dirty="0" err="1">
                <a:solidFill>
                  <a:srgbClr val="374151"/>
                </a:solidFill>
                <a:effectLst/>
                <a:latin typeface="OCRB" panose="020B0609020202020204" pitchFamily="49" charset="0"/>
              </a:rPr>
              <a:t>mkdir</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D79B3E74-C818-B457-0EAF-8D29A7621F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le 14"/>
          <p:cNvSpPr/>
          <p:nvPr/>
        </p:nvSpPr>
        <p:spPr>
          <a:xfrm>
            <a:off x="978130" y="5387750"/>
            <a:ext cx="6376283" cy="438912"/>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600" b="0" dirty="0">
                <a:solidFill>
                  <a:srgbClr val="000000"/>
                </a:solidFill>
              </a:rPr>
              <a:t>Linux paths use forward slashes: /home/kali/</a:t>
            </a:r>
            <a:r>
              <a:rPr sz="1600" b="0" dirty="0" err="1">
                <a:solidFill>
                  <a:srgbClr val="000000"/>
                </a:solidFill>
              </a:rPr>
              <a:t>myfolder</a:t>
            </a:r>
            <a:r>
              <a:rPr sz="1600" b="0" dirty="0">
                <a:solidFill>
                  <a:srgbClr val="000000"/>
                </a:solidFill>
              </a:rPr>
              <a:t>/</a:t>
            </a:r>
            <a:r>
              <a:rPr sz="1600" b="0" dirty="0" err="1">
                <a:solidFill>
                  <a:srgbClr val="000000"/>
                </a:solidFill>
              </a:rPr>
              <a:t>mysubfolder</a:t>
            </a:r>
            <a:endParaRPr sz="1600" b="0" dirty="0">
              <a:solidFill>
                <a:srgbClr val="000000"/>
              </a:solidFill>
            </a:endParaRPr>
          </a:p>
        </p:txBody>
      </p:sp>
    </p:spTree>
    <p:extLst>
      <p:ext uri="{BB962C8B-B14F-4D97-AF65-F5344CB8AC3E}">
        <p14:creationId xmlns:p14="http://schemas.microsoft.com/office/powerpoint/2010/main" val="3121458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EC05-5ABF-49F6-9344-D765E8D234FE}"/>
              </a:ext>
            </a:extLst>
          </p:cNvPr>
          <p:cNvSpPr>
            <a:spLocks noGrp="1"/>
          </p:cNvSpPr>
          <p:nvPr>
            <p:ph type="title"/>
          </p:nvPr>
        </p:nvSpPr>
        <p:spPr/>
        <p:txBody>
          <a:bodyPr/>
          <a:lstStyle/>
          <a:p>
            <a:r>
              <a:t>Delete empty directories with rmdir</a:t>
            </a:r>
          </a:p>
        </p:txBody>
      </p:sp>
      <p:pic>
        <p:nvPicPr>
          <p:cNvPr id="3" name="Picture 2">
            <a:extLst>
              <a:ext uri="{FF2B5EF4-FFF2-40B4-BE49-F238E27FC236}">
                <a16:creationId xmlns:a16="http://schemas.microsoft.com/office/drawing/2014/main" id="{F3DBBD3E-32DF-456B-9917-C80743196127}"/>
              </a:ext>
            </a:extLst>
          </p:cNvPr>
          <p:cNvPicPr>
            <a:picLocks noChangeAspect="1"/>
          </p:cNvPicPr>
          <p:nvPr/>
        </p:nvPicPr>
        <p:blipFill>
          <a:blip r:embed="rId2"/>
          <a:stretch>
            <a:fillRect/>
          </a:stretch>
        </p:blipFill>
        <p:spPr>
          <a:xfrm>
            <a:off x="838200" y="2329104"/>
            <a:ext cx="6461369" cy="1775278"/>
          </a:xfrm>
          <a:prstGeom prst="rect">
            <a:avLst/>
          </a:prstGeom>
        </p:spPr>
      </p:pic>
      <p:sp>
        <p:nvSpPr>
          <p:cNvPr id="4" name="TextBox 3">
            <a:extLst>
              <a:ext uri="{FF2B5EF4-FFF2-40B4-BE49-F238E27FC236}">
                <a16:creationId xmlns:a16="http://schemas.microsoft.com/office/drawing/2014/main" id="{60A7E430-0977-663A-9213-F28F732F6F7E}"/>
              </a:ext>
            </a:extLst>
          </p:cNvPr>
          <p:cNvSpPr txBox="1"/>
          <p:nvPr/>
        </p:nvSpPr>
        <p:spPr>
          <a:xfrm>
            <a:off x="3558073" y="6458649"/>
            <a:ext cx="984430" cy="369332"/>
          </a:xfrm>
          <a:prstGeom prst="rect">
            <a:avLst/>
          </a:prstGeom>
          <a:noFill/>
        </p:spPr>
        <p:txBody>
          <a:bodyPr wrap="square">
            <a:spAutoFit/>
          </a:bodyPr>
          <a:lstStyle/>
          <a:p>
            <a:r>
              <a:rPr lang="en-GB" b="0" i="0" dirty="0" err="1">
                <a:solidFill>
                  <a:srgbClr val="374151"/>
                </a:solidFill>
                <a:effectLst/>
                <a:latin typeface="Söhne"/>
              </a:rPr>
              <a:t>rmdir</a:t>
            </a:r>
            <a:endParaRPr lang="en-US" dirty="0"/>
          </a:p>
        </p:txBody>
      </p:sp>
      <p:pic>
        <p:nvPicPr>
          <p:cNvPr id="5" name="Picture 4">
            <a:extLst>
              <a:ext uri="{FF2B5EF4-FFF2-40B4-BE49-F238E27FC236}">
                <a16:creationId xmlns:a16="http://schemas.microsoft.com/office/drawing/2014/main" id="{46963E1C-715D-E8FA-2D64-D4CF236800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838200" y="4487170"/>
            <a:ext cx="8864600" cy="511255"/>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2000" b="0" dirty="0" err="1">
                <a:solidFill>
                  <a:srgbClr val="000000"/>
                </a:solidFill>
              </a:rPr>
              <a:t>rmdir</a:t>
            </a:r>
            <a:r>
              <a:rPr sz="2000" b="0" dirty="0">
                <a:solidFill>
                  <a:srgbClr val="000000"/>
                </a:solidFill>
              </a:rPr>
              <a:t> removes only empty directories. Use rm -r carefully and only on lab copies.</a:t>
            </a:r>
          </a:p>
        </p:txBody>
      </p:sp>
    </p:spTree>
    <p:extLst>
      <p:ext uri="{BB962C8B-B14F-4D97-AF65-F5344CB8AC3E}">
        <p14:creationId xmlns:p14="http://schemas.microsoft.com/office/powerpoint/2010/main" val="2693326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190F-F498-4579-95E4-32C5315856A7}"/>
              </a:ext>
            </a:extLst>
          </p:cNvPr>
          <p:cNvSpPr>
            <a:spLocks noGrp="1"/>
          </p:cNvSpPr>
          <p:nvPr>
            <p:ph type="title"/>
          </p:nvPr>
        </p:nvSpPr>
        <p:spPr/>
        <p:txBody>
          <a:bodyPr/>
          <a:lstStyle/>
          <a:p>
            <a:r>
              <a:t>Create a text file with echo</a:t>
            </a:r>
          </a:p>
        </p:txBody>
      </p:sp>
      <p:sp>
        <p:nvSpPr>
          <p:cNvPr id="12" name="Flowchart: Document 11">
            <a:extLst>
              <a:ext uri="{FF2B5EF4-FFF2-40B4-BE49-F238E27FC236}">
                <a16:creationId xmlns:a16="http://schemas.microsoft.com/office/drawing/2014/main" id="{5D6727BE-BDDB-4E4D-8619-18D4743067EF}"/>
              </a:ext>
            </a:extLst>
          </p:cNvPr>
          <p:cNvSpPr/>
          <p:nvPr/>
        </p:nvSpPr>
        <p:spPr>
          <a:xfrm>
            <a:off x="8189005" y="4401316"/>
            <a:ext cx="790426" cy="71588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hello world</a:t>
            </a:r>
          </a:p>
        </p:txBody>
      </p:sp>
      <p:sp>
        <p:nvSpPr>
          <p:cNvPr id="13" name="TextBox 12">
            <a:extLst>
              <a:ext uri="{FF2B5EF4-FFF2-40B4-BE49-F238E27FC236}">
                <a16:creationId xmlns:a16="http://schemas.microsoft.com/office/drawing/2014/main" id="{7ED388DF-4B0D-4913-93D9-823891035961}"/>
              </a:ext>
            </a:extLst>
          </p:cNvPr>
          <p:cNvSpPr txBox="1"/>
          <p:nvPr/>
        </p:nvSpPr>
        <p:spPr>
          <a:xfrm>
            <a:off x="8994354" y="4515813"/>
            <a:ext cx="1962752" cy="369332"/>
          </a:xfrm>
          <a:prstGeom prst="rect">
            <a:avLst/>
          </a:prstGeom>
          <a:noFill/>
        </p:spPr>
        <p:txBody>
          <a:bodyPr wrap="square" rtlCol="0">
            <a:spAutoFit/>
          </a:bodyPr>
          <a:lstStyle/>
          <a:p>
            <a:r>
              <a:rPr lang="en-US" dirty="0"/>
              <a:t>my_first_file.txt</a:t>
            </a:r>
          </a:p>
        </p:txBody>
      </p:sp>
      <p:pic>
        <p:nvPicPr>
          <p:cNvPr id="14" name="Picture 13">
            <a:extLst>
              <a:ext uri="{FF2B5EF4-FFF2-40B4-BE49-F238E27FC236}">
                <a16:creationId xmlns:a16="http://schemas.microsoft.com/office/drawing/2014/main" id="{1A746A7D-D0A9-4E01-A685-AFABCE34A2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005" y="1708884"/>
            <a:ext cx="1016456" cy="1016456"/>
          </a:xfrm>
          <a:prstGeom prst="rect">
            <a:avLst/>
          </a:prstGeom>
        </p:spPr>
      </p:pic>
      <p:pic>
        <p:nvPicPr>
          <p:cNvPr id="15" name="Picture 14">
            <a:extLst>
              <a:ext uri="{FF2B5EF4-FFF2-40B4-BE49-F238E27FC236}">
                <a16:creationId xmlns:a16="http://schemas.microsoft.com/office/drawing/2014/main" id="{D1ACABCC-1B28-4C35-AEE6-89938BC3ED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005" y="3013204"/>
            <a:ext cx="1016456" cy="1016456"/>
          </a:xfrm>
          <a:prstGeom prst="rect">
            <a:avLst/>
          </a:prstGeom>
        </p:spPr>
      </p:pic>
      <p:sp>
        <p:nvSpPr>
          <p:cNvPr id="16" name="TextBox 15">
            <a:extLst>
              <a:ext uri="{FF2B5EF4-FFF2-40B4-BE49-F238E27FC236}">
                <a16:creationId xmlns:a16="http://schemas.microsoft.com/office/drawing/2014/main" id="{D87A350D-489E-4E46-AC95-FB918ED67136}"/>
              </a:ext>
            </a:extLst>
          </p:cNvPr>
          <p:cNvSpPr txBox="1"/>
          <p:nvPr/>
        </p:nvSpPr>
        <p:spPr>
          <a:xfrm>
            <a:off x="8203574" y="3381750"/>
            <a:ext cx="1363278" cy="369332"/>
          </a:xfrm>
          <a:prstGeom prst="rect">
            <a:avLst/>
          </a:prstGeom>
          <a:noFill/>
        </p:spPr>
        <p:txBody>
          <a:bodyPr wrap="square" rtlCol="0">
            <a:spAutoFit/>
          </a:bodyPr>
          <a:lstStyle/>
          <a:p>
            <a:r>
              <a:rPr lang="en-US" dirty="0"/>
              <a:t>\</a:t>
            </a:r>
            <a:r>
              <a:rPr lang="en-US" dirty="0" err="1"/>
              <a:t>myfolder</a:t>
            </a:r>
            <a:endParaRPr lang="en-US" dirty="0"/>
          </a:p>
        </p:txBody>
      </p:sp>
      <p:cxnSp>
        <p:nvCxnSpPr>
          <p:cNvPr id="17" name="Straight Arrow Connector 16">
            <a:extLst>
              <a:ext uri="{FF2B5EF4-FFF2-40B4-BE49-F238E27FC236}">
                <a16:creationId xmlns:a16="http://schemas.microsoft.com/office/drawing/2014/main" id="{B4931C54-6C15-42A8-ACBB-CCDAA2D191CB}"/>
              </a:ext>
            </a:extLst>
          </p:cNvPr>
          <p:cNvCxnSpPr>
            <a:stCxn id="14" idx="2"/>
            <a:endCxn id="15" idx="0"/>
          </p:cNvCxnSpPr>
          <p:nvPr/>
        </p:nvCxnSpPr>
        <p:spPr>
          <a:xfrm>
            <a:off x="8697233" y="2725340"/>
            <a:ext cx="0" cy="287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B9F48B-C041-4FE2-A262-0CAACD56FC5E}"/>
              </a:ext>
            </a:extLst>
          </p:cNvPr>
          <p:cNvCxnSpPr>
            <a:cxnSpLocks/>
          </p:cNvCxnSpPr>
          <p:nvPr/>
        </p:nvCxnSpPr>
        <p:spPr>
          <a:xfrm flipH="1">
            <a:off x="8584218" y="3928855"/>
            <a:ext cx="9846" cy="359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5593F86-C756-4E3F-92BE-EA283F20B56B}"/>
              </a:ext>
            </a:extLst>
          </p:cNvPr>
          <p:cNvSpPr txBox="1"/>
          <p:nvPr/>
        </p:nvSpPr>
        <p:spPr>
          <a:xfrm>
            <a:off x="8189005" y="2112932"/>
            <a:ext cx="1363277" cy="369332"/>
          </a:xfrm>
          <a:prstGeom prst="rect">
            <a:avLst/>
          </a:prstGeom>
          <a:noFill/>
        </p:spPr>
        <p:txBody>
          <a:bodyPr wrap="square" rtlCol="0">
            <a:spAutoFit/>
          </a:bodyPr>
          <a:lstStyle/>
          <a:p>
            <a:r>
              <a:rPr lang="en-US" dirty="0"/>
              <a:t>\user home</a:t>
            </a:r>
          </a:p>
        </p:txBody>
      </p:sp>
      <p:pic>
        <p:nvPicPr>
          <p:cNvPr id="24" name="Picture 23">
            <a:extLst>
              <a:ext uri="{FF2B5EF4-FFF2-40B4-BE49-F238E27FC236}">
                <a16:creationId xmlns:a16="http://schemas.microsoft.com/office/drawing/2014/main" id="{1A9C1DDE-2709-47A5-9409-BA7A194CE850}"/>
              </a:ext>
            </a:extLst>
          </p:cNvPr>
          <p:cNvPicPr>
            <a:picLocks noChangeAspect="1"/>
          </p:cNvPicPr>
          <p:nvPr/>
        </p:nvPicPr>
        <p:blipFill>
          <a:blip r:embed="rId3"/>
          <a:stretch>
            <a:fillRect/>
          </a:stretch>
        </p:blipFill>
        <p:spPr>
          <a:xfrm>
            <a:off x="838199" y="2297598"/>
            <a:ext cx="6716833" cy="942713"/>
          </a:xfrm>
          <a:prstGeom prst="rect">
            <a:avLst/>
          </a:prstGeom>
        </p:spPr>
      </p:pic>
      <p:pic>
        <p:nvPicPr>
          <p:cNvPr id="26" name="Picture 25">
            <a:extLst>
              <a:ext uri="{FF2B5EF4-FFF2-40B4-BE49-F238E27FC236}">
                <a16:creationId xmlns:a16="http://schemas.microsoft.com/office/drawing/2014/main" id="{26D326CD-1B00-404F-889B-F52B129CB40A}"/>
              </a:ext>
            </a:extLst>
          </p:cNvPr>
          <p:cNvPicPr>
            <a:picLocks noChangeAspect="1"/>
          </p:cNvPicPr>
          <p:nvPr/>
        </p:nvPicPr>
        <p:blipFill>
          <a:blip r:embed="rId4"/>
          <a:stretch>
            <a:fillRect/>
          </a:stretch>
        </p:blipFill>
        <p:spPr>
          <a:xfrm>
            <a:off x="838199" y="3991837"/>
            <a:ext cx="5584631" cy="822439"/>
          </a:xfrm>
          <a:prstGeom prst="rect">
            <a:avLst/>
          </a:prstGeom>
        </p:spPr>
      </p:pic>
      <p:sp>
        <p:nvSpPr>
          <p:cNvPr id="28" name="TextBox 27">
            <a:extLst>
              <a:ext uri="{FF2B5EF4-FFF2-40B4-BE49-F238E27FC236}">
                <a16:creationId xmlns:a16="http://schemas.microsoft.com/office/drawing/2014/main" id="{8D629C5E-7E76-4CBB-BA03-809BA5DF65F7}"/>
              </a:ext>
            </a:extLst>
          </p:cNvPr>
          <p:cNvSpPr txBox="1"/>
          <p:nvPr/>
        </p:nvSpPr>
        <p:spPr>
          <a:xfrm>
            <a:off x="832493" y="3622505"/>
            <a:ext cx="3585309" cy="369332"/>
          </a:xfrm>
          <a:prstGeom prst="rect">
            <a:avLst/>
          </a:prstGeom>
          <a:solidFill>
            <a:schemeClr val="accent4"/>
          </a:solidFill>
        </p:spPr>
        <p:txBody>
          <a:bodyPr wrap="square">
            <a:spAutoFit/>
          </a:bodyPr>
          <a:lstStyle/>
          <a:p>
            <a:r>
              <a:rPr lang="en-GB" dirty="0"/>
              <a:t>Show the content of the file</a:t>
            </a:r>
            <a:endParaRPr lang="en-US" dirty="0"/>
          </a:p>
        </p:txBody>
      </p:sp>
      <p:sp>
        <p:nvSpPr>
          <p:cNvPr id="29" name="Rounded Rectangle 28"/>
          <p:cNvSpPr/>
          <p:nvPr/>
        </p:nvSpPr>
        <p:spPr>
          <a:xfrm>
            <a:off x="822960" y="5257800"/>
            <a:ext cx="6217920" cy="457200"/>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a:solidFill>
                  <a:srgbClr val="000000"/>
                </a:solidFill>
              </a:rPr>
              <a:t>The &gt; operator writes output to a file and overwrites existing content.</a:t>
            </a:r>
          </a:p>
        </p:txBody>
      </p:sp>
    </p:spTree>
    <p:extLst>
      <p:ext uri="{BB962C8B-B14F-4D97-AF65-F5344CB8AC3E}">
        <p14:creationId xmlns:p14="http://schemas.microsoft.com/office/powerpoint/2010/main" val="127914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Create or edit a file with leafpad or nano</a:t>
            </a:r>
          </a:p>
        </p:txBody>
      </p:sp>
      <p:sp>
        <p:nvSpPr>
          <p:cNvPr id="3" name="Slide Number Placeholder 2"/>
          <p:cNvSpPr>
            <a:spLocks noGrp="1"/>
          </p:cNvSpPr>
          <p:nvPr>
            <p:ph type="sldNum" sz="quarter" idx="12"/>
          </p:nvPr>
        </p:nvSpPr>
        <p:spPr/>
        <p:txBody>
          <a:bodyPr/>
          <a:lstStyle/>
          <a:p>
            <a:fld id="{E24DD715-7292-4FAD-A484-09D5D92FAB07}" type="slidenum">
              <a:rPr lang="en-US" smtClean="0"/>
              <a:t>42</a:t>
            </a:fld>
            <a:endParaRPr lang="en-US"/>
          </a:p>
        </p:txBody>
      </p:sp>
      <p:pic>
        <p:nvPicPr>
          <p:cNvPr id="4" name="Picture 3"/>
          <p:cNvPicPr>
            <a:picLocks noChangeAspect="1"/>
          </p:cNvPicPr>
          <p:nvPr/>
        </p:nvPicPr>
        <p:blipFill>
          <a:blip r:embed="rId2"/>
          <a:stretch>
            <a:fillRect/>
          </a:stretch>
        </p:blipFill>
        <p:spPr>
          <a:xfrm>
            <a:off x="899208" y="1868943"/>
            <a:ext cx="9462820" cy="2908705"/>
          </a:xfrm>
          <a:prstGeom prst="rect">
            <a:avLst/>
          </a:prstGeom>
        </p:spPr>
      </p:pic>
      <p:sp>
        <p:nvSpPr>
          <p:cNvPr id="5" name="TextBox 4">
            <a:extLst>
              <a:ext uri="{FF2B5EF4-FFF2-40B4-BE49-F238E27FC236}">
                <a16:creationId xmlns:a16="http://schemas.microsoft.com/office/drawing/2014/main" id="{9F1DF13F-EC40-35C4-A566-AAB544667D82}"/>
              </a:ext>
            </a:extLst>
          </p:cNvPr>
          <p:cNvSpPr txBox="1"/>
          <p:nvPr/>
        </p:nvSpPr>
        <p:spPr>
          <a:xfrm>
            <a:off x="6971323" y="2110707"/>
            <a:ext cx="1990930" cy="369332"/>
          </a:xfrm>
          <a:prstGeom prst="rect">
            <a:avLst/>
          </a:prstGeom>
          <a:solidFill>
            <a:schemeClr val="accent4">
              <a:lumMod val="20000"/>
              <a:lumOff val="80000"/>
            </a:schemeClr>
          </a:solidFill>
        </p:spPr>
        <p:txBody>
          <a:bodyPr wrap="none" rtlCol="0">
            <a:spAutoFit/>
          </a:bodyPr>
          <a:lstStyle/>
          <a:p>
            <a:r>
              <a:rPr lang="en-US" dirty="0"/>
              <a:t>or </a:t>
            </a:r>
            <a:r>
              <a:rPr lang="en-US" dirty="0">
                <a:solidFill>
                  <a:schemeClr val="accent6"/>
                </a:solidFill>
                <a:latin typeface="OCRB" panose="020B0609020202020204" pitchFamily="49" charset="0"/>
              </a:rPr>
              <a:t>nano</a:t>
            </a:r>
            <a:r>
              <a:rPr lang="en-US" dirty="0"/>
              <a:t> command</a:t>
            </a:r>
          </a:p>
        </p:txBody>
      </p:sp>
    </p:spTree>
    <p:extLst>
      <p:ext uri="{BB962C8B-B14F-4D97-AF65-F5344CB8AC3E}">
        <p14:creationId xmlns:p14="http://schemas.microsoft.com/office/powerpoint/2010/main" val="4266318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File Copy &amp; Deletion</a:t>
            </a:r>
          </a:p>
        </p:txBody>
      </p:sp>
      <p:sp>
        <p:nvSpPr>
          <p:cNvPr id="2" name="Text Placeholder 1">
            <a:extLst>
              <a:ext uri="{FF2B5EF4-FFF2-40B4-BE49-F238E27FC236}">
                <a16:creationId xmlns:a16="http://schemas.microsoft.com/office/drawing/2014/main" id="{82EC77BB-E0B9-9C20-08F8-AA7F71C835A6}"/>
              </a:ext>
            </a:extLst>
          </p:cNvPr>
          <p:cNvSpPr>
            <a:spLocks noGrp="1"/>
          </p:cNvSpPr>
          <p:nvPr>
            <p:ph type="body" idx="1"/>
          </p:nvPr>
        </p:nvSpPr>
        <p:spPr/>
        <p:txBody>
          <a:bodyPr/>
          <a:lstStyle/>
          <a:p>
            <a:endParaRPr lang="en-US"/>
          </a:p>
        </p:txBody>
      </p:sp>
      <p:sp>
        <p:nvSpPr>
          <p:cNvPr id="3" name="Slide Number Placeholder 2"/>
          <p:cNvSpPr>
            <a:spLocks noGrp="1"/>
          </p:cNvSpPr>
          <p:nvPr>
            <p:ph type="sldNum" sz="quarter" idx="12"/>
          </p:nvPr>
        </p:nvSpPr>
        <p:spPr/>
        <p:txBody>
          <a:bodyPr/>
          <a:lstStyle/>
          <a:p>
            <a:fld id="{E24DD715-7292-4FAD-A484-09D5D92FAB07}" type="slidenum">
              <a:rPr lang="en-US" smtClean="0"/>
              <a:t>43</a:t>
            </a:fld>
            <a:endParaRPr lang="en-US"/>
          </a:p>
        </p:txBody>
      </p:sp>
    </p:spTree>
    <p:extLst>
      <p:ext uri="{BB962C8B-B14F-4D97-AF65-F5344CB8AC3E}">
        <p14:creationId xmlns:p14="http://schemas.microsoft.com/office/powerpoint/2010/main" val="36650380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Copy a file with cp</a:t>
            </a:r>
          </a:p>
        </p:txBody>
      </p:sp>
      <p:pic>
        <p:nvPicPr>
          <p:cNvPr id="6" name="Picture 5"/>
          <p:cNvPicPr>
            <a:picLocks noChangeAspect="1"/>
          </p:cNvPicPr>
          <p:nvPr/>
        </p:nvPicPr>
        <p:blipFill>
          <a:blip r:embed="rId2"/>
          <a:stretch>
            <a:fillRect/>
          </a:stretch>
        </p:blipFill>
        <p:spPr>
          <a:xfrm>
            <a:off x="995351" y="2416217"/>
            <a:ext cx="9624953" cy="1278068"/>
          </a:xfrm>
          <a:prstGeom prst="rect">
            <a:avLst/>
          </a:prstGeom>
        </p:spPr>
      </p:pic>
      <p:sp>
        <p:nvSpPr>
          <p:cNvPr id="4" name="TextBox 3">
            <a:extLst>
              <a:ext uri="{FF2B5EF4-FFF2-40B4-BE49-F238E27FC236}">
                <a16:creationId xmlns:a16="http://schemas.microsoft.com/office/drawing/2014/main" id="{91703EDD-7444-D74F-C0FB-F56B9ED481C4}"/>
              </a:ext>
            </a:extLst>
          </p:cNvPr>
          <p:cNvSpPr txBox="1"/>
          <p:nvPr/>
        </p:nvSpPr>
        <p:spPr>
          <a:xfrm>
            <a:off x="3676060" y="6399786"/>
            <a:ext cx="984430" cy="369332"/>
          </a:xfrm>
          <a:prstGeom prst="rect">
            <a:avLst/>
          </a:prstGeom>
          <a:noFill/>
        </p:spPr>
        <p:txBody>
          <a:bodyPr wrap="square">
            <a:spAutoFit/>
          </a:bodyPr>
          <a:lstStyle/>
          <a:p>
            <a:r>
              <a:rPr lang="en-GB" b="0" i="0" dirty="0">
                <a:solidFill>
                  <a:srgbClr val="374151"/>
                </a:solidFill>
                <a:effectLst/>
                <a:latin typeface="OCRB" panose="020B0609020202020204" pitchFamily="49" charset="0"/>
              </a:rPr>
              <a:t>copy</a:t>
            </a:r>
            <a:endParaRPr lang="en-US" dirty="0">
              <a:latin typeface="OCRB" panose="020B0609020202020204" pitchFamily="49" charset="0"/>
            </a:endParaRPr>
          </a:p>
        </p:txBody>
      </p:sp>
      <p:pic>
        <p:nvPicPr>
          <p:cNvPr id="5" name="Picture 4">
            <a:extLst>
              <a:ext uri="{FF2B5EF4-FFF2-40B4-BE49-F238E27FC236}">
                <a16:creationId xmlns:a16="http://schemas.microsoft.com/office/drawing/2014/main" id="{1CA21D50-A7A0-E30D-7618-2411ED1E75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3824" y="6369767"/>
            <a:ext cx="429370" cy="42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6231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Copy files and directories</a:t>
            </a:r>
          </a:p>
        </p:txBody>
      </p:sp>
      <p:sp>
        <p:nvSpPr>
          <p:cNvPr id="3" name="Slide Number Placeholder 2"/>
          <p:cNvSpPr>
            <a:spLocks noGrp="1"/>
          </p:cNvSpPr>
          <p:nvPr>
            <p:ph type="sldNum" sz="quarter" idx="12"/>
          </p:nvPr>
        </p:nvSpPr>
        <p:spPr/>
        <p:txBody>
          <a:bodyPr/>
          <a:lstStyle/>
          <a:p>
            <a:fld id="{E24DD715-7292-4FAD-A484-09D5D92FAB07}" type="slidenum">
              <a:rPr lang="en-US" smtClean="0"/>
              <a:t>45</a:t>
            </a:fld>
            <a:endParaRPr lang="en-US"/>
          </a:p>
        </p:txBody>
      </p:sp>
      <p:pic>
        <p:nvPicPr>
          <p:cNvPr id="5" name="Picture 4"/>
          <p:cNvPicPr>
            <a:picLocks noChangeAspect="1"/>
          </p:cNvPicPr>
          <p:nvPr/>
        </p:nvPicPr>
        <p:blipFill>
          <a:blip r:embed="rId2"/>
          <a:stretch>
            <a:fillRect/>
          </a:stretch>
        </p:blipFill>
        <p:spPr>
          <a:xfrm>
            <a:off x="902387" y="2238339"/>
            <a:ext cx="8422364" cy="1343995"/>
          </a:xfrm>
          <a:prstGeom prst="rect">
            <a:avLst/>
          </a:prstGeom>
        </p:spPr>
      </p:pic>
      <p:sp>
        <p:nvSpPr>
          <p:cNvPr id="4" name="TextBox 3">
            <a:extLst>
              <a:ext uri="{FF2B5EF4-FFF2-40B4-BE49-F238E27FC236}">
                <a16:creationId xmlns:a16="http://schemas.microsoft.com/office/drawing/2014/main" id="{2F028025-4E5E-936E-C21C-26189533296D}"/>
              </a:ext>
            </a:extLst>
          </p:cNvPr>
          <p:cNvSpPr txBox="1"/>
          <p:nvPr/>
        </p:nvSpPr>
        <p:spPr>
          <a:xfrm>
            <a:off x="838200" y="4323011"/>
            <a:ext cx="9839960" cy="1446550"/>
          </a:xfrm>
          <a:prstGeom prst="rect">
            <a:avLst/>
          </a:prstGeom>
          <a:noFill/>
        </p:spPr>
        <p:txBody>
          <a:bodyPr wrap="square" lIns="45720" rIns="45720" rtlCol="0">
            <a:spAutoFit/>
          </a:bodyPr>
          <a:lstStyle/>
          <a:p>
            <a:pPr>
              <a:spcAft>
                <a:spcPts val="400"/>
              </a:spcAft>
            </a:pPr>
            <a:r>
              <a:rPr sz="2100" dirty="0">
                <a:solidFill>
                  <a:srgbClr val="000000"/>
                </a:solidFill>
              </a:rPr>
              <a:t>Copy a directory recursively: use -r</a:t>
            </a:r>
          </a:p>
          <a:p>
            <a:pPr lvl="1">
              <a:spcAft>
                <a:spcPts val="400"/>
              </a:spcAft>
            </a:pPr>
            <a:r>
              <a:rPr sz="1800" dirty="0">
                <a:solidFill>
                  <a:srgbClr val="000000"/>
                </a:solidFill>
              </a:rPr>
              <a:t>Basic syntax: </a:t>
            </a:r>
            <a:r>
              <a:rPr sz="1800" dirty="0">
                <a:solidFill>
                  <a:srgbClr val="000000"/>
                </a:solidFill>
                <a:latin typeface="Arial Narrow" panose="020B0606020202030204" pitchFamily="34" charset="0"/>
              </a:rPr>
              <a:t>cp -r </a:t>
            </a:r>
            <a:r>
              <a:rPr sz="1800" dirty="0" err="1">
                <a:solidFill>
                  <a:srgbClr val="000000"/>
                </a:solidFill>
                <a:latin typeface="Arial Narrow" panose="020B0606020202030204" pitchFamily="34" charset="0"/>
              </a:rPr>
              <a:t>source_folder</a:t>
            </a:r>
            <a:r>
              <a:rPr sz="1800" dirty="0">
                <a:solidFill>
                  <a:srgbClr val="000000"/>
                </a:solidFill>
                <a:latin typeface="Arial Narrow" panose="020B0606020202030204" pitchFamily="34" charset="0"/>
              </a:rPr>
              <a:t> </a:t>
            </a:r>
            <a:r>
              <a:rPr sz="1800" dirty="0" err="1">
                <a:solidFill>
                  <a:srgbClr val="000000"/>
                </a:solidFill>
                <a:latin typeface="Arial Narrow" panose="020B0606020202030204" pitchFamily="34" charset="0"/>
              </a:rPr>
              <a:t>destination_folder</a:t>
            </a:r>
            <a:endParaRPr sz="1800" dirty="0">
              <a:solidFill>
                <a:srgbClr val="000000"/>
              </a:solidFill>
              <a:latin typeface="Arial Narrow" panose="020B0606020202030204" pitchFamily="34" charset="0"/>
            </a:endParaRPr>
          </a:p>
          <a:p>
            <a:pPr lvl="1">
              <a:spcAft>
                <a:spcPts val="400"/>
              </a:spcAft>
            </a:pPr>
            <a:r>
              <a:rPr sz="1800" dirty="0">
                <a:solidFill>
                  <a:srgbClr val="000000"/>
                </a:solidFill>
              </a:rPr>
              <a:t>Example: </a:t>
            </a:r>
            <a:r>
              <a:rPr sz="1800" dirty="0">
                <a:solidFill>
                  <a:srgbClr val="000000"/>
                </a:solidFill>
                <a:latin typeface="Arial Narrow" panose="020B0606020202030204" pitchFamily="34" charset="0"/>
              </a:rPr>
              <a:t>cp -r ~/</a:t>
            </a:r>
            <a:r>
              <a:rPr sz="1800" dirty="0" err="1">
                <a:solidFill>
                  <a:srgbClr val="000000"/>
                </a:solidFill>
                <a:latin typeface="Arial Narrow" panose="020B0606020202030204" pitchFamily="34" charset="0"/>
              </a:rPr>
              <a:t>myfolder</a:t>
            </a:r>
            <a:r>
              <a:rPr sz="1800" dirty="0">
                <a:solidFill>
                  <a:srgbClr val="000000"/>
                </a:solidFill>
                <a:latin typeface="Arial Narrow" panose="020B0606020202030204" pitchFamily="34" charset="0"/>
              </a:rPr>
              <a:t> ~/</a:t>
            </a:r>
            <a:r>
              <a:rPr sz="1800" dirty="0" err="1">
                <a:solidFill>
                  <a:srgbClr val="000000"/>
                </a:solidFill>
                <a:latin typeface="Arial Narrow" panose="020B0606020202030204" pitchFamily="34" charset="0"/>
              </a:rPr>
              <a:t>myfolder_copy</a:t>
            </a:r>
            <a:endParaRPr sz="1800" dirty="0">
              <a:solidFill>
                <a:srgbClr val="000000"/>
              </a:solidFill>
              <a:latin typeface="Arial Narrow" panose="020B0606020202030204" pitchFamily="34" charset="0"/>
            </a:endParaRPr>
          </a:p>
          <a:p>
            <a:pPr>
              <a:spcAft>
                <a:spcPts val="400"/>
              </a:spcAft>
            </a:pPr>
            <a:r>
              <a:rPr sz="2100" dirty="0">
                <a:solidFill>
                  <a:srgbClr val="000000"/>
                </a:solidFill>
              </a:rPr>
              <a:t>Forensics: copying may change timestamps unless preservation options/tools are used.</a:t>
            </a:r>
          </a:p>
        </p:txBody>
      </p:sp>
    </p:spTree>
    <p:extLst>
      <p:ext uri="{BB962C8B-B14F-4D97-AF65-F5344CB8AC3E}">
        <p14:creationId xmlns:p14="http://schemas.microsoft.com/office/powerpoint/2010/main" val="3141623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Remove a file with rm</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E24DD715-7292-4FAD-A484-09D5D92FAB07}" type="slidenum">
              <a:rPr lang="en-US" smtClean="0"/>
              <a:t>46</a:t>
            </a:fld>
            <a:endParaRPr lang="en-US"/>
          </a:p>
        </p:txBody>
      </p:sp>
      <p:pic>
        <p:nvPicPr>
          <p:cNvPr id="4" name="Picture 3"/>
          <p:cNvPicPr>
            <a:picLocks noChangeAspect="1"/>
          </p:cNvPicPr>
          <p:nvPr/>
        </p:nvPicPr>
        <p:blipFill>
          <a:blip r:embed="rId2"/>
          <a:stretch>
            <a:fillRect/>
          </a:stretch>
        </p:blipFill>
        <p:spPr>
          <a:xfrm>
            <a:off x="1051716" y="2068004"/>
            <a:ext cx="6753193" cy="1804611"/>
          </a:xfrm>
          <a:prstGeom prst="rect">
            <a:avLst/>
          </a:prstGeom>
        </p:spPr>
      </p:pic>
      <p:sp>
        <p:nvSpPr>
          <p:cNvPr id="5" name="Rounded Rectangle 4"/>
          <p:cNvSpPr/>
          <p:nvPr/>
        </p:nvSpPr>
        <p:spPr>
          <a:xfrm>
            <a:off x="1051716" y="4180466"/>
            <a:ext cx="8691724" cy="869054"/>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2000" b="0" dirty="0">
                <a:solidFill>
                  <a:srgbClr val="000000"/>
                </a:solidFill>
              </a:rPr>
              <a:t>rm does not move files to Trash. In forensic work, avoid destructive commands on original evidence.</a:t>
            </a:r>
          </a:p>
        </p:txBody>
      </p:sp>
    </p:spTree>
    <p:extLst>
      <p:ext uri="{BB962C8B-B14F-4D97-AF65-F5344CB8AC3E}">
        <p14:creationId xmlns:p14="http://schemas.microsoft.com/office/powerpoint/2010/main" val="4107473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Rename or move a file with mv</a:t>
            </a:r>
          </a:p>
        </p:txBody>
      </p:sp>
      <p:sp>
        <p:nvSpPr>
          <p:cNvPr id="3" name="Slide Number Placeholder 2"/>
          <p:cNvSpPr>
            <a:spLocks noGrp="1"/>
          </p:cNvSpPr>
          <p:nvPr>
            <p:ph type="sldNum" sz="quarter" idx="12"/>
          </p:nvPr>
        </p:nvSpPr>
        <p:spPr/>
        <p:txBody>
          <a:bodyPr/>
          <a:lstStyle/>
          <a:p>
            <a:fld id="{E24DD715-7292-4FAD-A484-09D5D92FAB07}" type="slidenum">
              <a:rPr lang="en-US" smtClean="0"/>
              <a:t>47</a:t>
            </a:fld>
            <a:endParaRPr lang="en-US"/>
          </a:p>
        </p:txBody>
      </p:sp>
      <p:pic>
        <p:nvPicPr>
          <p:cNvPr id="6" name="Picture 5"/>
          <p:cNvPicPr>
            <a:picLocks noChangeAspect="1"/>
          </p:cNvPicPr>
          <p:nvPr/>
        </p:nvPicPr>
        <p:blipFill>
          <a:blip r:embed="rId2"/>
          <a:stretch>
            <a:fillRect/>
          </a:stretch>
        </p:blipFill>
        <p:spPr>
          <a:xfrm>
            <a:off x="1003020" y="2275896"/>
            <a:ext cx="8508944" cy="1863588"/>
          </a:xfrm>
          <a:prstGeom prst="rect">
            <a:avLst/>
          </a:prstGeom>
        </p:spPr>
      </p:pic>
      <p:sp>
        <p:nvSpPr>
          <p:cNvPr id="4" name="TextBox 3">
            <a:extLst>
              <a:ext uri="{FF2B5EF4-FFF2-40B4-BE49-F238E27FC236}">
                <a16:creationId xmlns:a16="http://schemas.microsoft.com/office/drawing/2014/main" id="{03A0509B-34EA-6BA3-AA15-4FC6116AF926}"/>
              </a:ext>
            </a:extLst>
          </p:cNvPr>
          <p:cNvSpPr txBox="1"/>
          <p:nvPr/>
        </p:nvSpPr>
        <p:spPr>
          <a:xfrm>
            <a:off x="3558072" y="6458649"/>
            <a:ext cx="3000043" cy="369332"/>
          </a:xfrm>
          <a:prstGeom prst="rect">
            <a:avLst/>
          </a:prstGeom>
          <a:noFill/>
        </p:spPr>
        <p:txBody>
          <a:bodyPr wrap="square">
            <a:spAutoFit/>
          </a:bodyPr>
          <a:lstStyle/>
          <a:p>
            <a:r>
              <a:rPr lang="en-GB" dirty="0">
                <a:solidFill>
                  <a:srgbClr val="374151"/>
                </a:solidFill>
                <a:latin typeface="OCRB" panose="020B0609020202020204" pitchFamily="49" charset="0"/>
              </a:rPr>
              <a:t>move/ copy and ren</a:t>
            </a:r>
            <a:endParaRPr lang="en-US" dirty="0">
              <a:solidFill>
                <a:srgbClr val="374151"/>
              </a:solidFill>
              <a:latin typeface="OCRB" panose="020B0609020202020204" pitchFamily="49" charset="0"/>
            </a:endParaRPr>
          </a:p>
        </p:txBody>
      </p:sp>
      <p:pic>
        <p:nvPicPr>
          <p:cNvPr id="5" name="Picture 4">
            <a:extLst>
              <a:ext uri="{FF2B5EF4-FFF2-40B4-BE49-F238E27FC236}">
                <a16:creationId xmlns:a16="http://schemas.microsoft.com/office/drawing/2014/main" id="{DE910B70-F4AB-C12C-C306-CCEF00F92D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6"/>
          <p:cNvSpPr/>
          <p:nvPr/>
        </p:nvSpPr>
        <p:spPr>
          <a:xfrm>
            <a:off x="1076960" y="4505236"/>
            <a:ext cx="5852160" cy="438912"/>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2000" b="0" dirty="0">
                <a:solidFill>
                  <a:srgbClr val="000000"/>
                </a:solidFill>
              </a:rPr>
              <a:t>mv can rename a file or move it to another directory.</a:t>
            </a:r>
          </a:p>
        </p:txBody>
      </p:sp>
    </p:spTree>
    <p:extLst>
      <p:ext uri="{BB962C8B-B14F-4D97-AF65-F5344CB8AC3E}">
        <p14:creationId xmlns:p14="http://schemas.microsoft.com/office/powerpoint/2010/main" val="17735303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B0E406-7148-4062-8E59-8477B01959F0}"/>
              </a:ext>
            </a:extLst>
          </p:cNvPr>
          <p:cNvSpPr>
            <a:spLocks noGrp="1"/>
          </p:cNvSpPr>
          <p:nvPr>
            <p:ph type="title"/>
          </p:nvPr>
        </p:nvSpPr>
        <p:spPr/>
        <p:txBody>
          <a:bodyPr/>
          <a:lstStyle/>
          <a:p>
            <a:r>
              <a:rPr lang="en-GB" dirty="0"/>
              <a:t>Search for information</a:t>
            </a:r>
            <a:endParaRPr lang="en-US" dirty="0"/>
          </a:p>
        </p:txBody>
      </p:sp>
      <p:sp>
        <p:nvSpPr>
          <p:cNvPr id="4" name="Text Placeholder 3">
            <a:extLst>
              <a:ext uri="{FF2B5EF4-FFF2-40B4-BE49-F238E27FC236}">
                <a16:creationId xmlns:a16="http://schemas.microsoft.com/office/drawing/2014/main" id="{E9C659C2-1B51-4AD4-9F42-DC43349408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296559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AB109A-81C9-4DD3-8487-BE9AFF4EB873}"/>
              </a:ext>
            </a:extLst>
          </p:cNvPr>
          <p:cNvSpPr>
            <a:spLocks noGrp="1"/>
          </p:cNvSpPr>
          <p:nvPr>
            <p:ph type="title"/>
          </p:nvPr>
        </p:nvSpPr>
        <p:spPr/>
        <p:txBody>
          <a:bodyPr/>
          <a:lstStyle/>
          <a:p>
            <a:r>
              <a:t>Search text inside files with grep</a:t>
            </a:r>
          </a:p>
        </p:txBody>
      </p:sp>
      <p:pic>
        <p:nvPicPr>
          <p:cNvPr id="8" name="Picture 7">
            <a:extLst>
              <a:ext uri="{FF2B5EF4-FFF2-40B4-BE49-F238E27FC236}">
                <a16:creationId xmlns:a16="http://schemas.microsoft.com/office/drawing/2014/main" id="{1F7C72D0-D62A-499C-A6B8-7C849AB1212E}"/>
              </a:ext>
            </a:extLst>
          </p:cNvPr>
          <p:cNvPicPr>
            <a:picLocks noChangeAspect="1"/>
          </p:cNvPicPr>
          <p:nvPr/>
        </p:nvPicPr>
        <p:blipFill>
          <a:blip r:embed="rId3"/>
          <a:stretch>
            <a:fillRect/>
          </a:stretch>
        </p:blipFill>
        <p:spPr>
          <a:xfrm>
            <a:off x="970657" y="1892957"/>
            <a:ext cx="4935874" cy="2411635"/>
          </a:xfrm>
          <a:prstGeom prst="rect">
            <a:avLst/>
          </a:prstGeom>
        </p:spPr>
      </p:pic>
      <p:sp>
        <p:nvSpPr>
          <p:cNvPr id="10" name="TextBox 9">
            <a:extLst>
              <a:ext uri="{FF2B5EF4-FFF2-40B4-BE49-F238E27FC236}">
                <a16:creationId xmlns:a16="http://schemas.microsoft.com/office/drawing/2014/main" id="{E2F4B83A-F831-40D4-82DA-F49661823B00}"/>
              </a:ext>
            </a:extLst>
          </p:cNvPr>
          <p:cNvSpPr txBox="1"/>
          <p:nvPr/>
        </p:nvSpPr>
        <p:spPr>
          <a:xfrm>
            <a:off x="970658" y="4477949"/>
            <a:ext cx="4761364" cy="369332"/>
          </a:xfrm>
          <a:prstGeom prst="rect">
            <a:avLst/>
          </a:prstGeom>
          <a:solidFill>
            <a:schemeClr val="accent4"/>
          </a:solidFill>
        </p:spPr>
        <p:txBody>
          <a:bodyPr wrap="square">
            <a:spAutoFit/>
          </a:bodyPr>
          <a:lstStyle/>
          <a:p>
            <a:r>
              <a:rPr sz="1800"/>
              <a:t>Show line numbers with -n</a:t>
            </a:r>
            <a:endParaRPr lang="en-US" dirty="0"/>
          </a:p>
        </p:txBody>
      </p:sp>
      <p:pic>
        <p:nvPicPr>
          <p:cNvPr id="12" name="Picture 11">
            <a:extLst>
              <a:ext uri="{FF2B5EF4-FFF2-40B4-BE49-F238E27FC236}">
                <a16:creationId xmlns:a16="http://schemas.microsoft.com/office/drawing/2014/main" id="{C1B437B6-903E-460C-9EB2-20C06AB05D3D}"/>
              </a:ext>
            </a:extLst>
          </p:cNvPr>
          <p:cNvPicPr>
            <a:picLocks noChangeAspect="1"/>
          </p:cNvPicPr>
          <p:nvPr/>
        </p:nvPicPr>
        <p:blipFill>
          <a:blip r:embed="rId4"/>
          <a:stretch>
            <a:fillRect/>
          </a:stretch>
        </p:blipFill>
        <p:spPr>
          <a:xfrm>
            <a:off x="978896" y="4847281"/>
            <a:ext cx="4761363" cy="869778"/>
          </a:xfrm>
          <a:prstGeom prst="rect">
            <a:avLst/>
          </a:prstGeom>
        </p:spPr>
      </p:pic>
      <p:sp>
        <p:nvSpPr>
          <p:cNvPr id="13" name="TextBox 12">
            <a:extLst>
              <a:ext uri="{FF2B5EF4-FFF2-40B4-BE49-F238E27FC236}">
                <a16:creationId xmlns:a16="http://schemas.microsoft.com/office/drawing/2014/main" id="{23EFB75A-E6AF-44D0-96A9-AE129FC68B33}"/>
              </a:ext>
            </a:extLst>
          </p:cNvPr>
          <p:cNvSpPr txBox="1"/>
          <p:nvPr/>
        </p:nvSpPr>
        <p:spPr>
          <a:xfrm>
            <a:off x="970657" y="1516071"/>
            <a:ext cx="1451267" cy="369332"/>
          </a:xfrm>
          <a:prstGeom prst="rect">
            <a:avLst/>
          </a:prstGeom>
          <a:solidFill>
            <a:schemeClr val="accent4"/>
          </a:solidFill>
        </p:spPr>
        <p:txBody>
          <a:bodyPr wrap="square">
            <a:spAutoFit/>
          </a:bodyPr>
          <a:lstStyle/>
          <a:p>
            <a:r>
              <a:rPr sz="1800"/>
              <a:t>Basic grep search</a:t>
            </a:r>
            <a:endParaRPr lang="en-US" dirty="0"/>
          </a:p>
        </p:txBody>
      </p:sp>
      <p:pic>
        <p:nvPicPr>
          <p:cNvPr id="3" name="Picture 2">
            <a:extLst>
              <a:ext uri="{FF2B5EF4-FFF2-40B4-BE49-F238E27FC236}">
                <a16:creationId xmlns:a16="http://schemas.microsoft.com/office/drawing/2014/main" id="{10713AEA-C49E-40A1-AE55-FC72B4167234}"/>
              </a:ext>
            </a:extLst>
          </p:cNvPr>
          <p:cNvPicPr>
            <a:picLocks noChangeAspect="1"/>
          </p:cNvPicPr>
          <p:nvPr/>
        </p:nvPicPr>
        <p:blipFill>
          <a:blip r:embed="rId5"/>
          <a:stretch>
            <a:fillRect/>
          </a:stretch>
        </p:blipFill>
        <p:spPr>
          <a:xfrm>
            <a:off x="7829630" y="1767696"/>
            <a:ext cx="2644369" cy="1661304"/>
          </a:xfrm>
          <a:prstGeom prst="rect">
            <a:avLst/>
          </a:prstGeom>
        </p:spPr>
      </p:pic>
      <p:sp>
        <p:nvSpPr>
          <p:cNvPr id="14" name="TextBox 13">
            <a:extLst>
              <a:ext uri="{FF2B5EF4-FFF2-40B4-BE49-F238E27FC236}">
                <a16:creationId xmlns:a16="http://schemas.microsoft.com/office/drawing/2014/main" id="{E377D3CA-2C43-4A68-9127-5B31A4F28D37}"/>
              </a:ext>
            </a:extLst>
          </p:cNvPr>
          <p:cNvSpPr txBox="1"/>
          <p:nvPr/>
        </p:nvSpPr>
        <p:spPr>
          <a:xfrm>
            <a:off x="9151814" y="3506008"/>
            <a:ext cx="1486307" cy="369332"/>
          </a:xfrm>
          <a:prstGeom prst="rect">
            <a:avLst/>
          </a:prstGeom>
          <a:noFill/>
        </p:spPr>
        <p:txBody>
          <a:bodyPr wrap="square">
            <a:spAutoFit/>
          </a:bodyPr>
          <a:lstStyle/>
          <a:p>
            <a:r>
              <a:rPr lang="en-US" dirty="0"/>
              <a:t>forward slash</a:t>
            </a:r>
          </a:p>
        </p:txBody>
      </p:sp>
      <p:sp>
        <p:nvSpPr>
          <p:cNvPr id="15" name="TextBox 14">
            <a:extLst>
              <a:ext uri="{FF2B5EF4-FFF2-40B4-BE49-F238E27FC236}">
                <a16:creationId xmlns:a16="http://schemas.microsoft.com/office/drawing/2014/main" id="{D4ABE121-8B22-4BFD-A59E-40F43E89297C}"/>
              </a:ext>
            </a:extLst>
          </p:cNvPr>
          <p:cNvSpPr txBox="1"/>
          <p:nvPr/>
        </p:nvSpPr>
        <p:spPr>
          <a:xfrm>
            <a:off x="7678615" y="3506007"/>
            <a:ext cx="1230923" cy="369332"/>
          </a:xfrm>
          <a:prstGeom prst="rect">
            <a:avLst/>
          </a:prstGeom>
          <a:noFill/>
        </p:spPr>
        <p:txBody>
          <a:bodyPr wrap="square">
            <a:spAutoFit/>
          </a:bodyPr>
          <a:lstStyle/>
          <a:p>
            <a:r>
              <a:rPr lang="en-US" dirty="0"/>
              <a:t>backslash</a:t>
            </a:r>
          </a:p>
        </p:txBody>
      </p:sp>
      <p:sp>
        <p:nvSpPr>
          <p:cNvPr id="6" name="TextBox 5">
            <a:extLst>
              <a:ext uri="{FF2B5EF4-FFF2-40B4-BE49-F238E27FC236}">
                <a16:creationId xmlns:a16="http://schemas.microsoft.com/office/drawing/2014/main" id="{ED9B1219-19E1-CABB-1B74-85003F27FF4E}"/>
              </a:ext>
            </a:extLst>
          </p:cNvPr>
          <p:cNvSpPr txBox="1"/>
          <p:nvPr/>
        </p:nvSpPr>
        <p:spPr>
          <a:xfrm>
            <a:off x="3558072" y="6458649"/>
            <a:ext cx="5514366" cy="369332"/>
          </a:xfrm>
          <a:prstGeom prst="rect">
            <a:avLst/>
          </a:prstGeom>
          <a:noFill/>
        </p:spPr>
        <p:txBody>
          <a:bodyPr wrap="square">
            <a:spAutoFit/>
          </a:bodyPr>
          <a:lstStyle/>
          <a:p>
            <a:r>
              <a:rPr sz="1500"/>
              <a:t>Windows comparison: type, findstr /c:"error" log.txt</a:t>
            </a:r>
            <a:endParaRPr lang="en-US" dirty="0">
              <a:latin typeface="OCRB" panose="020B0609020202020204" pitchFamily="49" charset="0"/>
            </a:endParaRPr>
          </a:p>
        </p:txBody>
      </p:sp>
      <p:pic>
        <p:nvPicPr>
          <p:cNvPr id="7" name="Picture 6">
            <a:extLst>
              <a:ext uri="{FF2B5EF4-FFF2-40B4-BE49-F238E27FC236}">
                <a16:creationId xmlns:a16="http://schemas.microsoft.com/office/drawing/2014/main" id="{566F404F-D36D-189F-F4FD-B410EC44B25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F25FFDE-E63E-F70A-1D68-E07EFD96650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78615" y="2063738"/>
            <a:ext cx="429370" cy="42937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Linux Logo, symbol, meaning, history, PNG, brand">
            <a:extLst>
              <a:ext uri="{FF2B5EF4-FFF2-40B4-BE49-F238E27FC236}">
                <a16:creationId xmlns:a16="http://schemas.microsoft.com/office/drawing/2014/main" id="{1A7B38F5-FDA9-3ECB-9341-A25432C26ED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5270" t="-327" r="25937" b="2367"/>
          <a:stretch/>
        </p:blipFill>
        <p:spPr bwMode="auto">
          <a:xfrm>
            <a:off x="10102425" y="1952017"/>
            <a:ext cx="535696" cy="60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867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2A6D-5381-41E2-B506-D53AEA7933D0}"/>
              </a:ext>
            </a:extLst>
          </p:cNvPr>
          <p:cNvSpPr>
            <a:spLocks noGrp="1"/>
          </p:cNvSpPr>
          <p:nvPr>
            <p:ph type="title"/>
          </p:nvPr>
        </p:nvSpPr>
        <p:spPr/>
        <p:txBody>
          <a:bodyPr/>
          <a:lstStyle/>
          <a:p>
            <a:r>
              <a:t>Find files containing a string or pattern</a:t>
            </a:r>
            <a:endParaRPr lang="en-US" dirty="0"/>
          </a:p>
        </p:txBody>
      </p:sp>
      <p:pic>
        <p:nvPicPr>
          <p:cNvPr id="4" name="Picture 3">
            <a:extLst>
              <a:ext uri="{FF2B5EF4-FFF2-40B4-BE49-F238E27FC236}">
                <a16:creationId xmlns:a16="http://schemas.microsoft.com/office/drawing/2014/main" id="{E85F83B3-8302-4D0C-B0C7-D3AD121DF968}"/>
              </a:ext>
            </a:extLst>
          </p:cNvPr>
          <p:cNvPicPr>
            <a:picLocks noChangeAspect="1"/>
          </p:cNvPicPr>
          <p:nvPr/>
        </p:nvPicPr>
        <p:blipFill>
          <a:blip r:embed="rId2"/>
          <a:stretch>
            <a:fillRect/>
          </a:stretch>
        </p:blipFill>
        <p:spPr>
          <a:xfrm>
            <a:off x="7394489" y="2363292"/>
            <a:ext cx="4483443" cy="1235755"/>
          </a:xfrm>
          <a:prstGeom prst="rect">
            <a:avLst/>
          </a:prstGeom>
        </p:spPr>
      </p:pic>
      <p:pic>
        <p:nvPicPr>
          <p:cNvPr id="6" name="Picture 5">
            <a:extLst>
              <a:ext uri="{FF2B5EF4-FFF2-40B4-BE49-F238E27FC236}">
                <a16:creationId xmlns:a16="http://schemas.microsoft.com/office/drawing/2014/main" id="{707C8B56-5CBF-4DE9-8088-9CA3B9209579}"/>
              </a:ext>
            </a:extLst>
          </p:cNvPr>
          <p:cNvPicPr>
            <a:picLocks noChangeAspect="1"/>
          </p:cNvPicPr>
          <p:nvPr/>
        </p:nvPicPr>
        <p:blipFill>
          <a:blip r:embed="rId3"/>
          <a:stretch>
            <a:fillRect/>
          </a:stretch>
        </p:blipFill>
        <p:spPr>
          <a:xfrm>
            <a:off x="677709" y="2363292"/>
            <a:ext cx="6518168" cy="1641001"/>
          </a:xfrm>
          <a:prstGeom prst="rect">
            <a:avLst/>
          </a:prstGeom>
        </p:spPr>
      </p:pic>
      <p:pic>
        <p:nvPicPr>
          <p:cNvPr id="10" name="Picture 9">
            <a:extLst>
              <a:ext uri="{FF2B5EF4-FFF2-40B4-BE49-F238E27FC236}">
                <a16:creationId xmlns:a16="http://schemas.microsoft.com/office/drawing/2014/main" id="{B08BF884-CDEF-4D7A-914C-9F0D4CEB8299}"/>
              </a:ext>
            </a:extLst>
          </p:cNvPr>
          <p:cNvPicPr>
            <a:picLocks noChangeAspect="1"/>
          </p:cNvPicPr>
          <p:nvPr/>
        </p:nvPicPr>
        <p:blipFill>
          <a:blip r:embed="rId4"/>
          <a:stretch>
            <a:fillRect/>
          </a:stretch>
        </p:blipFill>
        <p:spPr>
          <a:xfrm>
            <a:off x="677709" y="4004293"/>
            <a:ext cx="7192026" cy="1721098"/>
          </a:xfrm>
          <a:prstGeom prst="rect">
            <a:avLst/>
          </a:prstGeom>
        </p:spPr>
      </p:pic>
      <p:sp>
        <p:nvSpPr>
          <p:cNvPr id="11" name="TextBox 10">
            <a:extLst>
              <a:ext uri="{FF2B5EF4-FFF2-40B4-BE49-F238E27FC236}">
                <a16:creationId xmlns:a16="http://schemas.microsoft.com/office/drawing/2014/main" id="{F773C795-1940-4E5A-899F-EA8CDF1F6AE5}"/>
              </a:ext>
            </a:extLst>
          </p:cNvPr>
          <p:cNvSpPr txBox="1"/>
          <p:nvPr/>
        </p:nvSpPr>
        <p:spPr>
          <a:xfrm>
            <a:off x="677710" y="1976003"/>
            <a:ext cx="1505318" cy="369332"/>
          </a:xfrm>
          <a:prstGeom prst="rect">
            <a:avLst/>
          </a:prstGeom>
          <a:solidFill>
            <a:schemeClr val="accent4"/>
          </a:solidFill>
        </p:spPr>
        <p:txBody>
          <a:bodyPr wrap="square">
            <a:spAutoFit/>
          </a:bodyPr>
          <a:lstStyle/>
          <a:p>
            <a:r>
              <a:rPr sz="1800"/>
              <a:t>Relevant grep option: -l</a:t>
            </a:r>
            <a:endParaRPr lang="en-US" dirty="0"/>
          </a:p>
        </p:txBody>
      </p:sp>
      <p:sp>
        <p:nvSpPr>
          <p:cNvPr id="12" name="TextBox 11">
            <a:extLst>
              <a:ext uri="{FF2B5EF4-FFF2-40B4-BE49-F238E27FC236}">
                <a16:creationId xmlns:a16="http://schemas.microsoft.com/office/drawing/2014/main" id="{CF0E252C-8AA9-4860-AF85-370DFD079DB5}"/>
              </a:ext>
            </a:extLst>
          </p:cNvPr>
          <p:cNvSpPr txBox="1"/>
          <p:nvPr/>
        </p:nvSpPr>
        <p:spPr>
          <a:xfrm>
            <a:off x="7394488" y="1993960"/>
            <a:ext cx="3627739" cy="369332"/>
          </a:xfrm>
          <a:prstGeom prst="rect">
            <a:avLst/>
          </a:prstGeom>
          <a:solidFill>
            <a:schemeClr val="accent4"/>
          </a:solidFill>
        </p:spPr>
        <p:txBody>
          <a:bodyPr wrap="square">
            <a:spAutoFit/>
          </a:bodyPr>
          <a:lstStyle/>
          <a:p>
            <a:r>
              <a:rPr sz="1800"/>
              <a:t>List files that contain “hello”</a:t>
            </a:r>
            <a:endParaRPr lang="en-US" dirty="0"/>
          </a:p>
        </p:txBody>
      </p:sp>
      <p:cxnSp>
        <p:nvCxnSpPr>
          <p:cNvPr id="14" name="Straight Arrow Connector 13">
            <a:extLst>
              <a:ext uri="{FF2B5EF4-FFF2-40B4-BE49-F238E27FC236}">
                <a16:creationId xmlns:a16="http://schemas.microsoft.com/office/drawing/2014/main" id="{BDCC988F-E9BC-43F2-81CE-1E02CB63E18F}"/>
              </a:ext>
            </a:extLst>
          </p:cNvPr>
          <p:cNvCxnSpPr/>
          <p:nvPr/>
        </p:nvCxnSpPr>
        <p:spPr>
          <a:xfrm flipV="1">
            <a:off x="7488195" y="3262184"/>
            <a:ext cx="1112108" cy="2100648"/>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22927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Networking</a:t>
            </a:r>
          </a:p>
        </p:txBody>
      </p:sp>
      <p:sp>
        <p:nvSpPr>
          <p:cNvPr id="3" name="Text Placeholder 2">
            <a:extLst>
              <a:ext uri="{FF2B5EF4-FFF2-40B4-BE49-F238E27FC236}">
                <a16:creationId xmlns:a16="http://schemas.microsoft.com/office/drawing/2014/main" id="{44E21CB5-6B50-AFB6-E0D0-A5B96DB002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892705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Test network connection using a domain name</a:t>
            </a:r>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52</a:t>
            </a:fld>
            <a:endParaRPr lang="en"/>
          </a:p>
        </p:txBody>
      </p:sp>
      <p:pic>
        <p:nvPicPr>
          <p:cNvPr id="5" name="Picture 4"/>
          <p:cNvPicPr>
            <a:picLocks noChangeAspect="1"/>
          </p:cNvPicPr>
          <p:nvPr/>
        </p:nvPicPr>
        <p:blipFill>
          <a:blip r:embed="rId2"/>
          <a:stretch>
            <a:fillRect/>
          </a:stretch>
        </p:blipFill>
        <p:spPr>
          <a:xfrm>
            <a:off x="932729" y="2359587"/>
            <a:ext cx="10326541" cy="1663932"/>
          </a:xfrm>
          <a:prstGeom prst="rect">
            <a:avLst/>
          </a:prstGeom>
        </p:spPr>
      </p:pic>
      <p:sp>
        <p:nvSpPr>
          <p:cNvPr id="6" name="Rounded Rectangle 5"/>
          <p:cNvSpPr/>
          <p:nvPr/>
        </p:nvSpPr>
        <p:spPr>
          <a:xfrm>
            <a:off x="838200" y="4304465"/>
            <a:ext cx="7955279" cy="438912"/>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a:solidFill>
                  <a:srgbClr val="000000"/>
                </a:solidFill>
              </a:rPr>
              <a:t>ping google.com tests DNS resolution plus ICMP reachability.</a:t>
            </a:r>
          </a:p>
        </p:txBody>
      </p:sp>
    </p:spTree>
    <p:extLst>
      <p:ext uri="{BB962C8B-B14F-4D97-AF65-F5344CB8AC3E}">
        <p14:creationId xmlns:p14="http://schemas.microsoft.com/office/powerpoint/2010/main" val="31183744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network connection using an IP address</a:t>
            </a:r>
          </a:p>
        </p:txBody>
      </p:sp>
      <p:sp>
        <p:nvSpPr>
          <p:cNvPr id="3" name="Slide Number Placeholder 2"/>
          <p:cNvSpPr>
            <a:spLocks noGrp="1"/>
          </p:cNvSpPr>
          <p:nvPr>
            <p:ph type="sldNum" sz="quarter" idx="12"/>
          </p:nvPr>
        </p:nvSpPr>
        <p:spPr/>
        <p:txBody>
          <a:bodyPr/>
          <a:lstStyle/>
          <a:p>
            <a:fld id="{E24DD715-7292-4FAD-A484-09D5D92FAB07}" type="slidenum">
              <a:rPr lang="en-US" smtClean="0"/>
              <a:t>53</a:t>
            </a:fld>
            <a:endParaRPr lang="en-US"/>
          </a:p>
        </p:txBody>
      </p:sp>
      <p:pic>
        <p:nvPicPr>
          <p:cNvPr id="5" name="Picture 4"/>
          <p:cNvPicPr>
            <a:picLocks noChangeAspect="1"/>
          </p:cNvPicPr>
          <p:nvPr/>
        </p:nvPicPr>
        <p:blipFill>
          <a:blip r:embed="rId2"/>
          <a:stretch>
            <a:fillRect/>
          </a:stretch>
        </p:blipFill>
        <p:spPr>
          <a:xfrm>
            <a:off x="984857" y="2397691"/>
            <a:ext cx="7201905" cy="1625827"/>
          </a:xfrm>
          <a:prstGeom prst="rect">
            <a:avLst/>
          </a:prstGeom>
        </p:spPr>
      </p:pic>
      <p:sp>
        <p:nvSpPr>
          <p:cNvPr id="6" name="Rounded Rectangle 5"/>
          <p:cNvSpPr/>
          <p:nvPr/>
        </p:nvSpPr>
        <p:spPr>
          <a:xfrm>
            <a:off x="838200" y="4511065"/>
            <a:ext cx="7498079" cy="438912"/>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a:solidFill>
                  <a:srgbClr val="000000"/>
                </a:solidFill>
              </a:rPr>
              <a:t>ping an IP address bypasses DNS and tests basic reachability.</a:t>
            </a:r>
          </a:p>
        </p:txBody>
      </p:sp>
    </p:spTree>
    <p:extLst>
      <p:ext uri="{BB962C8B-B14F-4D97-AF65-F5344CB8AC3E}">
        <p14:creationId xmlns:p14="http://schemas.microsoft.com/office/powerpoint/2010/main" val="4247754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2C3-0296-0B8B-6427-B0584691B0EC}"/>
              </a:ext>
            </a:extLst>
          </p:cNvPr>
          <p:cNvSpPr>
            <a:spLocks noGrp="1"/>
          </p:cNvSpPr>
          <p:nvPr>
            <p:ph type="title"/>
          </p:nvPr>
        </p:nvSpPr>
        <p:spPr/>
        <p:txBody>
          <a:bodyPr/>
          <a:lstStyle/>
          <a:p>
            <a:r>
              <a:t>List listening TCP ports</a:t>
            </a:r>
          </a:p>
        </p:txBody>
      </p:sp>
      <p:pic>
        <p:nvPicPr>
          <p:cNvPr id="4" name="Picture 3">
            <a:extLst>
              <a:ext uri="{FF2B5EF4-FFF2-40B4-BE49-F238E27FC236}">
                <a16:creationId xmlns:a16="http://schemas.microsoft.com/office/drawing/2014/main" id="{F4C5D660-1E00-1926-D6FC-43657D9F27B1}"/>
              </a:ext>
            </a:extLst>
          </p:cNvPr>
          <p:cNvPicPr>
            <a:picLocks noChangeAspect="1"/>
          </p:cNvPicPr>
          <p:nvPr/>
        </p:nvPicPr>
        <p:blipFill>
          <a:blip r:embed="rId2"/>
          <a:stretch>
            <a:fillRect/>
          </a:stretch>
        </p:blipFill>
        <p:spPr>
          <a:xfrm>
            <a:off x="838200" y="2878601"/>
            <a:ext cx="9099068" cy="2880610"/>
          </a:xfrm>
          <a:prstGeom prst="rect">
            <a:avLst/>
          </a:prstGeom>
        </p:spPr>
      </p:pic>
      <p:sp>
        <p:nvSpPr>
          <p:cNvPr id="6" name="TextBox 5">
            <a:extLst>
              <a:ext uri="{FF2B5EF4-FFF2-40B4-BE49-F238E27FC236}">
                <a16:creationId xmlns:a16="http://schemas.microsoft.com/office/drawing/2014/main" id="{A25E5C67-8657-900D-685F-C235B129D254}"/>
              </a:ext>
            </a:extLst>
          </p:cNvPr>
          <p:cNvSpPr txBox="1"/>
          <p:nvPr/>
        </p:nvSpPr>
        <p:spPr>
          <a:xfrm>
            <a:off x="4425042" y="1690688"/>
            <a:ext cx="6539594" cy="923330"/>
          </a:xfrm>
          <a:prstGeom prst="rect">
            <a:avLst/>
          </a:prstGeom>
          <a:solidFill>
            <a:schemeClr val="accent4">
              <a:lumMod val="20000"/>
              <a:lumOff val="80000"/>
            </a:schemeClr>
          </a:solidFill>
        </p:spPr>
        <p:txBody>
          <a:bodyPr wrap="square">
            <a:spAutoFit/>
          </a:bodyPr>
          <a:lstStyle/>
          <a:p>
            <a:r>
              <a:rPr sz="1700"/>
              <a:t>-l, --listening    show listening server sockets</a:t>
            </a:r>
            <a:br/>
            <a:r>
              <a:rPr sz="1700"/>
              <a:t>-n, --numeric      show numeric addresses/ports</a:t>
            </a:r>
            <a:br/>
            <a:r>
              <a:rPr sz="1700"/>
              <a:t>-t, --tcp          show TCP sockets</a:t>
            </a:r>
          </a:p>
        </p:txBody>
      </p:sp>
      <p:sp>
        <p:nvSpPr>
          <p:cNvPr id="7" name="Rectangle 6">
            <a:extLst>
              <a:ext uri="{FF2B5EF4-FFF2-40B4-BE49-F238E27FC236}">
                <a16:creationId xmlns:a16="http://schemas.microsoft.com/office/drawing/2014/main" id="{A6F5A4BB-EB4F-3394-B8BB-2E675501A30A}"/>
              </a:ext>
            </a:extLst>
          </p:cNvPr>
          <p:cNvSpPr/>
          <p:nvPr/>
        </p:nvSpPr>
        <p:spPr>
          <a:xfrm>
            <a:off x="838200" y="4433207"/>
            <a:ext cx="3701143" cy="2530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F7FE253-246A-89A6-DCA6-B8AC4C0D7E49}"/>
              </a:ext>
            </a:extLst>
          </p:cNvPr>
          <p:cNvSpPr txBox="1"/>
          <p:nvPr/>
        </p:nvSpPr>
        <p:spPr>
          <a:xfrm>
            <a:off x="3918858" y="4772717"/>
            <a:ext cx="2404569" cy="369332"/>
          </a:xfrm>
          <a:prstGeom prst="rect">
            <a:avLst/>
          </a:prstGeom>
          <a:noFill/>
        </p:spPr>
        <p:txBody>
          <a:bodyPr wrap="none" rtlCol="0">
            <a:spAutoFit/>
          </a:bodyPr>
          <a:lstStyle/>
          <a:p>
            <a:r>
              <a:rPr sz="1700"/>
              <a:t>Port 22 is listening for SSH connections.</a:t>
            </a:r>
          </a:p>
        </p:txBody>
      </p:sp>
      <p:sp>
        <p:nvSpPr>
          <p:cNvPr id="9" name="Rounded Rectangle 8"/>
          <p:cNvSpPr/>
          <p:nvPr/>
        </p:nvSpPr>
        <p:spPr>
          <a:xfrm>
            <a:off x="838200" y="5818054"/>
            <a:ext cx="7680960" cy="411480"/>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500" b="0">
                <a:solidFill>
                  <a:srgbClr val="000000"/>
                </a:solidFill>
              </a:rPr>
              <a:t>Modern Linux often uses ss -lnt; netstat may still appear in older labs.</a:t>
            </a:r>
          </a:p>
        </p:txBody>
      </p:sp>
    </p:spTree>
    <p:extLst>
      <p:ext uri="{BB962C8B-B14F-4D97-AF65-F5344CB8AC3E}">
        <p14:creationId xmlns:p14="http://schemas.microsoft.com/office/powerpoint/2010/main" val="374386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BB4CEF-E970-53FB-DB5B-9EBB84A58F8A}"/>
              </a:ext>
            </a:extLst>
          </p:cNvPr>
          <p:cNvPicPr>
            <a:picLocks noChangeAspect="1"/>
          </p:cNvPicPr>
          <p:nvPr/>
        </p:nvPicPr>
        <p:blipFill>
          <a:blip r:embed="rId3"/>
          <a:stretch>
            <a:fillRect/>
          </a:stretch>
        </p:blipFill>
        <p:spPr>
          <a:xfrm>
            <a:off x="1218435" y="1253401"/>
            <a:ext cx="9561325" cy="5095180"/>
          </a:xfrm>
          <a:prstGeom prst="rect">
            <a:avLst/>
          </a:prstGeom>
        </p:spPr>
      </p:pic>
      <p:sp>
        <p:nvSpPr>
          <p:cNvPr id="5" name="TextBox 4">
            <a:extLst>
              <a:ext uri="{FF2B5EF4-FFF2-40B4-BE49-F238E27FC236}">
                <a16:creationId xmlns:a16="http://schemas.microsoft.com/office/drawing/2014/main" id="{CF2C131D-40C8-8535-FFB7-4DBCC6D47EBC}"/>
              </a:ext>
            </a:extLst>
          </p:cNvPr>
          <p:cNvSpPr txBox="1"/>
          <p:nvPr/>
        </p:nvSpPr>
        <p:spPr>
          <a:xfrm>
            <a:off x="1218435" y="884069"/>
            <a:ext cx="4280595" cy="369332"/>
          </a:xfrm>
          <a:prstGeom prst="rect">
            <a:avLst/>
          </a:prstGeom>
          <a:solidFill>
            <a:schemeClr val="accent4"/>
          </a:solidFill>
        </p:spPr>
        <p:txBody>
          <a:bodyPr wrap="none" rtlCol="0">
            <a:spAutoFit/>
          </a:bodyPr>
          <a:lstStyle/>
          <a:p>
            <a:r>
              <a:rPr sz="1700"/>
              <a:t>Start a listener on port 21 and verify it is open</a:t>
            </a:r>
          </a:p>
        </p:txBody>
      </p:sp>
      <p:sp>
        <p:nvSpPr>
          <p:cNvPr id="7" name="TextBox 6">
            <a:extLst>
              <a:ext uri="{FF2B5EF4-FFF2-40B4-BE49-F238E27FC236}">
                <a16:creationId xmlns:a16="http://schemas.microsoft.com/office/drawing/2014/main" id="{3FB5296F-5B03-3582-AAEE-09D90D8AC885}"/>
              </a:ext>
            </a:extLst>
          </p:cNvPr>
          <p:cNvSpPr txBox="1"/>
          <p:nvPr/>
        </p:nvSpPr>
        <p:spPr>
          <a:xfrm>
            <a:off x="3510643" y="6488668"/>
            <a:ext cx="3118758" cy="369332"/>
          </a:xfrm>
          <a:prstGeom prst="rect">
            <a:avLst/>
          </a:prstGeom>
          <a:noFill/>
        </p:spPr>
        <p:txBody>
          <a:bodyPr wrap="square">
            <a:spAutoFit/>
          </a:bodyPr>
          <a:lstStyle/>
          <a:p>
            <a:r>
              <a:rPr sz="1600"/>
              <a:t>Verify: nmap localhost -p 21</a:t>
            </a:r>
          </a:p>
        </p:txBody>
      </p:sp>
    </p:spTree>
    <p:extLst>
      <p:ext uri="{BB962C8B-B14F-4D97-AF65-F5344CB8AC3E}">
        <p14:creationId xmlns:p14="http://schemas.microsoft.com/office/powerpoint/2010/main" val="33993289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6681" y="6104384"/>
            <a:ext cx="5168979" cy="369332"/>
          </a:xfrm>
          <a:prstGeom prst="rect">
            <a:avLst/>
          </a:prstGeom>
        </p:spPr>
        <p:txBody>
          <a:bodyPr wrap="none">
            <a:spAutoFit/>
          </a:bodyPr>
          <a:lstStyle/>
          <a:p>
            <a:r>
              <a:t>Download a file with wget</a:t>
            </a:r>
          </a:p>
        </p:txBody>
      </p:sp>
      <p:pic>
        <p:nvPicPr>
          <p:cNvPr id="5" name="Picture 4"/>
          <p:cNvPicPr>
            <a:picLocks noChangeAspect="1"/>
          </p:cNvPicPr>
          <p:nvPr/>
        </p:nvPicPr>
        <p:blipFill>
          <a:blip r:embed="rId2"/>
          <a:stretch>
            <a:fillRect/>
          </a:stretch>
        </p:blipFill>
        <p:spPr>
          <a:xfrm>
            <a:off x="0" y="2029249"/>
            <a:ext cx="12192000" cy="4075135"/>
          </a:xfrm>
          <a:prstGeom prst="rect">
            <a:avLst/>
          </a:prstGeom>
        </p:spPr>
      </p:pic>
      <p:sp>
        <p:nvSpPr>
          <p:cNvPr id="2" name="Title 1">
            <a:extLst>
              <a:ext uri="{FF2B5EF4-FFF2-40B4-BE49-F238E27FC236}">
                <a16:creationId xmlns:a16="http://schemas.microsoft.com/office/drawing/2014/main" id="{89A0440F-A056-4BE8-BB8E-3861FE9122E3}"/>
              </a:ext>
            </a:extLst>
          </p:cNvPr>
          <p:cNvSpPr>
            <a:spLocks noGrp="1"/>
          </p:cNvSpPr>
          <p:nvPr>
            <p:ph type="title"/>
          </p:nvPr>
        </p:nvSpPr>
        <p:spPr/>
        <p:txBody>
          <a:bodyPr/>
          <a:lstStyle/>
          <a:p>
            <a:r>
              <a:rPr lang="en-GB" dirty="0"/>
              <a:t>Download a file </a:t>
            </a:r>
            <a:r>
              <a:rPr lang="en-US" dirty="0"/>
              <a:t>(</a:t>
            </a:r>
            <a:r>
              <a:rPr lang="en-US" dirty="0" err="1">
                <a:solidFill>
                  <a:srgbClr val="FF0000"/>
                </a:solidFill>
                <a:latin typeface="OCRB" panose="020B0609020202020204" pitchFamily="49" charset="0"/>
              </a:rPr>
              <a:t>wget</a:t>
            </a:r>
            <a:r>
              <a:rPr lang="en-US" dirty="0"/>
              <a:t>)</a:t>
            </a:r>
          </a:p>
        </p:txBody>
      </p:sp>
      <p:sp>
        <p:nvSpPr>
          <p:cNvPr id="6" name="Rounded Rectangle 5"/>
          <p:cNvSpPr/>
          <p:nvPr/>
        </p:nvSpPr>
        <p:spPr>
          <a:xfrm>
            <a:off x="822960" y="5577840"/>
            <a:ext cx="8595360" cy="429768"/>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600" b="0">
                <a:solidFill>
                  <a:srgbClr val="000000"/>
                </a:solidFill>
              </a:rPr>
              <a:t>Forensic practice: record source URL, timestamp, hash value, and storage path.</a:t>
            </a:r>
          </a:p>
        </p:txBody>
      </p:sp>
    </p:spTree>
    <p:extLst>
      <p:ext uri="{BB962C8B-B14F-4D97-AF65-F5344CB8AC3E}">
        <p14:creationId xmlns:p14="http://schemas.microsoft.com/office/powerpoint/2010/main" val="2418320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95820A-133A-4CBD-BD17-4AFBF584A4F7}"/>
              </a:ext>
            </a:extLst>
          </p:cNvPr>
          <p:cNvSpPr>
            <a:spLocks noGrp="1"/>
          </p:cNvSpPr>
          <p:nvPr>
            <p:ph type="title"/>
          </p:nvPr>
        </p:nvSpPr>
        <p:spPr/>
        <p:txBody>
          <a:bodyPr/>
          <a:lstStyle/>
          <a:p>
            <a:r>
              <a:rPr lang="en-US" dirty="0"/>
              <a:t>Create a script file</a:t>
            </a:r>
          </a:p>
        </p:txBody>
      </p:sp>
      <p:sp>
        <p:nvSpPr>
          <p:cNvPr id="4" name="Text Placeholder 3">
            <a:extLst>
              <a:ext uri="{FF2B5EF4-FFF2-40B4-BE49-F238E27FC236}">
                <a16:creationId xmlns:a16="http://schemas.microsoft.com/office/drawing/2014/main" id="{B94316E1-ED0F-467D-A861-5A01B548D9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606437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5364ED-6372-42B0-8F40-B24AA14AA454}"/>
              </a:ext>
            </a:extLst>
          </p:cNvPr>
          <p:cNvSpPr>
            <a:spLocks noGrp="1"/>
          </p:cNvSpPr>
          <p:nvPr>
            <p:ph type="title"/>
          </p:nvPr>
        </p:nvSpPr>
        <p:spPr/>
        <p:txBody>
          <a:bodyPr/>
          <a:lstStyle/>
          <a:p>
            <a:r>
              <a:t>Create a simple shell script</a:t>
            </a:r>
            <a:endParaRPr lang="en-US" dirty="0"/>
          </a:p>
        </p:txBody>
      </p:sp>
      <p:pic>
        <p:nvPicPr>
          <p:cNvPr id="8" name="Picture 7">
            <a:extLst>
              <a:ext uri="{FF2B5EF4-FFF2-40B4-BE49-F238E27FC236}">
                <a16:creationId xmlns:a16="http://schemas.microsoft.com/office/drawing/2014/main" id="{D6642376-3771-4A23-988A-14E881E82403}"/>
              </a:ext>
            </a:extLst>
          </p:cNvPr>
          <p:cNvPicPr>
            <a:picLocks noChangeAspect="1"/>
          </p:cNvPicPr>
          <p:nvPr/>
        </p:nvPicPr>
        <p:blipFill>
          <a:blip r:embed="rId3"/>
          <a:stretch>
            <a:fillRect/>
          </a:stretch>
        </p:blipFill>
        <p:spPr>
          <a:xfrm>
            <a:off x="910806" y="2126311"/>
            <a:ext cx="5084805" cy="1981320"/>
          </a:xfrm>
          <a:prstGeom prst="rect">
            <a:avLst/>
          </a:prstGeom>
        </p:spPr>
      </p:pic>
      <p:pic>
        <p:nvPicPr>
          <p:cNvPr id="10" name="Picture 9">
            <a:extLst>
              <a:ext uri="{FF2B5EF4-FFF2-40B4-BE49-F238E27FC236}">
                <a16:creationId xmlns:a16="http://schemas.microsoft.com/office/drawing/2014/main" id="{9EF32C83-75BB-4834-92CD-1D2764C7758A}"/>
              </a:ext>
            </a:extLst>
          </p:cNvPr>
          <p:cNvPicPr>
            <a:picLocks noChangeAspect="1"/>
          </p:cNvPicPr>
          <p:nvPr/>
        </p:nvPicPr>
        <p:blipFill>
          <a:blip r:embed="rId4"/>
          <a:stretch>
            <a:fillRect/>
          </a:stretch>
        </p:blipFill>
        <p:spPr>
          <a:xfrm>
            <a:off x="895865" y="4744122"/>
            <a:ext cx="6689263" cy="1325563"/>
          </a:xfrm>
          <a:prstGeom prst="rect">
            <a:avLst/>
          </a:prstGeom>
        </p:spPr>
      </p:pic>
      <p:sp>
        <p:nvSpPr>
          <p:cNvPr id="11" name="TextBox 10">
            <a:extLst>
              <a:ext uri="{FF2B5EF4-FFF2-40B4-BE49-F238E27FC236}">
                <a16:creationId xmlns:a16="http://schemas.microsoft.com/office/drawing/2014/main" id="{8A39246C-5DBA-4DED-9015-D17CDBB97641}"/>
              </a:ext>
            </a:extLst>
          </p:cNvPr>
          <p:cNvSpPr txBox="1"/>
          <p:nvPr/>
        </p:nvSpPr>
        <p:spPr>
          <a:xfrm>
            <a:off x="895865" y="4349268"/>
            <a:ext cx="3132438" cy="369332"/>
          </a:xfrm>
          <a:prstGeom prst="rect">
            <a:avLst/>
          </a:prstGeom>
          <a:solidFill>
            <a:schemeClr val="accent4"/>
          </a:solidFill>
        </p:spPr>
        <p:txBody>
          <a:bodyPr wrap="square">
            <a:spAutoFit/>
          </a:bodyPr>
          <a:lstStyle/>
          <a:p>
            <a:r>
              <a:rPr lang="en-GB" dirty="0"/>
              <a:t>Check permission of files</a:t>
            </a:r>
            <a:endParaRPr lang="en-US" dirty="0"/>
          </a:p>
        </p:txBody>
      </p:sp>
      <p:sp>
        <p:nvSpPr>
          <p:cNvPr id="12" name="TextBox 11">
            <a:extLst>
              <a:ext uri="{FF2B5EF4-FFF2-40B4-BE49-F238E27FC236}">
                <a16:creationId xmlns:a16="http://schemas.microsoft.com/office/drawing/2014/main" id="{09D4ED7B-C96A-4351-AAAA-9646E192FBFD}"/>
              </a:ext>
            </a:extLst>
          </p:cNvPr>
          <p:cNvSpPr txBox="1"/>
          <p:nvPr/>
        </p:nvSpPr>
        <p:spPr>
          <a:xfrm>
            <a:off x="895865" y="1721771"/>
            <a:ext cx="3132438" cy="369332"/>
          </a:xfrm>
          <a:prstGeom prst="rect">
            <a:avLst/>
          </a:prstGeom>
          <a:solidFill>
            <a:schemeClr val="accent4"/>
          </a:solidFill>
        </p:spPr>
        <p:txBody>
          <a:bodyPr wrap="square">
            <a:spAutoFit/>
          </a:bodyPr>
          <a:lstStyle/>
          <a:p>
            <a:r>
              <a:rPr lang="en-GB" dirty="0"/>
              <a:t>Create a script using </a:t>
            </a:r>
            <a:r>
              <a:rPr lang="en-GB" dirty="0" err="1"/>
              <a:t>leafpad</a:t>
            </a:r>
            <a:endParaRPr lang="en-US" dirty="0"/>
          </a:p>
        </p:txBody>
      </p:sp>
      <p:pic>
        <p:nvPicPr>
          <p:cNvPr id="13" name="Picture 12">
            <a:extLst>
              <a:ext uri="{FF2B5EF4-FFF2-40B4-BE49-F238E27FC236}">
                <a16:creationId xmlns:a16="http://schemas.microsoft.com/office/drawing/2014/main" id="{2BDA334F-F2DA-484C-B219-4E9F22B21626}"/>
              </a:ext>
            </a:extLst>
          </p:cNvPr>
          <p:cNvPicPr>
            <a:picLocks noChangeAspect="1"/>
          </p:cNvPicPr>
          <p:nvPr/>
        </p:nvPicPr>
        <p:blipFill>
          <a:blip r:embed="rId5"/>
          <a:stretch>
            <a:fillRect/>
          </a:stretch>
        </p:blipFill>
        <p:spPr>
          <a:xfrm>
            <a:off x="7873336" y="3081763"/>
            <a:ext cx="4116160" cy="1796142"/>
          </a:xfrm>
          <a:prstGeom prst="rect">
            <a:avLst/>
          </a:prstGeom>
        </p:spPr>
      </p:pic>
      <p:sp>
        <p:nvSpPr>
          <p:cNvPr id="14" name="Right Arrow 14">
            <a:extLst>
              <a:ext uri="{FF2B5EF4-FFF2-40B4-BE49-F238E27FC236}">
                <a16:creationId xmlns:a16="http://schemas.microsoft.com/office/drawing/2014/main" id="{8C2B2658-1045-4FCC-BBFF-9F50A6C9B15C}"/>
              </a:ext>
            </a:extLst>
          </p:cNvPr>
          <p:cNvSpPr/>
          <p:nvPr/>
        </p:nvSpPr>
        <p:spPr>
          <a:xfrm rot="20585164" flipV="1">
            <a:off x="2136959" y="4879305"/>
            <a:ext cx="6023345" cy="45719"/>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AC8051D-52CD-4735-A4AB-4B1ADA0A92D7}"/>
              </a:ext>
            </a:extLst>
          </p:cNvPr>
          <p:cNvSpPr txBox="1"/>
          <p:nvPr/>
        </p:nvSpPr>
        <p:spPr>
          <a:xfrm>
            <a:off x="1380178" y="2897097"/>
            <a:ext cx="1176500" cy="369332"/>
          </a:xfrm>
          <a:prstGeom prst="rect">
            <a:avLst/>
          </a:prstGeom>
          <a:noFill/>
        </p:spPr>
        <p:txBody>
          <a:bodyPr wrap="square">
            <a:spAutoFit/>
          </a:bodyPr>
          <a:lstStyle/>
          <a:p>
            <a:r>
              <a:rPr lang="en-US" dirty="0">
                <a:highlight>
                  <a:srgbClr val="FFFF00"/>
                </a:highlight>
              </a:rPr>
              <a:t>#!/bin/sh</a:t>
            </a:r>
          </a:p>
        </p:txBody>
      </p:sp>
      <p:cxnSp>
        <p:nvCxnSpPr>
          <p:cNvPr id="4" name="Straight Arrow Connector 3">
            <a:extLst>
              <a:ext uri="{FF2B5EF4-FFF2-40B4-BE49-F238E27FC236}">
                <a16:creationId xmlns:a16="http://schemas.microsoft.com/office/drawing/2014/main" id="{2F27C0E7-ED97-4603-881F-BD96211F0E27}"/>
              </a:ext>
            </a:extLst>
          </p:cNvPr>
          <p:cNvCxnSpPr>
            <a:cxnSpLocks/>
            <a:stCxn id="9" idx="1"/>
          </p:cNvCxnSpPr>
          <p:nvPr/>
        </p:nvCxnSpPr>
        <p:spPr>
          <a:xfrm flipH="1">
            <a:off x="2321992" y="2264810"/>
            <a:ext cx="3953803" cy="8407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EADA3976-ECB0-DF88-0094-A6B259443E89}"/>
              </a:ext>
            </a:extLst>
          </p:cNvPr>
          <p:cNvSpPr txBox="1"/>
          <p:nvPr/>
        </p:nvSpPr>
        <p:spPr>
          <a:xfrm>
            <a:off x="3558072" y="6458649"/>
            <a:ext cx="5514366" cy="369332"/>
          </a:xfrm>
          <a:prstGeom prst="rect">
            <a:avLst/>
          </a:prstGeom>
          <a:noFill/>
        </p:spPr>
        <p:txBody>
          <a:bodyPr wrap="square">
            <a:spAutoFit/>
          </a:bodyPr>
          <a:lstStyle/>
          <a:p>
            <a:r>
              <a:rPr sz="1500"/>
              <a:t>Windows comparison: .bat / .cmd scripts</a:t>
            </a:r>
            <a:endParaRPr lang="en-US" dirty="0">
              <a:latin typeface="OCRB" panose="020B0609020202020204" pitchFamily="49" charset="0"/>
            </a:endParaRPr>
          </a:p>
        </p:txBody>
      </p:sp>
      <p:pic>
        <p:nvPicPr>
          <p:cNvPr id="3" name="Picture 2">
            <a:extLst>
              <a:ext uri="{FF2B5EF4-FFF2-40B4-BE49-F238E27FC236}">
                <a16:creationId xmlns:a16="http://schemas.microsoft.com/office/drawing/2014/main" id="{675836C7-3335-DF2C-962D-1AA89B1B998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5837" y="6428630"/>
            <a:ext cx="429370" cy="4293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FAF5A4B-DFBE-2A21-4F7E-1E2621BD52A8}"/>
              </a:ext>
            </a:extLst>
          </p:cNvPr>
          <p:cNvSpPr txBox="1"/>
          <p:nvPr/>
        </p:nvSpPr>
        <p:spPr>
          <a:xfrm>
            <a:off x="6275795" y="1803145"/>
            <a:ext cx="3741965" cy="923330"/>
          </a:xfrm>
          <a:prstGeom prst="rect">
            <a:avLst/>
          </a:prstGeom>
          <a:noFill/>
        </p:spPr>
        <p:txBody>
          <a:bodyPr wrap="square">
            <a:spAutoFit/>
          </a:bodyPr>
          <a:lstStyle/>
          <a:p>
            <a:r>
              <a:rPr sz="1700"/>
              <a:t>shebang: tells the shell which interpreter should execute the script, e.g., #!/bin/sh</a:t>
            </a:r>
            <a:endParaRPr lang="en-US" dirty="0"/>
          </a:p>
        </p:txBody>
      </p:sp>
    </p:spTree>
    <p:extLst>
      <p:ext uri="{BB962C8B-B14F-4D97-AF65-F5344CB8AC3E}">
        <p14:creationId xmlns:p14="http://schemas.microsoft.com/office/powerpoint/2010/main" val="1979037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Linux permissions</a:t>
            </a:r>
          </a:p>
        </p:txBody>
      </p:sp>
      <p:sp>
        <p:nvSpPr>
          <p:cNvPr id="3" name="Slide Number Placeholder 2"/>
          <p:cNvSpPr>
            <a:spLocks noGrp="1"/>
          </p:cNvSpPr>
          <p:nvPr>
            <p:ph type="sldNum" sz="quarter" idx="12"/>
          </p:nvPr>
        </p:nvSpPr>
        <p:spPr/>
        <p:txBody>
          <a:bodyPr/>
          <a:lstStyle/>
          <a:p>
            <a:fld id="{E24DD715-7292-4FAD-A484-09D5D92FAB07}" type="slidenum">
              <a:rPr lang="en-US" smtClean="0"/>
              <a:t>59</a:t>
            </a:fld>
            <a:endParaRPr lang="en-US"/>
          </a:p>
        </p:txBody>
      </p:sp>
      <p:pic>
        <p:nvPicPr>
          <p:cNvPr id="1026" name="Picture 2" descr="dmiessler_unixlinux_permissio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99" y="1491815"/>
            <a:ext cx="4269081" cy="357880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5241667" y="3760826"/>
            <a:ext cx="6401693" cy="1498809"/>
          </a:xfrm>
          <a:prstGeom prst="rect">
            <a:avLst/>
          </a:prstGeom>
        </p:spPr>
      </p:pic>
      <p:pic>
        <p:nvPicPr>
          <p:cNvPr id="5" name="Picture 4"/>
          <p:cNvPicPr>
            <a:picLocks noChangeAspect="1"/>
          </p:cNvPicPr>
          <p:nvPr/>
        </p:nvPicPr>
        <p:blipFill>
          <a:blip r:embed="rId4"/>
          <a:stretch>
            <a:fillRect/>
          </a:stretch>
        </p:blipFill>
        <p:spPr>
          <a:xfrm>
            <a:off x="5263682" y="1562788"/>
            <a:ext cx="6693835" cy="1676633"/>
          </a:xfrm>
          <a:prstGeom prst="rect">
            <a:avLst/>
          </a:prstGeom>
        </p:spPr>
      </p:pic>
      <p:sp>
        <p:nvSpPr>
          <p:cNvPr id="1027" name="Rounded Rectangle 1026"/>
          <p:cNvSpPr/>
          <p:nvPr/>
        </p:nvSpPr>
        <p:spPr>
          <a:xfrm>
            <a:off x="208280" y="5411752"/>
            <a:ext cx="11435080" cy="792480"/>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b="0" dirty="0">
                <a:solidFill>
                  <a:srgbClr val="000000"/>
                </a:solidFill>
              </a:rPr>
              <a:t>Forensic caution: </a:t>
            </a:r>
            <a:r>
              <a:rPr b="0" dirty="0" err="1">
                <a:solidFill>
                  <a:srgbClr val="000000"/>
                </a:solidFill>
              </a:rPr>
              <a:t>chmod</a:t>
            </a:r>
            <a:r>
              <a:rPr b="0" dirty="0">
                <a:solidFill>
                  <a:srgbClr val="000000"/>
                </a:solidFill>
              </a:rPr>
              <a:t> 777 gives everyone read/write/execute access. Prefer </a:t>
            </a:r>
            <a:r>
              <a:rPr b="0" dirty="0" err="1">
                <a:solidFill>
                  <a:srgbClr val="000000"/>
                </a:solidFill>
              </a:rPr>
              <a:t>chmod</a:t>
            </a:r>
            <a:r>
              <a:rPr b="0" dirty="0">
                <a:solidFill>
                  <a:srgbClr val="000000"/>
                </a:solidFill>
              </a:rPr>
              <a:t> +x in labs and never change original evidence.</a:t>
            </a:r>
          </a:p>
        </p:txBody>
      </p:sp>
    </p:spTree>
    <p:extLst>
      <p:ext uri="{BB962C8B-B14F-4D97-AF65-F5344CB8AC3E}">
        <p14:creationId xmlns:p14="http://schemas.microsoft.com/office/powerpoint/2010/main" val="229412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5CE5-4D04-4CBA-8767-87D7588611F2}"/>
              </a:ext>
            </a:extLst>
          </p:cNvPr>
          <p:cNvSpPr>
            <a:spLocks noGrp="1"/>
          </p:cNvSpPr>
          <p:nvPr>
            <p:ph type="title"/>
          </p:nvPr>
        </p:nvSpPr>
        <p:spPr/>
        <p:txBody>
          <a:bodyPr/>
          <a:lstStyle/>
          <a:p>
            <a:r>
              <a:t>Execute a script from another directory</a:t>
            </a:r>
            <a:endParaRPr lang="en-US" dirty="0"/>
          </a:p>
        </p:txBody>
      </p:sp>
      <p:pic>
        <p:nvPicPr>
          <p:cNvPr id="4" name="Picture 3">
            <a:extLst>
              <a:ext uri="{FF2B5EF4-FFF2-40B4-BE49-F238E27FC236}">
                <a16:creationId xmlns:a16="http://schemas.microsoft.com/office/drawing/2014/main" id="{2039DE48-F833-4C4D-AEA6-65EC61529D54}"/>
              </a:ext>
            </a:extLst>
          </p:cNvPr>
          <p:cNvPicPr>
            <a:picLocks noChangeAspect="1"/>
          </p:cNvPicPr>
          <p:nvPr/>
        </p:nvPicPr>
        <p:blipFill>
          <a:blip r:embed="rId2"/>
          <a:stretch>
            <a:fillRect/>
          </a:stretch>
        </p:blipFill>
        <p:spPr>
          <a:xfrm>
            <a:off x="838200" y="2009831"/>
            <a:ext cx="6664036" cy="2768726"/>
          </a:xfrm>
          <a:prstGeom prst="rect">
            <a:avLst/>
          </a:prstGeom>
        </p:spPr>
      </p:pic>
      <p:sp>
        <p:nvSpPr>
          <p:cNvPr id="5" name="Rounded Rectangle 4"/>
          <p:cNvSpPr/>
          <p:nvPr/>
        </p:nvSpPr>
        <p:spPr>
          <a:xfrm>
            <a:off x="838200" y="5267960"/>
            <a:ext cx="8138160" cy="457200"/>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a:solidFill>
                  <a:srgbClr val="000000"/>
                </a:solidFill>
              </a:rPr>
              <a:t>Because the current directory is usually not in $PATH, include ./, ../, or an absolute path.</a:t>
            </a:r>
          </a:p>
        </p:txBody>
      </p:sp>
    </p:spTree>
    <p:extLst>
      <p:ext uri="{BB962C8B-B14F-4D97-AF65-F5344CB8AC3E}">
        <p14:creationId xmlns:p14="http://schemas.microsoft.com/office/powerpoint/2010/main" val="1271620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7730-4F34-4130-AAF8-EBC15D008936}"/>
              </a:ext>
            </a:extLst>
          </p:cNvPr>
          <p:cNvSpPr>
            <a:spLocks noGrp="1"/>
          </p:cNvSpPr>
          <p:nvPr>
            <p:ph type="title"/>
          </p:nvPr>
        </p:nvSpPr>
        <p:spPr/>
        <p:txBody>
          <a:bodyPr/>
          <a:lstStyle/>
          <a:p>
            <a:r>
              <a:t>Run a script through $PATH</a:t>
            </a:r>
            <a:endParaRPr lang="en-US" dirty="0"/>
          </a:p>
        </p:txBody>
      </p:sp>
      <p:pic>
        <p:nvPicPr>
          <p:cNvPr id="4" name="Picture 3">
            <a:extLst>
              <a:ext uri="{FF2B5EF4-FFF2-40B4-BE49-F238E27FC236}">
                <a16:creationId xmlns:a16="http://schemas.microsoft.com/office/drawing/2014/main" id="{25A627BB-5496-40EF-8103-AF171432D7F1}"/>
              </a:ext>
            </a:extLst>
          </p:cNvPr>
          <p:cNvPicPr>
            <a:picLocks noChangeAspect="1"/>
          </p:cNvPicPr>
          <p:nvPr/>
        </p:nvPicPr>
        <p:blipFill>
          <a:blip r:embed="rId3"/>
          <a:stretch>
            <a:fillRect/>
          </a:stretch>
        </p:blipFill>
        <p:spPr>
          <a:xfrm>
            <a:off x="902402" y="1282681"/>
            <a:ext cx="9747116" cy="4966353"/>
          </a:xfrm>
          <a:prstGeom prst="rect">
            <a:avLst/>
          </a:prstGeom>
        </p:spPr>
      </p:pic>
      <p:sp>
        <p:nvSpPr>
          <p:cNvPr id="5" name="Rounded Rectangle 4"/>
          <p:cNvSpPr/>
          <p:nvPr/>
        </p:nvSpPr>
        <p:spPr>
          <a:xfrm>
            <a:off x="838200" y="6264275"/>
            <a:ext cx="9875520" cy="457200"/>
          </a:xfrm>
          <a:prstGeom prst="roundRect">
            <a:avLst/>
          </a:prstGeom>
          <a:solidFill>
            <a:srgbClr val="DDEBF7"/>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500" b="0">
                <a:solidFill>
                  <a:srgbClr val="000000"/>
                </a:solidFill>
              </a:rPr>
              <a:t>After adding /home/kali/myfolder to $PATH, the shell can find myFirstScript.sh without typing its full path.</a:t>
            </a:r>
          </a:p>
        </p:txBody>
      </p:sp>
    </p:spTree>
    <p:extLst>
      <p:ext uri="{BB962C8B-B14F-4D97-AF65-F5344CB8AC3E}">
        <p14:creationId xmlns:p14="http://schemas.microsoft.com/office/powerpoint/2010/main" val="14365745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B77B5E-3139-4C66-8935-9AA9B15E530D}"/>
              </a:ext>
            </a:extLst>
          </p:cNvPr>
          <p:cNvSpPr>
            <a:spLocks noGrp="1"/>
          </p:cNvSpPr>
          <p:nvPr>
            <p:ph type="title"/>
          </p:nvPr>
        </p:nvSpPr>
        <p:spPr/>
        <p:txBody>
          <a:bodyPr/>
          <a:lstStyle/>
          <a:p>
            <a:r>
              <a:rPr lang="en-US" dirty="0"/>
              <a:t>Update/Install software</a:t>
            </a:r>
          </a:p>
        </p:txBody>
      </p:sp>
      <p:sp>
        <p:nvSpPr>
          <p:cNvPr id="4" name="Text Placeholder 3">
            <a:extLst>
              <a:ext uri="{FF2B5EF4-FFF2-40B4-BE49-F238E27FC236}">
                <a16:creationId xmlns:a16="http://schemas.microsoft.com/office/drawing/2014/main" id="{774A7D27-F957-4AEB-B39F-C8C34744C674}"/>
              </a:ext>
            </a:extLst>
          </p:cNvPr>
          <p:cNvSpPr>
            <a:spLocks noGrp="1"/>
          </p:cNvSpPr>
          <p:nvPr>
            <p:ph type="body" idx="1"/>
          </p:nvPr>
        </p:nvSpPr>
        <p:spPr/>
        <p:txBody>
          <a:bodyPr/>
          <a:lstStyle/>
          <a:p>
            <a:r>
              <a:rPr lang="en-US"/>
              <a:t>(optional)</a:t>
            </a:r>
          </a:p>
        </p:txBody>
      </p:sp>
    </p:spTree>
    <p:extLst>
      <p:ext uri="{BB962C8B-B14F-4D97-AF65-F5344CB8AC3E}">
        <p14:creationId xmlns:p14="http://schemas.microsoft.com/office/powerpoint/2010/main" val="35798632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Update the package index</a:t>
            </a:r>
          </a:p>
        </p:txBody>
      </p:sp>
      <p:pic>
        <p:nvPicPr>
          <p:cNvPr id="5" name="Picture 4"/>
          <p:cNvPicPr>
            <a:picLocks noChangeAspect="1"/>
          </p:cNvPicPr>
          <p:nvPr/>
        </p:nvPicPr>
        <p:blipFill>
          <a:blip r:embed="rId2"/>
          <a:stretch>
            <a:fillRect/>
          </a:stretch>
        </p:blipFill>
        <p:spPr>
          <a:xfrm>
            <a:off x="838200" y="2019287"/>
            <a:ext cx="8903943" cy="2654671"/>
          </a:xfrm>
          <a:prstGeom prst="rect">
            <a:avLst/>
          </a:prstGeom>
        </p:spPr>
      </p:pic>
      <p:sp>
        <p:nvSpPr>
          <p:cNvPr id="6" name="Rounded Rectangle 5"/>
          <p:cNvSpPr/>
          <p:nvPr/>
        </p:nvSpPr>
        <p:spPr>
          <a:xfrm>
            <a:off x="838200" y="5002557"/>
            <a:ext cx="8996680" cy="475488"/>
          </a:xfrm>
          <a:prstGeom prst="roundRect">
            <a:avLst/>
          </a:prstGeom>
          <a:solidFill>
            <a:srgbClr val="FFF2CC"/>
          </a:solidFill>
          <a:ln w="12700">
            <a:solidFill>
              <a:srgbClr val="BF9000"/>
            </a:solidFill>
          </a:ln>
        </p:spPr>
        <p:style>
          <a:lnRef idx="1">
            <a:schemeClr val="accent1"/>
          </a:lnRef>
          <a:fillRef idx="3">
            <a:schemeClr val="accent1"/>
          </a:fillRef>
          <a:effectRef idx="2">
            <a:schemeClr val="accent1"/>
          </a:effectRef>
          <a:fontRef idx="minor">
            <a:schemeClr val="lt1"/>
          </a:fontRef>
        </p:style>
        <p:txBody>
          <a:bodyPr lIns="109728" tIns="54864" rIns="109728" bIns="54864" rtlCol="0" anchor="ctr"/>
          <a:lstStyle/>
          <a:p>
            <a:pPr algn="l"/>
            <a:r>
              <a:rPr sz="1700" b="0" dirty="0">
                <a:solidFill>
                  <a:srgbClr val="000000"/>
                </a:solidFill>
              </a:rPr>
              <a:t>apt-get update downloads package metadata; it does not upgrade installed packages by itself.</a:t>
            </a:r>
          </a:p>
        </p:txBody>
      </p:sp>
    </p:spTree>
    <p:extLst>
      <p:ext uri="{BB962C8B-B14F-4D97-AF65-F5344CB8AC3E}">
        <p14:creationId xmlns:p14="http://schemas.microsoft.com/office/powerpoint/2010/main" val="41053213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a:t>Install Terminator</a:t>
            </a:r>
          </a:p>
        </p:txBody>
      </p:sp>
      <p:pic>
        <p:nvPicPr>
          <p:cNvPr id="5" name="Picture 4"/>
          <p:cNvPicPr>
            <a:picLocks noChangeAspect="1"/>
          </p:cNvPicPr>
          <p:nvPr/>
        </p:nvPicPr>
        <p:blipFill rotWithShape="1">
          <a:blip r:embed="rId2"/>
          <a:srcRect r="20717"/>
          <a:stretch/>
        </p:blipFill>
        <p:spPr>
          <a:xfrm>
            <a:off x="852426" y="1935564"/>
            <a:ext cx="6727015" cy="1232072"/>
          </a:xfrm>
          <a:prstGeom prst="rect">
            <a:avLst/>
          </a:prstGeom>
        </p:spPr>
      </p:pic>
      <p:pic>
        <p:nvPicPr>
          <p:cNvPr id="6" name="Picture 5"/>
          <p:cNvPicPr>
            <a:picLocks noChangeAspect="1"/>
          </p:cNvPicPr>
          <p:nvPr/>
        </p:nvPicPr>
        <p:blipFill>
          <a:blip r:embed="rId3"/>
          <a:stretch>
            <a:fillRect/>
          </a:stretch>
        </p:blipFill>
        <p:spPr>
          <a:xfrm>
            <a:off x="8772941" y="1"/>
            <a:ext cx="3419060" cy="6235244"/>
          </a:xfrm>
          <a:prstGeom prst="rect">
            <a:avLst/>
          </a:prstGeom>
        </p:spPr>
      </p:pic>
    </p:spTree>
    <p:extLst>
      <p:ext uri="{BB962C8B-B14F-4D97-AF65-F5344CB8AC3E}">
        <p14:creationId xmlns:p14="http://schemas.microsoft.com/office/powerpoint/2010/main" val="18276603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fld id="{E24DD715-7292-4FAD-A484-09D5D92FAB07}" type="slidenum">
              <a:rPr lang="en-US" smtClean="0"/>
              <a:t>65</a:t>
            </a:fld>
            <a:endParaRPr lang="en-US"/>
          </a:p>
        </p:txBody>
      </p:sp>
      <p:pic>
        <p:nvPicPr>
          <p:cNvPr id="4" name="Picture 3"/>
          <p:cNvPicPr>
            <a:picLocks noChangeAspect="1"/>
          </p:cNvPicPr>
          <p:nvPr/>
        </p:nvPicPr>
        <p:blipFill>
          <a:blip r:embed="rId2"/>
          <a:stretch>
            <a:fillRect/>
          </a:stretch>
        </p:blipFill>
        <p:spPr>
          <a:xfrm>
            <a:off x="786660" y="240856"/>
            <a:ext cx="10618681" cy="6376289"/>
          </a:xfrm>
          <a:prstGeom prst="rect">
            <a:avLst/>
          </a:prstGeom>
        </p:spPr>
      </p:pic>
    </p:spTree>
    <p:extLst>
      <p:ext uri="{BB962C8B-B14F-4D97-AF65-F5344CB8AC3E}">
        <p14:creationId xmlns:p14="http://schemas.microsoft.com/office/powerpoint/2010/main" val="1177611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Zip and unzip files</a:t>
            </a:r>
          </a:p>
        </p:txBody>
      </p:sp>
      <p:pic>
        <p:nvPicPr>
          <p:cNvPr id="5" name="Picture 4"/>
          <p:cNvPicPr>
            <a:picLocks noChangeAspect="1"/>
          </p:cNvPicPr>
          <p:nvPr/>
        </p:nvPicPr>
        <p:blipFill>
          <a:blip r:embed="rId2"/>
          <a:stretch>
            <a:fillRect/>
          </a:stretch>
        </p:blipFill>
        <p:spPr>
          <a:xfrm>
            <a:off x="941623" y="1552412"/>
            <a:ext cx="9297697" cy="4559936"/>
          </a:xfrm>
          <a:prstGeom prst="rect">
            <a:avLst/>
          </a:prstGeom>
        </p:spPr>
      </p:pic>
    </p:spTree>
    <p:extLst>
      <p:ext uri="{BB962C8B-B14F-4D97-AF65-F5344CB8AC3E}">
        <p14:creationId xmlns:p14="http://schemas.microsoft.com/office/powerpoint/2010/main" val="177244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F6EA-ACAC-EE58-E711-46B973485771}"/>
              </a:ext>
            </a:extLst>
          </p:cNvPr>
          <p:cNvSpPr>
            <a:spLocks noGrp="1"/>
          </p:cNvSpPr>
          <p:nvPr>
            <p:ph type="title"/>
          </p:nvPr>
        </p:nvSpPr>
        <p:spPr/>
        <p:txBody>
          <a:bodyPr/>
          <a:lstStyle/>
          <a:p>
            <a:r>
              <a:rPr lang="en-US" dirty="0"/>
              <a:t>Compress/decompress directory (</a:t>
            </a:r>
            <a:r>
              <a:rPr lang="en-US" dirty="0">
                <a:solidFill>
                  <a:srgbClr val="FF0000"/>
                </a:solidFill>
              </a:rPr>
              <a:t>tar</a:t>
            </a:r>
            <a:r>
              <a:rPr lang="en-US" dirty="0"/>
              <a:t>)</a:t>
            </a:r>
          </a:p>
        </p:txBody>
      </p:sp>
      <p:pic>
        <p:nvPicPr>
          <p:cNvPr id="4" name="Picture 3">
            <a:extLst>
              <a:ext uri="{FF2B5EF4-FFF2-40B4-BE49-F238E27FC236}">
                <a16:creationId xmlns:a16="http://schemas.microsoft.com/office/drawing/2014/main" id="{46E07BDF-5D87-1245-5A83-475673E0CB87}"/>
              </a:ext>
            </a:extLst>
          </p:cNvPr>
          <p:cNvPicPr>
            <a:picLocks noChangeAspect="1"/>
          </p:cNvPicPr>
          <p:nvPr/>
        </p:nvPicPr>
        <p:blipFill>
          <a:blip r:embed="rId2"/>
          <a:stretch>
            <a:fillRect/>
          </a:stretch>
        </p:blipFill>
        <p:spPr>
          <a:xfrm>
            <a:off x="952226" y="2061075"/>
            <a:ext cx="6325148" cy="3101609"/>
          </a:xfrm>
          <a:prstGeom prst="rect">
            <a:avLst/>
          </a:prstGeom>
        </p:spPr>
      </p:pic>
      <p:sp>
        <p:nvSpPr>
          <p:cNvPr id="5" name="TextBox 4">
            <a:extLst>
              <a:ext uri="{FF2B5EF4-FFF2-40B4-BE49-F238E27FC236}">
                <a16:creationId xmlns:a16="http://schemas.microsoft.com/office/drawing/2014/main" id="{306781AC-368C-AF62-F181-5D9C7DC52368}"/>
              </a:ext>
            </a:extLst>
          </p:cNvPr>
          <p:cNvSpPr txBox="1"/>
          <p:nvPr/>
        </p:nvSpPr>
        <p:spPr>
          <a:xfrm>
            <a:off x="952226" y="1690688"/>
            <a:ext cx="2232934" cy="369332"/>
          </a:xfrm>
          <a:prstGeom prst="rect">
            <a:avLst/>
          </a:prstGeom>
          <a:solidFill>
            <a:schemeClr val="accent4"/>
          </a:solidFill>
        </p:spPr>
        <p:txBody>
          <a:bodyPr wrap="square">
            <a:spAutoFit/>
          </a:bodyPr>
          <a:lstStyle/>
          <a:p>
            <a:r>
              <a:rPr sz="1700"/>
              <a:t>Create a compressed archive</a:t>
            </a:r>
            <a:endParaRPr lang="en-US" dirty="0"/>
          </a:p>
        </p:txBody>
      </p:sp>
      <p:sp>
        <p:nvSpPr>
          <p:cNvPr id="7" name="TextBox 6">
            <a:extLst>
              <a:ext uri="{FF2B5EF4-FFF2-40B4-BE49-F238E27FC236}">
                <a16:creationId xmlns:a16="http://schemas.microsoft.com/office/drawing/2014/main" id="{27FA704E-AA91-4149-1094-977628B7094D}"/>
              </a:ext>
            </a:extLst>
          </p:cNvPr>
          <p:cNvSpPr txBox="1"/>
          <p:nvPr/>
        </p:nvSpPr>
        <p:spPr>
          <a:xfrm>
            <a:off x="5410474" y="3243918"/>
            <a:ext cx="5829300" cy="1200329"/>
          </a:xfrm>
          <a:prstGeom prst="rect">
            <a:avLst/>
          </a:prstGeom>
          <a:solidFill>
            <a:schemeClr val="accent4">
              <a:lumMod val="20000"/>
              <a:lumOff val="80000"/>
            </a:schemeClr>
          </a:solidFill>
        </p:spPr>
        <p:txBody>
          <a:bodyPr wrap="square">
            <a:spAutoFit/>
          </a:bodyPr>
          <a:lstStyle/>
          <a:p>
            <a:r>
              <a:rPr lang="en-GB" dirty="0"/>
              <a:t>-c: Create a new archive.</a:t>
            </a:r>
          </a:p>
          <a:p>
            <a:r>
              <a:rPr lang="en-GB" dirty="0"/>
              <a:t>-z: Compress the archive using </a:t>
            </a:r>
            <a:r>
              <a:rPr lang="en-GB" dirty="0" err="1"/>
              <a:t>gzip</a:t>
            </a:r>
            <a:r>
              <a:rPr lang="en-GB" dirty="0"/>
              <a:t> (creates a .tar.gz file).</a:t>
            </a:r>
          </a:p>
          <a:p>
            <a:r>
              <a:rPr lang="en-GB" dirty="0"/>
              <a:t>-v: Verbose mode (shows the files being processed).</a:t>
            </a:r>
          </a:p>
          <a:p>
            <a:r>
              <a:rPr lang="en-GB" dirty="0"/>
              <a:t>-f: Specify the archive file name.</a:t>
            </a:r>
            <a:endParaRPr lang="en-US" dirty="0"/>
          </a:p>
        </p:txBody>
      </p:sp>
    </p:spTree>
    <p:extLst>
      <p:ext uri="{BB962C8B-B14F-4D97-AF65-F5344CB8AC3E}">
        <p14:creationId xmlns:p14="http://schemas.microsoft.com/office/powerpoint/2010/main" val="1401197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5DCE69-7426-A4D7-A5BF-2228F61C311B}"/>
              </a:ext>
            </a:extLst>
          </p:cNvPr>
          <p:cNvPicPr>
            <a:picLocks noChangeAspect="1"/>
          </p:cNvPicPr>
          <p:nvPr/>
        </p:nvPicPr>
        <p:blipFill>
          <a:blip r:embed="rId2"/>
          <a:stretch>
            <a:fillRect/>
          </a:stretch>
        </p:blipFill>
        <p:spPr>
          <a:xfrm>
            <a:off x="1039849" y="2044780"/>
            <a:ext cx="6469941" cy="1021168"/>
          </a:xfrm>
          <a:prstGeom prst="rect">
            <a:avLst/>
          </a:prstGeom>
        </p:spPr>
      </p:pic>
      <p:sp>
        <p:nvSpPr>
          <p:cNvPr id="5" name="TextBox 4">
            <a:extLst>
              <a:ext uri="{FF2B5EF4-FFF2-40B4-BE49-F238E27FC236}">
                <a16:creationId xmlns:a16="http://schemas.microsoft.com/office/drawing/2014/main" id="{2129C34D-1B2A-6327-A63F-02C1859310CA}"/>
              </a:ext>
            </a:extLst>
          </p:cNvPr>
          <p:cNvSpPr txBox="1"/>
          <p:nvPr/>
        </p:nvSpPr>
        <p:spPr>
          <a:xfrm>
            <a:off x="941832" y="1627632"/>
            <a:ext cx="1828800" cy="310896"/>
          </a:xfrm>
          <a:prstGeom prst="rect">
            <a:avLst/>
          </a:prstGeom>
          <a:solidFill>
            <a:schemeClr val="accent4"/>
          </a:solidFill>
        </p:spPr>
        <p:txBody>
          <a:bodyPr wrap="square">
            <a:spAutoFit/>
          </a:bodyPr>
          <a:lstStyle/>
          <a:p>
            <a:r>
              <a:rPr sz="1700"/>
              <a:t>Extract archive</a:t>
            </a:r>
            <a:endParaRPr lang="en-US" dirty="0"/>
          </a:p>
        </p:txBody>
      </p:sp>
      <p:sp>
        <p:nvSpPr>
          <p:cNvPr id="8" name="TextBox 7">
            <a:extLst>
              <a:ext uri="{FF2B5EF4-FFF2-40B4-BE49-F238E27FC236}">
                <a16:creationId xmlns:a16="http://schemas.microsoft.com/office/drawing/2014/main" id="{2CA82C00-C679-B29B-9F9E-D2AFFC2A2BE6}"/>
              </a:ext>
            </a:extLst>
          </p:cNvPr>
          <p:cNvSpPr txBox="1"/>
          <p:nvPr/>
        </p:nvSpPr>
        <p:spPr>
          <a:xfrm>
            <a:off x="937260" y="3330388"/>
            <a:ext cx="3817620" cy="1200329"/>
          </a:xfrm>
          <a:prstGeom prst="rect">
            <a:avLst/>
          </a:prstGeom>
          <a:solidFill>
            <a:schemeClr val="accent4">
              <a:lumMod val="20000"/>
              <a:lumOff val="80000"/>
            </a:schemeClr>
          </a:solidFill>
        </p:spPr>
        <p:txBody>
          <a:bodyPr wrap="square">
            <a:spAutoFit/>
          </a:bodyPr>
          <a:lstStyle/>
          <a:p>
            <a:r>
              <a:rPr sz="1800"/>
              <a:t>-x: extract files</a:t>
            </a:r>
            <a:br/>
            <a:r>
              <a:rPr sz="1800"/>
              <a:t>-z: decompress using gzip</a:t>
            </a:r>
            <a:br/>
            <a:r>
              <a:rPr sz="1800"/>
              <a:t>-v: verbose output</a:t>
            </a:r>
            <a:br/>
            <a:r>
              <a:rPr sz="1800"/>
              <a:t>-f: archive file name</a:t>
            </a:r>
          </a:p>
        </p:txBody>
      </p:sp>
      <p:sp>
        <p:nvSpPr>
          <p:cNvPr id="9" name="TextBox 8"/>
          <p:cNvSpPr txBox="1"/>
          <p:nvPr/>
        </p:nvSpPr>
        <p:spPr>
          <a:xfrm>
            <a:off x="777240" y="320040"/>
            <a:ext cx="9601200" cy="685800"/>
          </a:xfrm>
          <a:prstGeom prst="rect">
            <a:avLst/>
          </a:prstGeom>
          <a:noFill/>
        </p:spPr>
        <p:txBody>
          <a:bodyPr wrap="none">
            <a:spAutoFit/>
          </a:bodyPr>
          <a:lstStyle/>
          <a:p>
            <a:r>
              <a:rPr sz="4000"/>
              <a:t>Extract a compressed archive with tar</a:t>
            </a:r>
          </a:p>
        </p:txBody>
      </p:sp>
    </p:spTree>
    <p:extLst>
      <p:ext uri="{BB962C8B-B14F-4D97-AF65-F5344CB8AC3E}">
        <p14:creationId xmlns:p14="http://schemas.microsoft.com/office/powerpoint/2010/main" val="41043333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8925CA83-0388-2B03-F072-503D0FC74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25" y="0"/>
            <a:ext cx="54911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34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C7820181-0969-943E-62EB-510D898E4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0825"/>
            <a:ext cx="12192000" cy="635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034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6269</TotalTime>
  <Words>2081</Words>
  <Application>Microsoft Office PowerPoint</Application>
  <PresentationFormat>Widescreen</PresentationFormat>
  <Paragraphs>267</Paragraphs>
  <Slides>70</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-apple-system</vt:lpstr>
      <vt:lpstr>Söhne</vt:lpstr>
      <vt:lpstr>Arial</vt:lpstr>
      <vt:lpstr>Arial Narrow</vt:lpstr>
      <vt:lpstr>Calibri</vt:lpstr>
      <vt:lpstr>Calibri Light</vt:lpstr>
      <vt:lpstr>OCRB</vt:lpstr>
      <vt:lpstr>Office Theme</vt:lpstr>
      <vt:lpstr>Linux for Digital Forensics </vt:lpstr>
      <vt:lpstr>Overview</vt:lpstr>
      <vt:lpstr>Operating Systems</vt:lpstr>
      <vt:lpstr>PowerPoint Presentation</vt:lpstr>
      <vt:lpstr>What an operating system manages</vt:lpstr>
      <vt:lpstr>File and File Systems</vt:lpstr>
      <vt:lpstr>Files and file systems</vt:lpstr>
      <vt:lpstr>How are files organized?</vt:lpstr>
      <vt:lpstr>File system types</vt:lpstr>
      <vt:lpstr>PowerPoint Presentation</vt:lpstr>
      <vt:lpstr>Manage files vs. manage storage boxes</vt:lpstr>
      <vt:lpstr>PowerPoint Presentation</vt:lpstr>
      <vt:lpstr>Virtual file system (VFS)</vt:lpstr>
      <vt:lpstr>PowerPoint Presentation</vt:lpstr>
      <vt:lpstr>Linux implements a Virtual File System (VFS)</vt:lpstr>
      <vt:lpstr>Why Linux is useful for digital forensics</vt:lpstr>
      <vt:lpstr>Open a Linux terminal</vt:lpstr>
      <vt:lpstr>Viewing inode numbers</vt:lpstr>
      <vt:lpstr>What is an inode?</vt:lpstr>
      <vt:lpstr>PowerPoint Presentation</vt:lpstr>
      <vt:lpstr>Check inode usage with df -i</vt:lpstr>
      <vt:lpstr>PowerPoint Presentation</vt:lpstr>
      <vt:lpstr>File Structure</vt:lpstr>
      <vt:lpstr>PowerPoint Presentation</vt:lpstr>
      <vt:lpstr>PowerPoint Presentation</vt:lpstr>
      <vt:lpstr>List the Linux file system from root /</vt:lpstr>
      <vt:lpstr>PowerPoint Presentation</vt:lpstr>
      <vt:lpstr>Show the Linux file system from root with tree</vt:lpstr>
      <vt:lpstr>Show the current working directory with tree</vt:lpstr>
      <vt:lpstr>Linux commands are executable files</vt:lpstr>
      <vt:lpstr>Path and Path variable </vt:lpstr>
      <vt:lpstr>What is a path in a file system?</vt:lpstr>
      <vt:lpstr>Absolute and relative paths</vt:lpstr>
      <vt:lpstr>Move to the parent directory with a relative path</vt:lpstr>
      <vt:lpstr>The PATH variable ($PATH)</vt:lpstr>
      <vt:lpstr>Temporarily add a directory to $PATH</vt:lpstr>
      <vt:lpstr>Persist PATH changes in ~/.zshrc</vt:lpstr>
      <vt:lpstr>Create folders and files</vt:lpstr>
      <vt:lpstr>Create directories with mkdir</vt:lpstr>
      <vt:lpstr>Delete empty directories with rmdir</vt:lpstr>
      <vt:lpstr>Create a text file with echo</vt:lpstr>
      <vt:lpstr>Create or edit a file with leafpad or nano</vt:lpstr>
      <vt:lpstr>File Copy &amp; Deletion</vt:lpstr>
      <vt:lpstr>Copy a file with cp</vt:lpstr>
      <vt:lpstr>Copy files and directories</vt:lpstr>
      <vt:lpstr>Remove a file with rm</vt:lpstr>
      <vt:lpstr>Rename or move a file with mv</vt:lpstr>
      <vt:lpstr>Search for information</vt:lpstr>
      <vt:lpstr>Search text inside files with grep</vt:lpstr>
      <vt:lpstr>Find files containing a string or pattern</vt:lpstr>
      <vt:lpstr>Networking</vt:lpstr>
      <vt:lpstr>Test network connection using a domain name</vt:lpstr>
      <vt:lpstr>Test network connection using an IP address</vt:lpstr>
      <vt:lpstr>List listening TCP ports</vt:lpstr>
      <vt:lpstr>PowerPoint Presentation</vt:lpstr>
      <vt:lpstr>Download a file (wget)</vt:lpstr>
      <vt:lpstr>Create a script file</vt:lpstr>
      <vt:lpstr>Create a simple shell script</vt:lpstr>
      <vt:lpstr>Linux permissions</vt:lpstr>
      <vt:lpstr>Execute a script from another directory</vt:lpstr>
      <vt:lpstr>Run a script through $PATH</vt:lpstr>
      <vt:lpstr>Update/Install software</vt:lpstr>
      <vt:lpstr>Update the package index</vt:lpstr>
      <vt:lpstr>Install Terminator</vt:lpstr>
      <vt:lpstr>PowerPoint Presentation</vt:lpstr>
      <vt:lpstr>Zip and unzip files</vt:lpstr>
      <vt:lpstr>Compress/decompress directory (tar)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Xu</dc:creator>
  <cp:lastModifiedBy>Weifeng Xu</cp:lastModifiedBy>
  <cp:revision>29</cp:revision>
  <dcterms:created xsi:type="dcterms:W3CDTF">2020-09-14T14:43:27Z</dcterms:created>
  <dcterms:modified xsi:type="dcterms:W3CDTF">2026-09-13T22:15:58Z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46707a-0714-4b19-9e75-9e86a08e862d_Enabled">
    <vt:lpwstr>true</vt:lpwstr>
  </property>
  <property fmtid="{D5CDD505-2E9C-101B-9397-08002B2CF9AE}" pid="3" name="MSIP_Label_2f46707a-0714-4b19-9e75-9e86a08e862d_SetDate">
    <vt:lpwstr>2022-09-11T15:54:25Z</vt:lpwstr>
  </property>
  <property fmtid="{D5CDD505-2E9C-101B-9397-08002B2CF9AE}" pid="4" name="MSIP_Label_2f46707a-0714-4b19-9e75-9e86a08e862d_Method">
    <vt:lpwstr>Standard</vt:lpwstr>
  </property>
  <property fmtid="{D5CDD505-2E9C-101B-9397-08002B2CF9AE}" pid="5" name="MSIP_Label_2f46707a-0714-4b19-9e75-9e86a08e862d_Name">
    <vt:lpwstr>defa4170-0d19-0005-0004-bc88714345d2</vt:lpwstr>
  </property>
  <property fmtid="{D5CDD505-2E9C-101B-9397-08002B2CF9AE}" pid="6" name="MSIP_Label_2f46707a-0714-4b19-9e75-9e86a08e862d_SiteId">
    <vt:lpwstr>e902b1b3-068c-446e-83b4-e3dfa474e6f9</vt:lpwstr>
  </property>
  <property fmtid="{D5CDD505-2E9C-101B-9397-08002B2CF9AE}" pid="7" name="MSIP_Label_2f46707a-0714-4b19-9e75-9e86a08e862d_ActionId">
    <vt:lpwstr>f3e7037f-f79d-45b3-bbba-5c55af34f387</vt:lpwstr>
  </property>
  <property fmtid="{D5CDD505-2E9C-101B-9397-08002B2CF9AE}" pid="8" name="MSIP_Label_2f46707a-0714-4b19-9e75-9e86a08e862d_ContentBits">
    <vt:lpwstr>0</vt:lpwstr>
  </property>
</Properties>
</file>